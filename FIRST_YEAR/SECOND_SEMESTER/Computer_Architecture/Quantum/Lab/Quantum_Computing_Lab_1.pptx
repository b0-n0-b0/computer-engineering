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4"/>
  </p:notesMasterIdLst>
  <p:sldIdLst>
    <p:sldId id="256" r:id="rId5"/>
    <p:sldId id="257" r:id="rId6"/>
    <p:sldId id="258" r:id="rId7"/>
    <p:sldId id="260" r:id="rId8"/>
    <p:sldId id="259" r:id="rId9"/>
    <p:sldId id="261" r:id="rId10"/>
    <p:sldId id="276" r:id="rId11"/>
    <p:sldId id="277" r:id="rId12"/>
    <p:sldId id="278" r:id="rId13"/>
    <p:sldId id="279" r:id="rId14"/>
    <p:sldId id="282" r:id="rId15"/>
    <p:sldId id="280" r:id="rId16"/>
    <p:sldId id="262" r:id="rId17"/>
    <p:sldId id="263" r:id="rId18"/>
    <p:sldId id="264" r:id="rId19"/>
    <p:sldId id="288" r:id="rId20"/>
    <p:sldId id="289" r:id="rId21"/>
    <p:sldId id="291" r:id="rId22"/>
    <p:sldId id="290" r:id="rId23"/>
    <p:sldId id="292" r:id="rId24"/>
    <p:sldId id="293" r:id="rId25"/>
    <p:sldId id="294" r:id="rId26"/>
    <p:sldId id="265" r:id="rId27"/>
    <p:sldId id="266" r:id="rId28"/>
    <p:sldId id="267" r:id="rId29"/>
    <p:sldId id="268" r:id="rId30"/>
    <p:sldId id="269" r:id="rId31"/>
    <p:sldId id="270" r:id="rId32"/>
    <p:sldId id="271" r:id="rId33"/>
    <p:sldId id="272" r:id="rId34"/>
    <p:sldId id="273" r:id="rId35"/>
    <p:sldId id="274" r:id="rId36"/>
    <p:sldId id="275" r:id="rId37"/>
    <p:sldId id="281" r:id="rId38"/>
    <p:sldId id="283" r:id="rId39"/>
    <p:sldId id="284" r:id="rId40"/>
    <p:sldId id="285" r:id="rId41"/>
    <p:sldId id="286" r:id="rId42"/>
    <p:sldId id="287" r:id="rId43"/>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43D19B-2712-AD45-8DEC-A67615B8E3DB}">
          <p14:sldIdLst>
            <p14:sldId id="256"/>
            <p14:sldId id="257"/>
            <p14:sldId id="258"/>
            <p14:sldId id="260"/>
            <p14:sldId id="259"/>
            <p14:sldId id="261"/>
            <p14:sldId id="276"/>
            <p14:sldId id="277"/>
            <p14:sldId id="278"/>
            <p14:sldId id="279"/>
            <p14:sldId id="282"/>
            <p14:sldId id="280"/>
            <p14:sldId id="262"/>
            <p14:sldId id="263"/>
            <p14:sldId id="264"/>
          </p14:sldIdLst>
        </p14:section>
        <p14:section name="Quantum Algorithms" id="{DE656D76-A019-5F40-900D-51D073693607}">
          <p14:sldIdLst>
            <p14:sldId id="288"/>
            <p14:sldId id="289"/>
            <p14:sldId id="291"/>
            <p14:sldId id="290"/>
            <p14:sldId id="292"/>
            <p14:sldId id="293"/>
            <p14:sldId id="294"/>
          </p14:sldIdLst>
        </p14:section>
        <p14:section name="How to run quantum circuits" id="{A110E076-ED91-5A4C-A976-65EA5C32A8BF}">
          <p14:sldIdLst>
            <p14:sldId id="265"/>
            <p14:sldId id="266"/>
            <p14:sldId id="267"/>
            <p14:sldId id="268"/>
          </p14:sldIdLst>
        </p14:section>
        <p14:section name="Intro to Qiskit" id="{52790C3C-72FA-BB42-A695-5C4D47A7555E}">
          <p14:sldIdLst>
            <p14:sldId id="269"/>
            <p14:sldId id="270"/>
            <p14:sldId id="271"/>
            <p14:sldId id="272"/>
            <p14:sldId id="273"/>
            <p14:sldId id="274"/>
            <p14:sldId id="275"/>
            <p14:sldId id="281"/>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EF57"/>
    <a:srgbClr val="FFBF00"/>
    <a:srgbClr val="0B662E"/>
    <a:srgbClr val="0F40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3E63CE-D00C-42FD-A2E9-09D5C237656D}" v="12" dt="2023-05-07T16:13:04.1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derico Cavedoni" userId="f8866145-139e-47e6-a1a0-25bf9d78597a" providerId="ADAL" clId="{DF3E63CE-D00C-42FD-A2E9-09D5C237656D}"/>
    <pc:docChg chg="modSld sldOrd">
      <pc:chgData name="Federico Cavedoni" userId="f8866145-139e-47e6-a1a0-25bf9d78597a" providerId="ADAL" clId="{DF3E63CE-D00C-42FD-A2E9-09D5C237656D}" dt="2023-05-07T16:13:04.107" v="5"/>
      <pc:docMkLst>
        <pc:docMk/>
      </pc:docMkLst>
      <pc:sldChg chg="modSp mod">
        <pc:chgData name="Federico Cavedoni" userId="f8866145-139e-47e6-a1a0-25bf9d78597a" providerId="ADAL" clId="{DF3E63CE-D00C-42FD-A2E9-09D5C237656D}" dt="2023-05-07T16:01:04.835" v="1" actId="1036"/>
        <pc:sldMkLst>
          <pc:docMk/>
          <pc:sldMk cId="955669472" sldId="273"/>
        </pc:sldMkLst>
        <pc:spChg chg="mod">
          <ac:chgData name="Federico Cavedoni" userId="f8866145-139e-47e6-a1a0-25bf9d78597a" providerId="ADAL" clId="{DF3E63CE-D00C-42FD-A2E9-09D5C237656D}" dt="2023-05-07T16:01:04.835" v="1" actId="1036"/>
          <ac:spMkLst>
            <pc:docMk/>
            <pc:sldMk cId="955669472" sldId="273"/>
            <ac:spMk id="5" creationId="{FCADF56C-4257-ED49-82BC-ABDD046BD585}"/>
          </ac:spMkLst>
        </pc:spChg>
      </pc:sldChg>
      <pc:sldChg chg="ord">
        <pc:chgData name="Federico Cavedoni" userId="f8866145-139e-47e6-a1a0-25bf9d78597a" providerId="ADAL" clId="{DF3E63CE-D00C-42FD-A2E9-09D5C237656D}" dt="2023-05-07T16:13:04.107" v="5"/>
        <pc:sldMkLst>
          <pc:docMk/>
          <pc:sldMk cId="829503407" sldId="28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C0D8D2-2267-E64E-B8E6-45C914D0A42C}"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GB"/>
        </a:p>
      </dgm:t>
    </dgm:pt>
    <dgm:pt modelId="{2B6E0CB2-C460-694E-9E0D-FE4F18790373}">
      <dgm:prSet/>
      <dgm:spPr/>
      <dgm:t>
        <a:bodyPr/>
        <a:lstStyle/>
        <a:p>
          <a:r>
            <a:rPr lang="en-IT" b="1"/>
            <a:t>What is a quantum computer?</a:t>
          </a:r>
          <a:endParaRPr lang="en-IT"/>
        </a:p>
      </dgm:t>
    </dgm:pt>
    <dgm:pt modelId="{4066F77A-9117-0640-9E56-82E65A1FC855}" type="parTrans" cxnId="{CBBB781C-ECDC-A04E-82E5-E2999FD86A98}">
      <dgm:prSet/>
      <dgm:spPr/>
      <dgm:t>
        <a:bodyPr/>
        <a:lstStyle/>
        <a:p>
          <a:endParaRPr lang="en-GB"/>
        </a:p>
      </dgm:t>
    </dgm:pt>
    <dgm:pt modelId="{BD3B03E0-0DDF-C948-8064-A519EEF103E8}" type="sibTrans" cxnId="{CBBB781C-ECDC-A04E-82E5-E2999FD86A98}">
      <dgm:prSet/>
      <dgm:spPr/>
      <dgm:t>
        <a:bodyPr/>
        <a:lstStyle/>
        <a:p>
          <a:endParaRPr lang="en-GB"/>
        </a:p>
      </dgm:t>
    </dgm:pt>
    <dgm:pt modelId="{C0F5EB43-505A-014B-8360-2571B0E3D605}">
      <dgm:prSet/>
      <dgm:spPr/>
      <dgm:t>
        <a:bodyPr/>
        <a:lstStyle/>
        <a:p>
          <a:r>
            <a:rPr lang="en-US" b="1"/>
            <a:t>How to run quantum circuits</a:t>
          </a:r>
          <a:endParaRPr lang="en-IT"/>
        </a:p>
      </dgm:t>
    </dgm:pt>
    <dgm:pt modelId="{A9CDC11B-C9A3-1944-B5A8-EB356815D68A}" type="parTrans" cxnId="{04D653EF-33CD-DA42-AE89-446C0DA80A9B}">
      <dgm:prSet/>
      <dgm:spPr/>
      <dgm:t>
        <a:bodyPr/>
        <a:lstStyle/>
        <a:p>
          <a:endParaRPr lang="en-GB"/>
        </a:p>
      </dgm:t>
    </dgm:pt>
    <dgm:pt modelId="{79E292EA-4B17-0841-880D-B1A64C632124}" type="sibTrans" cxnId="{04D653EF-33CD-DA42-AE89-446C0DA80A9B}">
      <dgm:prSet/>
      <dgm:spPr/>
      <dgm:t>
        <a:bodyPr/>
        <a:lstStyle/>
        <a:p>
          <a:endParaRPr lang="en-GB"/>
        </a:p>
      </dgm:t>
    </dgm:pt>
    <dgm:pt modelId="{BE822264-CFFB-724B-965E-CBB59CEEDD6E}">
      <dgm:prSet/>
      <dgm:spPr/>
      <dgm:t>
        <a:bodyPr/>
        <a:lstStyle/>
        <a:p>
          <a:r>
            <a:rPr lang="en-US" b="1"/>
            <a:t>Introduction to Qiskit</a:t>
          </a:r>
          <a:endParaRPr lang="en-IT"/>
        </a:p>
      </dgm:t>
    </dgm:pt>
    <dgm:pt modelId="{A6E2A27A-CCE2-0940-A617-D651191B141B}" type="parTrans" cxnId="{B1707C02-5665-CC48-8E34-2DA6FA74259A}">
      <dgm:prSet/>
      <dgm:spPr/>
      <dgm:t>
        <a:bodyPr/>
        <a:lstStyle/>
        <a:p>
          <a:endParaRPr lang="en-GB"/>
        </a:p>
      </dgm:t>
    </dgm:pt>
    <dgm:pt modelId="{72B4BC3E-9C7B-1A44-B038-6F526BDEF222}" type="sibTrans" cxnId="{B1707C02-5665-CC48-8E34-2DA6FA74259A}">
      <dgm:prSet/>
      <dgm:spPr/>
      <dgm:t>
        <a:bodyPr/>
        <a:lstStyle/>
        <a:p>
          <a:endParaRPr lang="en-GB"/>
        </a:p>
      </dgm:t>
    </dgm:pt>
    <dgm:pt modelId="{1D4D39F8-3BC3-E341-865B-AA8360FF43E1}">
      <dgm:prSet/>
      <dgm:spPr/>
      <dgm:t>
        <a:bodyPr/>
        <a:lstStyle/>
        <a:p>
          <a:r>
            <a:rPr lang="en-US" b="1"/>
            <a:t>Qiskit Exercises</a:t>
          </a:r>
          <a:endParaRPr lang="en-IT"/>
        </a:p>
      </dgm:t>
    </dgm:pt>
    <dgm:pt modelId="{030EFAE6-C6A4-7D42-B962-E26E8163761C}" type="parTrans" cxnId="{168707F2-2FA0-974F-9F5B-775990841C7A}">
      <dgm:prSet/>
      <dgm:spPr/>
      <dgm:t>
        <a:bodyPr/>
        <a:lstStyle/>
        <a:p>
          <a:endParaRPr lang="en-GB"/>
        </a:p>
      </dgm:t>
    </dgm:pt>
    <dgm:pt modelId="{DD0B15D6-EB5C-254A-9C00-22AB6A00E32E}" type="sibTrans" cxnId="{168707F2-2FA0-974F-9F5B-775990841C7A}">
      <dgm:prSet/>
      <dgm:spPr/>
      <dgm:t>
        <a:bodyPr/>
        <a:lstStyle/>
        <a:p>
          <a:endParaRPr lang="en-GB"/>
        </a:p>
      </dgm:t>
    </dgm:pt>
    <dgm:pt modelId="{858457C4-7EEC-C74F-94A4-BFC55A31B985}">
      <dgm:prSet/>
      <dgm:spPr/>
      <dgm:t>
        <a:bodyPr/>
        <a:lstStyle/>
        <a:p>
          <a:r>
            <a:rPr lang="en-GB" b="1"/>
            <a:t>Quantum Algorithms</a:t>
          </a:r>
        </a:p>
      </dgm:t>
    </dgm:pt>
    <dgm:pt modelId="{6937E66A-AB68-8E4D-A03A-21D951A76DC1}" type="parTrans" cxnId="{E95D4DCE-3644-474D-A855-68E925128D8E}">
      <dgm:prSet/>
      <dgm:spPr/>
      <dgm:t>
        <a:bodyPr/>
        <a:lstStyle/>
        <a:p>
          <a:endParaRPr lang="en-GB"/>
        </a:p>
      </dgm:t>
    </dgm:pt>
    <dgm:pt modelId="{BAA19DD9-DE3F-B24A-9B58-97AE3398C163}" type="sibTrans" cxnId="{E95D4DCE-3644-474D-A855-68E925128D8E}">
      <dgm:prSet/>
      <dgm:spPr/>
      <dgm:t>
        <a:bodyPr/>
        <a:lstStyle/>
        <a:p>
          <a:endParaRPr lang="en-GB"/>
        </a:p>
      </dgm:t>
    </dgm:pt>
    <dgm:pt modelId="{BFAFB52C-836A-8740-A4B4-A2540C0FD9F4}" type="pres">
      <dgm:prSet presAssocID="{37C0D8D2-2267-E64E-B8E6-45C914D0A42C}" presName="CompostProcess" presStyleCnt="0">
        <dgm:presLayoutVars>
          <dgm:dir/>
          <dgm:resizeHandles val="exact"/>
        </dgm:presLayoutVars>
      </dgm:prSet>
      <dgm:spPr/>
    </dgm:pt>
    <dgm:pt modelId="{988B6E2E-2BFF-FC47-821B-428BD77D6416}" type="pres">
      <dgm:prSet presAssocID="{37C0D8D2-2267-E64E-B8E6-45C914D0A42C}" presName="arrow" presStyleLbl="bgShp" presStyleIdx="0" presStyleCnt="1"/>
      <dgm:spPr/>
    </dgm:pt>
    <dgm:pt modelId="{E848CC35-A2F8-BE42-94EA-0981A3531338}" type="pres">
      <dgm:prSet presAssocID="{37C0D8D2-2267-E64E-B8E6-45C914D0A42C}" presName="linearProcess" presStyleCnt="0"/>
      <dgm:spPr/>
    </dgm:pt>
    <dgm:pt modelId="{B1880CB3-21A9-8A4F-BE9A-D94E1C3C400F}" type="pres">
      <dgm:prSet presAssocID="{2B6E0CB2-C460-694E-9E0D-FE4F18790373}" presName="textNode" presStyleLbl="node1" presStyleIdx="0" presStyleCnt="5">
        <dgm:presLayoutVars>
          <dgm:bulletEnabled val="1"/>
        </dgm:presLayoutVars>
      </dgm:prSet>
      <dgm:spPr/>
    </dgm:pt>
    <dgm:pt modelId="{4B754679-1F1F-FA49-8869-653021BA3E16}" type="pres">
      <dgm:prSet presAssocID="{BD3B03E0-0DDF-C948-8064-A519EEF103E8}" presName="sibTrans" presStyleCnt="0"/>
      <dgm:spPr/>
    </dgm:pt>
    <dgm:pt modelId="{215FB249-8A65-E54C-8104-ACD97A0878AC}" type="pres">
      <dgm:prSet presAssocID="{858457C4-7EEC-C74F-94A4-BFC55A31B985}" presName="textNode" presStyleLbl="node1" presStyleIdx="1" presStyleCnt="5">
        <dgm:presLayoutVars>
          <dgm:bulletEnabled val="1"/>
        </dgm:presLayoutVars>
      </dgm:prSet>
      <dgm:spPr/>
    </dgm:pt>
    <dgm:pt modelId="{085B6D7B-7748-4848-AE1E-2C6A3167D00F}" type="pres">
      <dgm:prSet presAssocID="{BAA19DD9-DE3F-B24A-9B58-97AE3398C163}" presName="sibTrans" presStyleCnt="0"/>
      <dgm:spPr/>
    </dgm:pt>
    <dgm:pt modelId="{C1DF1096-90B8-D940-B494-8A3431494DB4}" type="pres">
      <dgm:prSet presAssocID="{C0F5EB43-505A-014B-8360-2571B0E3D605}" presName="textNode" presStyleLbl="node1" presStyleIdx="2" presStyleCnt="5">
        <dgm:presLayoutVars>
          <dgm:bulletEnabled val="1"/>
        </dgm:presLayoutVars>
      </dgm:prSet>
      <dgm:spPr/>
    </dgm:pt>
    <dgm:pt modelId="{4EE4B85E-23EE-2441-8195-2C6A547C3FE5}" type="pres">
      <dgm:prSet presAssocID="{79E292EA-4B17-0841-880D-B1A64C632124}" presName="sibTrans" presStyleCnt="0"/>
      <dgm:spPr/>
    </dgm:pt>
    <dgm:pt modelId="{21E61842-9FF1-A747-879E-C9052620036F}" type="pres">
      <dgm:prSet presAssocID="{BE822264-CFFB-724B-965E-CBB59CEEDD6E}" presName="textNode" presStyleLbl="node1" presStyleIdx="3" presStyleCnt="5">
        <dgm:presLayoutVars>
          <dgm:bulletEnabled val="1"/>
        </dgm:presLayoutVars>
      </dgm:prSet>
      <dgm:spPr/>
    </dgm:pt>
    <dgm:pt modelId="{EEC8A278-FD57-7E46-BBDA-66FDDB067794}" type="pres">
      <dgm:prSet presAssocID="{72B4BC3E-9C7B-1A44-B038-6F526BDEF222}" presName="sibTrans" presStyleCnt="0"/>
      <dgm:spPr/>
    </dgm:pt>
    <dgm:pt modelId="{D5249A77-B43B-FE46-9705-E8BC7FE53B93}" type="pres">
      <dgm:prSet presAssocID="{1D4D39F8-3BC3-E341-865B-AA8360FF43E1}" presName="textNode" presStyleLbl="node1" presStyleIdx="4" presStyleCnt="5">
        <dgm:presLayoutVars>
          <dgm:bulletEnabled val="1"/>
        </dgm:presLayoutVars>
      </dgm:prSet>
      <dgm:spPr/>
    </dgm:pt>
  </dgm:ptLst>
  <dgm:cxnLst>
    <dgm:cxn modelId="{B1707C02-5665-CC48-8E34-2DA6FA74259A}" srcId="{37C0D8D2-2267-E64E-B8E6-45C914D0A42C}" destId="{BE822264-CFFB-724B-965E-CBB59CEEDD6E}" srcOrd="3" destOrd="0" parTransId="{A6E2A27A-CCE2-0940-A617-D651191B141B}" sibTransId="{72B4BC3E-9C7B-1A44-B038-6F526BDEF222}"/>
    <dgm:cxn modelId="{8204C50C-6314-8E48-B297-804F94FA4F05}" type="presOf" srcId="{C0F5EB43-505A-014B-8360-2571B0E3D605}" destId="{C1DF1096-90B8-D940-B494-8A3431494DB4}" srcOrd="0" destOrd="0" presId="urn:microsoft.com/office/officeart/2005/8/layout/hProcess9"/>
    <dgm:cxn modelId="{CBBB781C-ECDC-A04E-82E5-E2999FD86A98}" srcId="{37C0D8D2-2267-E64E-B8E6-45C914D0A42C}" destId="{2B6E0CB2-C460-694E-9E0D-FE4F18790373}" srcOrd="0" destOrd="0" parTransId="{4066F77A-9117-0640-9E56-82E65A1FC855}" sibTransId="{BD3B03E0-0DDF-C948-8064-A519EEF103E8}"/>
    <dgm:cxn modelId="{0B628A22-C081-C740-A88A-2A72D7371AA4}" type="presOf" srcId="{2B6E0CB2-C460-694E-9E0D-FE4F18790373}" destId="{B1880CB3-21A9-8A4F-BE9A-D94E1C3C400F}" srcOrd="0" destOrd="0" presId="urn:microsoft.com/office/officeart/2005/8/layout/hProcess9"/>
    <dgm:cxn modelId="{899E6043-82B6-CF41-8610-B5E27365340D}" type="presOf" srcId="{858457C4-7EEC-C74F-94A4-BFC55A31B985}" destId="{215FB249-8A65-E54C-8104-ACD97A0878AC}" srcOrd="0" destOrd="0" presId="urn:microsoft.com/office/officeart/2005/8/layout/hProcess9"/>
    <dgm:cxn modelId="{51273169-F20B-7743-88C9-C2F03DFE9D79}" type="presOf" srcId="{BE822264-CFFB-724B-965E-CBB59CEEDD6E}" destId="{21E61842-9FF1-A747-879E-C9052620036F}" srcOrd="0" destOrd="0" presId="urn:microsoft.com/office/officeart/2005/8/layout/hProcess9"/>
    <dgm:cxn modelId="{36821F92-2CD5-F34F-908F-802798ED17D7}" type="presOf" srcId="{37C0D8D2-2267-E64E-B8E6-45C914D0A42C}" destId="{BFAFB52C-836A-8740-A4B4-A2540C0FD9F4}" srcOrd="0" destOrd="0" presId="urn:microsoft.com/office/officeart/2005/8/layout/hProcess9"/>
    <dgm:cxn modelId="{2BF227B0-DC22-D94B-925A-9A1B5AB30FB3}" type="presOf" srcId="{1D4D39F8-3BC3-E341-865B-AA8360FF43E1}" destId="{D5249A77-B43B-FE46-9705-E8BC7FE53B93}" srcOrd="0" destOrd="0" presId="urn:microsoft.com/office/officeart/2005/8/layout/hProcess9"/>
    <dgm:cxn modelId="{E95D4DCE-3644-474D-A855-68E925128D8E}" srcId="{37C0D8D2-2267-E64E-B8E6-45C914D0A42C}" destId="{858457C4-7EEC-C74F-94A4-BFC55A31B985}" srcOrd="1" destOrd="0" parTransId="{6937E66A-AB68-8E4D-A03A-21D951A76DC1}" sibTransId="{BAA19DD9-DE3F-B24A-9B58-97AE3398C163}"/>
    <dgm:cxn modelId="{04D653EF-33CD-DA42-AE89-446C0DA80A9B}" srcId="{37C0D8D2-2267-E64E-B8E6-45C914D0A42C}" destId="{C0F5EB43-505A-014B-8360-2571B0E3D605}" srcOrd="2" destOrd="0" parTransId="{A9CDC11B-C9A3-1944-B5A8-EB356815D68A}" sibTransId="{79E292EA-4B17-0841-880D-B1A64C632124}"/>
    <dgm:cxn modelId="{168707F2-2FA0-974F-9F5B-775990841C7A}" srcId="{37C0D8D2-2267-E64E-B8E6-45C914D0A42C}" destId="{1D4D39F8-3BC3-E341-865B-AA8360FF43E1}" srcOrd="4" destOrd="0" parTransId="{030EFAE6-C6A4-7D42-B962-E26E8163761C}" sibTransId="{DD0B15D6-EB5C-254A-9C00-22AB6A00E32E}"/>
    <dgm:cxn modelId="{130489F5-27E9-B248-B8EF-F790E089D988}" type="presParOf" srcId="{BFAFB52C-836A-8740-A4B4-A2540C0FD9F4}" destId="{988B6E2E-2BFF-FC47-821B-428BD77D6416}" srcOrd="0" destOrd="0" presId="urn:microsoft.com/office/officeart/2005/8/layout/hProcess9"/>
    <dgm:cxn modelId="{6C591925-4845-544C-B1B6-B2B34E62518C}" type="presParOf" srcId="{BFAFB52C-836A-8740-A4B4-A2540C0FD9F4}" destId="{E848CC35-A2F8-BE42-94EA-0981A3531338}" srcOrd="1" destOrd="0" presId="urn:microsoft.com/office/officeart/2005/8/layout/hProcess9"/>
    <dgm:cxn modelId="{6D8DCC2B-98CD-EB4C-83FD-3952E578E660}" type="presParOf" srcId="{E848CC35-A2F8-BE42-94EA-0981A3531338}" destId="{B1880CB3-21A9-8A4F-BE9A-D94E1C3C400F}" srcOrd="0" destOrd="0" presId="urn:microsoft.com/office/officeart/2005/8/layout/hProcess9"/>
    <dgm:cxn modelId="{09408158-85B5-E54F-8B59-FA11E7C44FCC}" type="presParOf" srcId="{E848CC35-A2F8-BE42-94EA-0981A3531338}" destId="{4B754679-1F1F-FA49-8869-653021BA3E16}" srcOrd="1" destOrd="0" presId="urn:microsoft.com/office/officeart/2005/8/layout/hProcess9"/>
    <dgm:cxn modelId="{0AFE58CF-8927-DE40-B65D-1D2258D8B6BB}" type="presParOf" srcId="{E848CC35-A2F8-BE42-94EA-0981A3531338}" destId="{215FB249-8A65-E54C-8104-ACD97A0878AC}" srcOrd="2" destOrd="0" presId="urn:microsoft.com/office/officeart/2005/8/layout/hProcess9"/>
    <dgm:cxn modelId="{EE692AC9-AA46-0042-BB85-8CEEFF4B9419}" type="presParOf" srcId="{E848CC35-A2F8-BE42-94EA-0981A3531338}" destId="{085B6D7B-7748-4848-AE1E-2C6A3167D00F}" srcOrd="3" destOrd="0" presId="urn:microsoft.com/office/officeart/2005/8/layout/hProcess9"/>
    <dgm:cxn modelId="{AB89DD93-F8FF-7148-AE6E-FC8D4ACC04FC}" type="presParOf" srcId="{E848CC35-A2F8-BE42-94EA-0981A3531338}" destId="{C1DF1096-90B8-D940-B494-8A3431494DB4}" srcOrd="4" destOrd="0" presId="urn:microsoft.com/office/officeart/2005/8/layout/hProcess9"/>
    <dgm:cxn modelId="{4C6D60F8-620E-3042-83A5-77EF631D358C}" type="presParOf" srcId="{E848CC35-A2F8-BE42-94EA-0981A3531338}" destId="{4EE4B85E-23EE-2441-8195-2C6A547C3FE5}" srcOrd="5" destOrd="0" presId="urn:microsoft.com/office/officeart/2005/8/layout/hProcess9"/>
    <dgm:cxn modelId="{8FB9446C-BE41-1142-9241-697659D0DD20}" type="presParOf" srcId="{E848CC35-A2F8-BE42-94EA-0981A3531338}" destId="{21E61842-9FF1-A747-879E-C9052620036F}" srcOrd="6" destOrd="0" presId="urn:microsoft.com/office/officeart/2005/8/layout/hProcess9"/>
    <dgm:cxn modelId="{780EFD61-9E31-5840-930F-5C57E22B8857}" type="presParOf" srcId="{E848CC35-A2F8-BE42-94EA-0981A3531338}" destId="{EEC8A278-FD57-7E46-BBDA-66FDDB067794}" srcOrd="7" destOrd="0" presId="urn:microsoft.com/office/officeart/2005/8/layout/hProcess9"/>
    <dgm:cxn modelId="{4D526CA0-9F2E-6843-A185-FB92FD35FC48}" type="presParOf" srcId="{E848CC35-A2F8-BE42-94EA-0981A3531338}" destId="{D5249A77-B43B-FE46-9705-E8BC7FE53B93}"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EAAD29-8149-E442-B19E-27C8729395E3}"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GB"/>
        </a:p>
      </dgm:t>
    </dgm:pt>
    <dgm:pt modelId="{1B5C88D0-8E4F-DC48-86B6-2CFAB0A0ABAD}">
      <dgm:prSet/>
      <dgm:spPr/>
      <dgm:t>
        <a:bodyPr/>
        <a:lstStyle/>
        <a:p>
          <a:r>
            <a:rPr lang="en-IT" b="1"/>
            <a:t>Quantum Noise </a:t>
          </a:r>
          <a:r>
            <a:rPr lang="en-IT"/>
            <a:t>is a destructive, unpredictable effect acting on qubits stored in a quantum computer. It has two main components:</a:t>
          </a:r>
        </a:p>
      </dgm:t>
    </dgm:pt>
    <dgm:pt modelId="{1A3D9DDB-E3D1-7940-8ADA-75100775D8CE}" type="parTrans" cxnId="{48E9B636-60AA-3A4A-8C17-9DED8BBB9243}">
      <dgm:prSet/>
      <dgm:spPr/>
      <dgm:t>
        <a:bodyPr/>
        <a:lstStyle/>
        <a:p>
          <a:endParaRPr lang="en-GB"/>
        </a:p>
      </dgm:t>
    </dgm:pt>
    <dgm:pt modelId="{834C4E9B-8BCF-C54D-8F0B-8BB30F042797}" type="sibTrans" cxnId="{48E9B636-60AA-3A4A-8C17-9DED8BBB9243}">
      <dgm:prSet/>
      <dgm:spPr/>
      <dgm:t>
        <a:bodyPr/>
        <a:lstStyle/>
        <a:p>
          <a:endParaRPr lang="en-GB"/>
        </a:p>
      </dgm:t>
    </dgm:pt>
    <dgm:pt modelId="{E4B83BF0-2A42-444D-A354-DED32E9A1385}">
      <dgm:prSet/>
      <dgm:spPr/>
      <dgm:t>
        <a:bodyPr/>
        <a:lstStyle/>
        <a:p>
          <a:r>
            <a:rPr lang="en-IT" b="1"/>
            <a:t>Quantum Decoherence</a:t>
          </a:r>
          <a:r>
            <a:rPr lang="en-IT"/>
            <a:t>:</a:t>
          </a:r>
          <a:r>
            <a:rPr lang="en-IT" b="1"/>
            <a:t> </a:t>
          </a:r>
          <a:r>
            <a:rPr lang="en-IT"/>
            <a:t>the state of a qubit progressively collapses due to the unavoidable interaction with external environment.</a:t>
          </a:r>
        </a:p>
      </dgm:t>
    </dgm:pt>
    <dgm:pt modelId="{EAD2878A-628B-4041-B124-35E2CE0D3ACB}" type="parTrans" cxnId="{3D26D1AB-BBC1-1149-BCDE-2C6A36CE7C3C}">
      <dgm:prSet/>
      <dgm:spPr/>
      <dgm:t>
        <a:bodyPr/>
        <a:lstStyle/>
        <a:p>
          <a:endParaRPr lang="en-GB"/>
        </a:p>
      </dgm:t>
    </dgm:pt>
    <dgm:pt modelId="{465E489F-BA0A-8F4C-A72A-76E9B68D111D}" type="sibTrans" cxnId="{3D26D1AB-BBC1-1149-BCDE-2C6A36CE7C3C}">
      <dgm:prSet/>
      <dgm:spPr/>
      <dgm:t>
        <a:bodyPr/>
        <a:lstStyle/>
        <a:p>
          <a:endParaRPr lang="en-GB"/>
        </a:p>
      </dgm:t>
    </dgm:pt>
    <dgm:pt modelId="{39D0E64D-EBA1-214C-90C5-B3C7E89EB408}">
      <dgm:prSet/>
      <dgm:spPr/>
      <dgm:t>
        <a:bodyPr/>
        <a:lstStyle/>
        <a:p>
          <a:r>
            <a:rPr lang="en-IT" b="1"/>
            <a:t>Physical Gates</a:t>
          </a:r>
          <a:r>
            <a:rPr lang="en-IT"/>
            <a:t>: Quantum gates are not ideal. This leads to an error component that is proportional to the number of gates applied to the qubit.</a:t>
          </a:r>
        </a:p>
      </dgm:t>
    </dgm:pt>
    <dgm:pt modelId="{A0A9D3AB-6626-1243-8E65-69B9048BC09D}" type="parTrans" cxnId="{3AF62ABC-7D89-1E49-B297-A20FA3B21701}">
      <dgm:prSet/>
      <dgm:spPr/>
      <dgm:t>
        <a:bodyPr/>
        <a:lstStyle/>
        <a:p>
          <a:endParaRPr lang="en-GB"/>
        </a:p>
      </dgm:t>
    </dgm:pt>
    <dgm:pt modelId="{5EB3832F-4421-974B-9F4E-6E075AE24553}" type="sibTrans" cxnId="{3AF62ABC-7D89-1E49-B297-A20FA3B21701}">
      <dgm:prSet/>
      <dgm:spPr/>
      <dgm:t>
        <a:bodyPr/>
        <a:lstStyle/>
        <a:p>
          <a:endParaRPr lang="en-GB"/>
        </a:p>
      </dgm:t>
    </dgm:pt>
    <dgm:pt modelId="{4B69EB08-F2DE-7640-B241-610E822E04D6}" type="pres">
      <dgm:prSet presAssocID="{2EEAAD29-8149-E442-B19E-27C8729395E3}" presName="Name0" presStyleCnt="0">
        <dgm:presLayoutVars>
          <dgm:dir/>
          <dgm:animLvl val="lvl"/>
          <dgm:resizeHandles val="exact"/>
        </dgm:presLayoutVars>
      </dgm:prSet>
      <dgm:spPr/>
    </dgm:pt>
    <dgm:pt modelId="{B18933B3-4F25-9B43-9E41-C090EB78231C}" type="pres">
      <dgm:prSet presAssocID="{1B5C88D0-8E4F-DC48-86B6-2CFAB0A0ABAD}" presName="linNode" presStyleCnt="0"/>
      <dgm:spPr/>
    </dgm:pt>
    <dgm:pt modelId="{E870715E-F6C8-984A-82AF-0D4AD1D87BA7}" type="pres">
      <dgm:prSet presAssocID="{1B5C88D0-8E4F-DC48-86B6-2CFAB0A0ABAD}" presName="parentText" presStyleLbl="node1" presStyleIdx="0" presStyleCnt="1">
        <dgm:presLayoutVars>
          <dgm:chMax val="1"/>
          <dgm:bulletEnabled val="1"/>
        </dgm:presLayoutVars>
      </dgm:prSet>
      <dgm:spPr/>
    </dgm:pt>
    <dgm:pt modelId="{ACE13CCA-CC0E-8748-BD53-2F7DF0F50707}" type="pres">
      <dgm:prSet presAssocID="{1B5C88D0-8E4F-DC48-86B6-2CFAB0A0ABAD}" presName="descendantText" presStyleLbl="alignAccFollowNode1" presStyleIdx="0" presStyleCnt="1">
        <dgm:presLayoutVars>
          <dgm:bulletEnabled val="1"/>
        </dgm:presLayoutVars>
      </dgm:prSet>
      <dgm:spPr/>
    </dgm:pt>
  </dgm:ptLst>
  <dgm:cxnLst>
    <dgm:cxn modelId="{EA8FCC05-9F2F-5241-8E31-E67589328A21}" type="presOf" srcId="{39D0E64D-EBA1-214C-90C5-B3C7E89EB408}" destId="{ACE13CCA-CC0E-8748-BD53-2F7DF0F50707}" srcOrd="0" destOrd="1" presId="urn:microsoft.com/office/officeart/2005/8/layout/vList5"/>
    <dgm:cxn modelId="{48E9B636-60AA-3A4A-8C17-9DED8BBB9243}" srcId="{2EEAAD29-8149-E442-B19E-27C8729395E3}" destId="{1B5C88D0-8E4F-DC48-86B6-2CFAB0A0ABAD}" srcOrd="0" destOrd="0" parTransId="{1A3D9DDB-E3D1-7940-8ADA-75100775D8CE}" sibTransId="{834C4E9B-8BCF-C54D-8F0B-8BB30F042797}"/>
    <dgm:cxn modelId="{0408DC97-53DE-0348-BF18-65EC0A95B8AE}" type="presOf" srcId="{1B5C88D0-8E4F-DC48-86B6-2CFAB0A0ABAD}" destId="{E870715E-F6C8-984A-82AF-0D4AD1D87BA7}" srcOrd="0" destOrd="0" presId="urn:microsoft.com/office/officeart/2005/8/layout/vList5"/>
    <dgm:cxn modelId="{3D26D1AB-BBC1-1149-BCDE-2C6A36CE7C3C}" srcId="{1B5C88D0-8E4F-DC48-86B6-2CFAB0A0ABAD}" destId="{E4B83BF0-2A42-444D-A354-DED32E9A1385}" srcOrd="0" destOrd="0" parTransId="{EAD2878A-628B-4041-B124-35E2CE0D3ACB}" sibTransId="{465E489F-BA0A-8F4C-A72A-76E9B68D111D}"/>
    <dgm:cxn modelId="{3AF62ABC-7D89-1E49-B297-A20FA3B21701}" srcId="{1B5C88D0-8E4F-DC48-86B6-2CFAB0A0ABAD}" destId="{39D0E64D-EBA1-214C-90C5-B3C7E89EB408}" srcOrd="1" destOrd="0" parTransId="{A0A9D3AB-6626-1243-8E65-69B9048BC09D}" sibTransId="{5EB3832F-4421-974B-9F4E-6E075AE24553}"/>
    <dgm:cxn modelId="{979A4FD2-C91E-344F-BA0C-02B60F315095}" type="presOf" srcId="{2EEAAD29-8149-E442-B19E-27C8729395E3}" destId="{4B69EB08-F2DE-7640-B241-610E822E04D6}" srcOrd="0" destOrd="0" presId="urn:microsoft.com/office/officeart/2005/8/layout/vList5"/>
    <dgm:cxn modelId="{0A603AF1-1DE4-A647-BCF5-7DFF09B73501}" type="presOf" srcId="{E4B83BF0-2A42-444D-A354-DED32E9A1385}" destId="{ACE13CCA-CC0E-8748-BD53-2F7DF0F50707}" srcOrd="0" destOrd="0" presId="urn:microsoft.com/office/officeart/2005/8/layout/vList5"/>
    <dgm:cxn modelId="{6AA34563-0B69-FC49-938B-5B52735A1418}" type="presParOf" srcId="{4B69EB08-F2DE-7640-B241-610E822E04D6}" destId="{B18933B3-4F25-9B43-9E41-C090EB78231C}" srcOrd="0" destOrd="0" presId="urn:microsoft.com/office/officeart/2005/8/layout/vList5"/>
    <dgm:cxn modelId="{64EDE965-F948-E344-99BC-9B6673D1DF9F}" type="presParOf" srcId="{B18933B3-4F25-9B43-9E41-C090EB78231C}" destId="{E870715E-F6C8-984A-82AF-0D4AD1D87BA7}" srcOrd="0" destOrd="0" presId="urn:microsoft.com/office/officeart/2005/8/layout/vList5"/>
    <dgm:cxn modelId="{8E529B10-61AC-014D-A478-D40766D8E4E1}" type="presParOf" srcId="{B18933B3-4F25-9B43-9E41-C090EB78231C}" destId="{ACE13CCA-CC0E-8748-BD53-2F7DF0F5070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37E64B-855D-CB47-BCFB-E1C66C3ADD2F}"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GB"/>
        </a:p>
      </dgm:t>
    </dgm:pt>
    <dgm:pt modelId="{6D40D3E8-2E58-AF46-A7DF-18FF993F1DD1}">
      <dgm:prSet/>
      <dgm:spPr/>
      <dgm:t>
        <a:bodyPr/>
        <a:lstStyle/>
        <a:p>
          <a:r>
            <a:rPr lang="en-IT" b="1"/>
            <a:t>Classical simulators</a:t>
          </a:r>
          <a:r>
            <a:rPr lang="en-IT"/>
            <a:t>:  any classical computer can simulate the behavior of a quantum computer (with a limited number of qubits).</a:t>
          </a:r>
        </a:p>
      </dgm:t>
    </dgm:pt>
    <dgm:pt modelId="{EB11C625-22C5-A649-AD08-41142D325958}" type="parTrans" cxnId="{355E5620-EEEE-9C4E-8058-11F6943AB1ED}">
      <dgm:prSet/>
      <dgm:spPr/>
      <dgm:t>
        <a:bodyPr/>
        <a:lstStyle/>
        <a:p>
          <a:endParaRPr lang="en-GB"/>
        </a:p>
      </dgm:t>
    </dgm:pt>
    <dgm:pt modelId="{F1FFAF08-764B-AD4F-8C99-CC60DC82EE79}" type="sibTrans" cxnId="{355E5620-EEEE-9C4E-8058-11F6943AB1ED}">
      <dgm:prSet/>
      <dgm:spPr/>
      <dgm:t>
        <a:bodyPr/>
        <a:lstStyle/>
        <a:p>
          <a:endParaRPr lang="en-GB"/>
        </a:p>
      </dgm:t>
    </dgm:pt>
    <dgm:pt modelId="{39FDDAA1-B211-F943-A442-A8E920C6C34F}">
      <dgm:prSet/>
      <dgm:spPr/>
      <dgm:t>
        <a:bodyPr/>
        <a:lstStyle/>
        <a:p>
          <a:r>
            <a:rPr lang="en-IT" b="1"/>
            <a:t>Real quantum devices</a:t>
          </a:r>
          <a:r>
            <a:rPr lang="en-IT"/>
            <a:t>: We can (and we will) exploit IBM-Q network to test our circuits on real quantum computers.</a:t>
          </a:r>
        </a:p>
      </dgm:t>
    </dgm:pt>
    <dgm:pt modelId="{5469A5CD-455F-344A-A4C3-438CDC324CFD}" type="parTrans" cxnId="{0CEC6203-42A3-1B41-ADC3-B4698C2E464E}">
      <dgm:prSet/>
      <dgm:spPr/>
      <dgm:t>
        <a:bodyPr/>
        <a:lstStyle/>
        <a:p>
          <a:endParaRPr lang="en-GB"/>
        </a:p>
      </dgm:t>
    </dgm:pt>
    <dgm:pt modelId="{998C0D6D-ECC7-ED49-8AA4-86DE4FF6426F}" type="sibTrans" cxnId="{0CEC6203-42A3-1B41-ADC3-B4698C2E464E}">
      <dgm:prSet/>
      <dgm:spPr/>
      <dgm:t>
        <a:bodyPr/>
        <a:lstStyle/>
        <a:p>
          <a:endParaRPr lang="en-GB"/>
        </a:p>
      </dgm:t>
    </dgm:pt>
    <dgm:pt modelId="{078BF5BE-BFE2-7748-821E-8DAF3FF41136}" type="pres">
      <dgm:prSet presAssocID="{D537E64B-855D-CB47-BCFB-E1C66C3ADD2F}" presName="linear" presStyleCnt="0">
        <dgm:presLayoutVars>
          <dgm:animLvl val="lvl"/>
          <dgm:resizeHandles val="exact"/>
        </dgm:presLayoutVars>
      </dgm:prSet>
      <dgm:spPr/>
    </dgm:pt>
    <dgm:pt modelId="{55AD97DA-761C-904E-9C92-D0C72B847A0C}" type="pres">
      <dgm:prSet presAssocID="{6D40D3E8-2E58-AF46-A7DF-18FF993F1DD1}" presName="parentText" presStyleLbl="node1" presStyleIdx="0" presStyleCnt="2">
        <dgm:presLayoutVars>
          <dgm:chMax val="0"/>
          <dgm:bulletEnabled val="1"/>
        </dgm:presLayoutVars>
      </dgm:prSet>
      <dgm:spPr/>
    </dgm:pt>
    <dgm:pt modelId="{FCBFFD9D-7171-7D4D-93E5-666924BE0B19}" type="pres">
      <dgm:prSet presAssocID="{F1FFAF08-764B-AD4F-8C99-CC60DC82EE79}" presName="spacer" presStyleCnt="0"/>
      <dgm:spPr/>
    </dgm:pt>
    <dgm:pt modelId="{A79BFC0D-7C4F-7149-BDAB-72BE38A9BBEE}" type="pres">
      <dgm:prSet presAssocID="{39FDDAA1-B211-F943-A442-A8E920C6C34F}" presName="parentText" presStyleLbl="node1" presStyleIdx="1" presStyleCnt="2">
        <dgm:presLayoutVars>
          <dgm:chMax val="0"/>
          <dgm:bulletEnabled val="1"/>
        </dgm:presLayoutVars>
      </dgm:prSet>
      <dgm:spPr/>
    </dgm:pt>
  </dgm:ptLst>
  <dgm:cxnLst>
    <dgm:cxn modelId="{0CEC6203-42A3-1B41-ADC3-B4698C2E464E}" srcId="{D537E64B-855D-CB47-BCFB-E1C66C3ADD2F}" destId="{39FDDAA1-B211-F943-A442-A8E920C6C34F}" srcOrd="1" destOrd="0" parTransId="{5469A5CD-455F-344A-A4C3-438CDC324CFD}" sibTransId="{998C0D6D-ECC7-ED49-8AA4-86DE4FF6426F}"/>
    <dgm:cxn modelId="{355E5620-EEEE-9C4E-8058-11F6943AB1ED}" srcId="{D537E64B-855D-CB47-BCFB-E1C66C3ADD2F}" destId="{6D40D3E8-2E58-AF46-A7DF-18FF993F1DD1}" srcOrd="0" destOrd="0" parTransId="{EB11C625-22C5-A649-AD08-41142D325958}" sibTransId="{F1FFAF08-764B-AD4F-8C99-CC60DC82EE79}"/>
    <dgm:cxn modelId="{A0321741-E04C-BF48-8273-1F7E8CCCF048}" type="presOf" srcId="{D537E64B-855D-CB47-BCFB-E1C66C3ADD2F}" destId="{078BF5BE-BFE2-7748-821E-8DAF3FF41136}" srcOrd="0" destOrd="0" presId="urn:microsoft.com/office/officeart/2005/8/layout/vList2"/>
    <dgm:cxn modelId="{63DD457C-B769-C740-950A-C42DB5F1FC47}" type="presOf" srcId="{39FDDAA1-B211-F943-A442-A8E920C6C34F}" destId="{A79BFC0D-7C4F-7149-BDAB-72BE38A9BBEE}" srcOrd="0" destOrd="0" presId="urn:microsoft.com/office/officeart/2005/8/layout/vList2"/>
    <dgm:cxn modelId="{8D843EDB-7AFC-B54B-95D9-9DF69B7D658A}" type="presOf" srcId="{6D40D3E8-2E58-AF46-A7DF-18FF993F1DD1}" destId="{55AD97DA-761C-904E-9C92-D0C72B847A0C}" srcOrd="0" destOrd="0" presId="urn:microsoft.com/office/officeart/2005/8/layout/vList2"/>
    <dgm:cxn modelId="{6A4207AE-0DC1-BE41-9CDB-8A0BF9CE039A}" type="presParOf" srcId="{078BF5BE-BFE2-7748-821E-8DAF3FF41136}" destId="{55AD97DA-761C-904E-9C92-D0C72B847A0C}" srcOrd="0" destOrd="0" presId="urn:microsoft.com/office/officeart/2005/8/layout/vList2"/>
    <dgm:cxn modelId="{B2355319-6E1D-554B-85B9-4287237A6938}" type="presParOf" srcId="{078BF5BE-BFE2-7748-821E-8DAF3FF41136}" destId="{FCBFFD9D-7171-7D4D-93E5-666924BE0B19}" srcOrd="1" destOrd="0" presId="urn:microsoft.com/office/officeart/2005/8/layout/vList2"/>
    <dgm:cxn modelId="{CDA70A99-027E-F44B-B6B9-8DB978025CCA}" type="presParOf" srcId="{078BF5BE-BFE2-7748-821E-8DAF3FF41136}" destId="{A79BFC0D-7C4F-7149-BDAB-72BE38A9BBE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D19163-10D8-7B42-B5F2-A3A080FD0EDE}" type="doc">
      <dgm:prSet loTypeId="urn:microsoft.com/office/officeart/2005/8/layout/target2" loCatId="" qsTypeId="urn:microsoft.com/office/officeart/2005/8/quickstyle/simple1" qsCatId="simple" csTypeId="urn:microsoft.com/office/officeart/2005/8/colors/accent1_2" csCatId="accent1" phldr="1"/>
      <dgm:spPr/>
      <dgm:t>
        <a:bodyPr/>
        <a:lstStyle/>
        <a:p>
          <a:endParaRPr lang="en-GB"/>
        </a:p>
      </dgm:t>
    </dgm:pt>
    <dgm:pt modelId="{61F26404-1EC6-6748-8568-B9B38E744AB8}">
      <dgm:prSet/>
      <dgm:spPr/>
      <dgm:t>
        <a:bodyPr/>
        <a:lstStyle/>
        <a:p>
          <a:r>
            <a:rPr lang="en-IT"/>
            <a:t>In this introduction to Qiskit we will cover:</a:t>
          </a:r>
        </a:p>
      </dgm:t>
    </dgm:pt>
    <dgm:pt modelId="{9FDD67C7-761D-D146-B050-E3F46E9694FB}" type="parTrans" cxnId="{41ABF645-8530-C748-830E-D2AC60CB1196}">
      <dgm:prSet/>
      <dgm:spPr/>
      <dgm:t>
        <a:bodyPr/>
        <a:lstStyle/>
        <a:p>
          <a:endParaRPr lang="en-GB"/>
        </a:p>
      </dgm:t>
    </dgm:pt>
    <dgm:pt modelId="{0B1AA7FE-7ADF-E842-90EA-03343A684805}" type="sibTrans" cxnId="{41ABF645-8530-C748-830E-D2AC60CB1196}">
      <dgm:prSet/>
      <dgm:spPr/>
      <dgm:t>
        <a:bodyPr/>
        <a:lstStyle/>
        <a:p>
          <a:endParaRPr lang="en-GB"/>
        </a:p>
      </dgm:t>
    </dgm:pt>
    <dgm:pt modelId="{B3C6A47B-9D3F-F144-9C79-D52EFBB24BD2}">
      <dgm:prSet/>
      <dgm:spPr/>
      <dgm:t>
        <a:bodyPr/>
        <a:lstStyle/>
        <a:p>
          <a:r>
            <a:rPr lang="en-GB" err="1"/>
            <a:t>Qiskit</a:t>
          </a:r>
          <a:r>
            <a:rPr lang="en-GB"/>
            <a:t> software structure</a:t>
          </a:r>
          <a:endParaRPr lang="en-IT"/>
        </a:p>
      </dgm:t>
    </dgm:pt>
    <dgm:pt modelId="{CAAEB945-514E-7D42-8A33-D40004E2E65B}" type="parTrans" cxnId="{06B5B0F9-58C3-B44D-B3FC-9E31D77BC56C}">
      <dgm:prSet/>
      <dgm:spPr/>
      <dgm:t>
        <a:bodyPr/>
        <a:lstStyle/>
        <a:p>
          <a:endParaRPr lang="en-GB"/>
        </a:p>
      </dgm:t>
    </dgm:pt>
    <dgm:pt modelId="{D2E2A499-F9C4-A54D-BB00-8883C229B440}" type="sibTrans" cxnId="{06B5B0F9-58C3-B44D-B3FC-9E31D77BC56C}">
      <dgm:prSet/>
      <dgm:spPr/>
      <dgm:t>
        <a:bodyPr/>
        <a:lstStyle/>
        <a:p>
          <a:endParaRPr lang="en-GB"/>
        </a:p>
      </dgm:t>
    </dgm:pt>
    <dgm:pt modelId="{FC5EFFDB-2186-6243-8492-E5EB8C657FEF}">
      <dgm:prSet/>
      <dgm:spPr/>
      <dgm:t>
        <a:bodyPr/>
        <a:lstStyle/>
        <a:p>
          <a:r>
            <a:rPr lang="en-GB"/>
            <a:t>A Tutorial for Qiskit installation</a:t>
          </a:r>
          <a:endParaRPr lang="en-IT"/>
        </a:p>
      </dgm:t>
    </dgm:pt>
    <dgm:pt modelId="{B91BC28E-A938-BE47-9C7A-70FEF07351CD}" type="parTrans" cxnId="{48511023-FDC0-EF49-90F7-04813C9AFD4A}">
      <dgm:prSet/>
      <dgm:spPr/>
      <dgm:t>
        <a:bodyPr/>
        <a:lstStyle/>
        <a:p>
          <a:endParaRPr lang="en-GB"/>
        </a:p>
      </dgm:t>
    </dgm:pt>
    <dgm:pt modelId="{3C590D3A-6004-5640-BFC4-964AD08972A3}" type="sibTrans" cxnId="{48511023-FDC0-EF49-90F7-04813C9AFD4A}">
      <dgm:prSet/>
      <dgm:spPr/>
      <dgm:t>
        <a:bodyPr/>
        <a:lstStyle/>
        <a:p>
          <a:endParaRPr lang="en-GB"/>
        </a:p>
      </dgm:t>
    </dgm:pt>
    <dgm:pt modelId="{B521CD01-5166-D64D-B1B7-7010602AADDC}">
      <dgm:prSet/>
      <dgm:spPr/>
      <dgm:t>
        <a:bodyPr/>
        <a:lstStyle/>
        <a:p>
          <a:r>
            <a:rPr lang="en-GB"/>
            <a:t>How to build quantum circuits with Qiskit</a:t>
          </a:r>
          <a:endParaRPr lang="en-IT"/>
        </a:p>
      </dgm:t>
    </dgm:pt>
    <dgm:pt modelId="{ED17DA78-499A-104F-AC05-81AEBF86949F}" type="parTrans" cxnId="{B93916E4-3E63-B44F-996A-5F608D7D0316}">
      <dgm:prSet/>
      <dgm:spPr/>
      <dgm:t>
        <a:bodyPr/>
        <a:lstStyle/>
        <a:p>
          <a:endParaRPr lang="en-GB"/>
        </a:p>
      </dgm:t>
    </dgm:pt>
    <dgm:pt modelId="{B61F59D6-3D04-DF4A-B927-7BD1A530AFD2}" type="sibTrans" cxnId="{B93916E4-3E63-B44F-996A-5F608D7D0316}">
      <dgm:prSet/>
      <dgm:spPr/>
      <dgm:t>
        <a:bodyPr/>
        <a:lstStyle/>
        <a:p>
          <a:endParaRPr lang="en-GB"/>
        </a:p>
      </dgm:t>
    </dgm:pt>
    <dgm:pt modelId="{E20184CE-8CD9-AB44-898E-153353C13C6C}">
      <dgm:prSet/>
      <dgm:spPr/>
      <dgm:t>
        <a:bodyPr/>
        <a:lstStyle/>
        <a:p>
          <a:r>
            <a:rPr lang="en-IT"/>
            <a:t>How to run circuits on simulators</a:t>
          </a:r>
        </a:p>
      </dgm:t>
    </dgm:pt>
    <dgm:pt modelId="{6662C2A3-2128-5F4F-8C16-1E4C0CA07F3B}" type="parTrans" cxnId="{579B52CB-BE19-CE49-AD4E-9CCDC71286A0}">
      <dgm:prSet/>
      <dgm:spPr/>
      <dgm:t>
        <a:bodyPr/>
        <a:lstStyle/>
        <a:p>
          <a:endParaRPr lang="en-GB"/>
        </a:p>
      </dgm:t>
    </dgm:pt>
    <dgm:pt modelId="{1D03DDE8-494E-B948-A0E2-6E44A0E4997B}" type="sibTrans" cxnId="{579B52CB-BE19-CE49-AD4E-9CCDC71286A0}">
      <dgm:prSet/>
      <dgm:spPr/>
      <dgm:t>
        <a:bodyPr/>
        <a:lstStyle/>
        <a:p>
          <a:endParaRPr lang="en-GB"/>
        </a:p>
      </dgm:t>
    </dgm:pt>
    <dgm:pt modelId="{2D9EB832-F265-3941-9A9B-E2E55F340912}">
      <dgm:prSet/>
      <dgm:spPr/>
      <dgm:t>
        <a:bodyPr/>
        <a:lstStyle/>
        <a:p>
          <a:r>
            <a:rPr lang="en-IT"/>
            <a:t>How to run circuits on an IBM-Q device</a:t>
          </a:r>
        </a:p>
      </dgm:t>
    </dgm:pt>
    <dgm:pt modelId="{CCE21782-58EB-114C-AFC7-4D5FDE9D7784}" type="parTrans" cxnId="{179CB3A8-EC94-194D-91B7-DC2AB259F371}">
      <dgm:prSet/>
      <dgm:spPr/>
      <dgm:t>
        <a:bodyPr/>
        <a:lstStyle/>
        <a:p>
          <a:endParaRPr lang="en-GB"/>
        </a:p>
      </dgm:t>
    </dgm:pt>
    <dgm:pt modelId="{7DA5DD64-1BB2-5E4B-8B43-B99AA94B82BF}" type="sibTrans" cxnId="{179CB3A8-EC94-194D-91B7-DC2AB259F371}">
      <dgm:prSet/>
      <dgm:spPr/>
      <dgm:t>
        <a:bodyPr/>
        <a:lstStyle/>
        <a:p>
          <a:endParaRPr lang="en-GB"/>
        </a:p>
      </dgm:t>
    </dgm:pt>
    <dgm:pt modelId="{8F16B74F-A254-6A4E-949E-F5632B7ADD5D}" type="pres">
      <dgm:prSet presAssocID="{FAD19163-10D8-7B42-B5F2-A3A080FD0EDE}" presName="Name0" presStyleCnt="0">
        <dgm:presLayoutVars>
          <dgm:chMax val="3"/>
          <dgm:chPref val="1"/>
          <dgm:dir/>
          <dgm:animLvl val="lvl"/>
          <dgm:resizeHandles/>
        </dgm:presLayoutVars>
      </dgm:prSet>
      <dgm:spPr/>
    </dgm:pt>
    <dgm:pt modelId="{73363248-EEC2-B748-9504-F19665D602D1}" type="pres">
      <dgm:prSet presAssocID="{FAD19163-10D8-7B42-B5F2-A3A080FD0EDE}" presName="outerBox" presStyleCnt="0"/>
      <dgm:spPr/>
    </dgm:pt>
    <dgm:pt modelId="{833C2F9B-8F74-ED4D-9CCE-52292D38387E}" type="pres">
      <dgm:prSet presAssocID="{FAD19163-10D8-7B42-B5F2-A3A080FD0EDE}" presName="outerBoxParent" presStyleLbl="node1" presStyleIdx="0" presStyleCnt="1"/>
      <dgm:spPr/>
    </dgm:pt>
    <dgm:pt modelId="{D1F90663-217E-FE47-8C4A-BEA7DD8A1FE4}" type="pres">
      <dgm:prSet presAssocID="{FAD19163-10D8-7B42-B5F2-A3A080FD0EDE}" presName="outerBoxChildren" presStyleCnt="0"/>
      <dgm:spPr/>
    </dgm:pt>
    <dgm:pt modelId="{1AE157E9-A665-0B4B-8344-7A052D0558D7}" type="pres">
      <dgm:prSet presAssocID="{B3C6A47B-9D3F-F144-9C79-D52EFBB24BD2}" presName="oChild" presStyleLbl="fgAcc1" presStyleIdx="0" presStyleCnt="5">
        <dgm:presLayoutVars>
          <dgm:bulletEnabled val="1"/>
        </dgm:presLayoutVars>
      </dgm:prSet>
      <dgm:spPr/>
    </dgm:pt>
    <dgm:pt modelId="{0A7A2C6C-D478-5F4A-BAAB-89C55F542D49}" type="pres">
      <dgm:prSet presAssocID="{D2E2A499-F9C4-A54D-BB00-8883C229B440}" presName="outerSibTrans" presStyleCnt="0"/>
      <dgm:spPr/>
    </dgm:pt>
    <dgm:pt modelId="{971CF754-EC11-9945-BA2A-E039CA814E95}" type="pres">
      <dgm:prSet presAssocID="{FC5EFFDB-2186-6243-8492-E5EB8C657FEF}" presName="oChild" presStyleLbl="fgAcc1" presStyleIdx="1" presStyleCnt="5">
        <dgm:presLayoutVars>
          <dgm:bulletEnabled val="1"/>
        </dgm:presLayoutVars>
      </dgm:prSet>
      <dgm:spPr/>
    </dgm:pt>
    <dgm:pt modelId="{7F5EC395-6D4B-B342-9165-E371C098BE74}" type="pres">
      <dgm:prSet presAssocID="{3C590D3A-6004-5640-BFC4-964AD08972A3}" presName="outerSibTrans" presStyleCnt="0"/>
      <dgm:spPr/>
    </dgm:pt>
    <dgm:pt modelId="{2ECA6D2D-91E4-2645-935B-AA998BC570C6}" type="pres">
      <dgm:prSet presAssocID="{B521CD01-5166-D64D-B1B7-7010602AADDC}" presName="oChild" presStyleLbl="fgAcc1" presStyleIdx="2" presStyleCnt="5">
        <dgm:presLayoutVars>
          <dgm:bulletEnabled val="1"/>
        </dgm:presLayoutVars>
      </dgm:prSet>
      <dgm:spPr/>
    </dgm:pt>
    <dgm:pt modelId="{7B68BA20-F615-1F4E-BFCB-125F0AA6814A}" type="pres">
      <dgm:prSet presAssocID="{B61F59D6-3D04-DF4A-B927-7BD1A530AFD2}" presName="outerSibTrans" presStyleCnt="0"/>
      <dgm:spPr/>
    </dgm:pt>
    <dgm:pt modelId="{E73AC419-954D-484B-AC09-FAEBA78D5185}" type="pres">
      <dgm:prSet presAssocID="{E20184CE-8CD9-AB44-898E-153353C13C6C}" presName="oChild" presStyleLbl="fgAcc1" presStyleIdx="3" presStyleCnt="5">
        <dgm:presLayoutVars>
          <dgm:bulletEnabled val="1"/>
        </dgm:presLayoutVars>
      </dgm:prSet>
      <dgm:spPr/>
    </dgm:pt>
    <dgm:pt modelId="{0832A53F-96B2-2547-8F31-C350AF7BC1DD}" type="pres">
      <dgm:prSet presAssocID="{1D03DDE8-494E-B948-A0E2-6E44A0E4997B}" presName="outerSibTrans" presStyleCnt="0"/>
      <dgm:spPr/>
    </dgm:pt>
    <dgm:pt modelId="{A2F72E47-8DFB-FD47-BA79-5992EC043F03}" type="pres">
      <dgm:prSet presAssocID="{2D9EB832-F265-3941-9A9B-E2E55F340912}" presName="oChild" presStyleLbl="fgAcc1" presStyleIdx="4" presStyleCnt="5">
        <dgm:presLayoutVars>
          <dgm:bulletEnabled val="1"/>
        </dgm:presLayoutVars>
      </dgm:prSet>
      <dgm:spPr/>
    </dgm:pt>
  </dgm:ptLst>
  <dgm:cxnLst>
    <dgm:cxn modelId="{48511023-FDC0-EF49-90F7-04813C9AFD4A}" srcId="{61F26404-1EC6-6748-8568-B9B38E744AB8}" destId="{FC5EFFDB-2186-6243-8492-E5EB8C657FEF}" srcOrd="1" destOrd="0" parTransId="{B91BC28E-A938-BE47-9C7A-70FEF07351CD}" sibTransId="{3C590D3A-6004-5640-BFC4-964AD08972A3}"/>
    <dgm:cxn modelId="{9F41A22B-4AE8-FB49-B923-68AB3AD7AD4D}" type="presOf" srcId="{FC5EFFDB-2186-6243-8492-E5EB8C657FEF}" destId="{971CF754-EC11-9945-BA2A-E039CA814E95}" srcOrd="0" destOrd="0" presId="urn:microsoft.com/office/officeart/2005/8/layout/target2"/>
    <dgm:cxn modelId="{41ABF645-8530-C748-830E-D2AC60CB1196}" srcId="{FAD19163-10D8-7B42-B5F2-A3A080FD0EDE}" destId="{61F26404-1EC6-6748-8568-B9B38E744AB8}" srcOrd="0" destOrd="0" parTransId="{9FDD67C7-761D-D146-B050-E3F46E9694FB}" sibTransId="{0B1AA7FE-7ADF-E842-90EA-03343A684805}"/>
    <dgm:cxn modelId="{FFD20E47-C15B-F14E-8166-51AC977C7C26}" type="presOf" srcId="{E20184CE-8CD9-AB44-898E-153353C13C6C}" destId="{E73AC419-954D-484B-AC09-FAEBA78D5185}" srcOrd="0" destOrd="0" presId="urn:microsoft.com/office/officeart/2005/8/layout/target2"/>
    <dgm:cxn modelId="{BB231D53-CE2A-1C4E-93C1-4FE6F3356548}" type="presOf" srcId="{B521CD01-5166-D64D-B1B7-7010602AADDC}" destId="{2ECA6D2D-91E4-2645-935B-AA998BC570C6}" srcOrd="0" destOrd="0" presId="urn:microsoft.com/office/officeart/2005/8/layout/target2"/>
    <dgm:cxn modelId="{179CB3A8-EC94-194D-91B7-DC2AB259F371}" srcId="{61F26404-1EC6-6748-8568-B9B38E744AB8}" destId="{2D9EB832-F265-3941-9A9B-E2E55F340912}" srcOrd="4" destOrd="0" parTransId="{CCE21782-58EB-114C-AFC7-4D5FDE9D7784}" sibTransId="{7DA5DD64-1BB2-5E4B-8B43-B99AA94B82BF}"/>
    <dgm:cxn modelId="{D6622FB3-92A0-5145-AF61-63BA73E9C730}" type="presOf" srcId="{FAD19163-10D8-7B42-B5F2-A3A080FD0EDE}" destId="{8F16B74F-A254-6A4E-949E-F5632B7ADD5D}" srcOrd="0" destOrd="0" presId="urn:microsoft.com/office/officeart/2005/8/layout/target2"/>
    <dgm:cxn modelId="{A4D2D0B5-D79D-1F4B-98E6-C074EF8EE2A7}" type="presOf" srcId="{B3C6A47B-9D3F-F144-9C79-D52EFBB24BD2}" destId="{1AE157E9-A665-0B4B-8344-7A052D0558D7}" srcOrd="0" destOrd="0" presId="urn:microsoft.com/office/officeart/2005/8/layout/target2"/>
    <dgm:cxn modelId="{579B52CB-BE19-CE49-AD4E-9CCDC71286A0}" srcId="{61F26404-1EC6-6748-8568-B9B38E744AB8}" destId="{E20184CE-8CD9-AB44-898E-153353C13C6C}" srcOrd="3" destOrd="0" parTransId="{6662C2A3-2128-5F4F-8C16-1E4C0CA07F3B}" sibTransId="{1D03DDE8-494E-B948-A0E2-6E44A0E4997B}"/>
    <dgm:cxn modelId="{B62445CF-8958-FB4B-9B62-EA8AFDD7F339}" type="presOf" srcId="{61F26404-1EC6-6748-8568-B9B38E744AB8}" destId="{833C2F9B-8F74-ED4D-9CCE-52292D38387E}" srcOrd="0" destOrd="0" presId="urn:microsoft.com/office/officeart/2005/8/layout/target2"/>
    <dgm:cxn modelId="{B93916E4-3E63-B44F-996A-5F608D7D0316}" srcId="{61F26404-1EC6-6748-8568-B9B38E744AB8}" destId="{B521CD01-5166-D64D-B1B7-7010602AADDC}" srcOrd="2" destOrd="0" parTransId="{ED17DA78-499A-104F-AC05-81AEBF86949F}" sibTransId="{B61F59D6-3D04-DF4A-B927-7BD1A530AFD2}"/>
    <dgm:cxn modelId="{CA7435F7-8D62-9640-B703-D2FDFD71FDB8}" type="presOf" srcId="{2D9EB832-F265-3941-9A9B-E2E55F340912}" destId="{A2F72E47-8DFB-FD47-BA79-5992EC043F03}" srcOrd="0" destOrd="0" presId="urn:microsoft.com/office/officeart/2005/8/layout/target2"/>
    <dgm:cxn modelId="{06B5B0F9-58C3-B44D-B3FC-9E31D77BC56C}" srcId="{61F26404-1EC6-6748-8568-B9B38E744AB8}" destId="{B3C6A47B-9D3F-F144-9C79-D52EFBB24BD2}" srcOrd="0" destOrd="0" parTransId="{CAAEB945-514E-7D42-8A33-D40004E2E65B}" sibTransId="{D2E2A499-F9C4-A54D-BB00-8883C229B440}"/>
    <dgm:cxn modelId="{846272D5-D831-B143-9101-E3D356541BE6}" type="presParOf" srcId="{8F16B74F-A254-6A4E-949E-F5632B7ADD5D}" destId="{73363248-EEC2-B748-9504-F19665D602D1}" srcOrd="0" destOrd="0" presId="urn:microsoft.com/office/officeart/2005/8/layout/target2"/>
    <dgm:cxn modelId="{EB373285-48EB-BC46-91DE-1E58F07548F3}" type="presParOf" srcId="{73363248-EEC2-B748-9504-F19665D602D1}" destId="{833C2F9B-8F74-ED4D-9CCE-52292D38387E}" srcOrd="0" destOrd="0" presId="urn:microsoft.com/office/officeart/2005/8/layout/target2"/>
    <dgm:cxn modelId="{D14AB1A9-5D8E-6D46-B4BA-942A861A6242}" type="presParOf" srcId="{73363248-EEC2-B748-9504-F19665D602D1}" destId="{D1F90663-217E-FE47-8C4A-BEA7DD8A1FE4}" srcOrd="1" destOrd="0" presId="urn:microsoft.com/office/officeart/2005/8/layout/target2"/>
    <dgm:cxn modelId="{40A1AA43-C5EC-9F47-A414-57CA7989C037}" type="presParOf" srcId="{D1F90663-217E-FE47-8C4A-BEA7DD8A1FE4}" destId="{1AE157E9-A665-0B4B-8344-7A052D0558D7}" srcOrd="0" destOrd="0" presId="urn:microsoft.com/office/officeart/2005/8/layout/target2"/>
    <dgm:cxn modelId="{6F5DA229-AB69-EA4A-94D0-249246072780}" type="presParOf" srcId="{D1F90663-217E-FE47-8C4A-BEA7DD8A1FE4}" destId="{0A7A2C6C-D478-5F4A-BAAB-89C55F542D49}" srcOrd="1" destOrd="0" presId="urn:microsoft.com/office/officeart/2005/8/layout/target2"/>
    <dgm:cxn modelId="{9E790C46-F7A9-494B-85D4-C661BEE0BB31}" type="presParOf" srcId="{D1F90663-217E-FE47-8C4A-BEA7DD8A1FE4}" destId="{971CF754-EC11-9945-BA2A-E039CA814E95}" srcOrd="2" destOrd="0" presId="urn:microsoft.com/office/officeart/2005/8/layout/target2"/>
    <dgm:cxn modelId="{3C97855B-D583-1F47-9EFC-84E8B72276AC}" type="presParOf" srcId="{D1F90663-217E-FE47-8C4A-BEA7DD8A1FE4}" destId="{7F5EC395-6D4B-B342-9165-E371C098BE74}" srcOrd="3" destOrd="0" presId="urn:microsoft.com/office/officeart/2005/8/layout/target2"/>
    <dgm:cxn modelId="{AF50F870-D8DE-124B-8E09-73E6BB6429FB}" type="presParOf" srcId="{D1F90663-217E-FE47-8C4A-BEA7DD8A1FE4}" destId="{2ECA6D2D-91E4-2645-935B-AA998BC570C6}" srcOrd="4" destOrd="0" presId="urn:microsoft.com/office/officeart/2005/8/layout/target2"/>
    <dgm:cxn modelId="{530E09A3-BB67-D74C-BBBB-264E7A2DDDC8}" type="presParOf" srcId="{D1F90663-217E-FE47-8C4A-BEA7DD8A1FE4}" destId="{7B68BA20-F615-1F4E-BFCB-125F0AA6814A}" srcOrd="5" destOrd="0" presId="urn:microsoft.com/office/officeart/2005/8/layout/target2"/>
    <dgm:cxn modelId="{C04E8D91-1302-7341-907B-EFB059AE4847}" type="presParOf" srcId="{D1F90663-217E-FE47-8C4A-BEA7DD8A1FE4}" destId="{E73AC419-954D-484B-AC09-FAEBA78D5185}" srcOrd="6" destOrd="0" presId="urn:microsoft.com/office/officeart/2005/8/layout/target2"/>
    <dgm:cxn modelId="{337963B1-DF1D-9641-9C63-27C4A7B57533}" type="presParOf" srcId="{D1F90663-217E-FE47-8C4A-BEA7DD8A1FE4}" destId="{0832A53F-96B2-2547-8F31-C350AF7BC1DD}" srcOrd="7" destOrd="0" presId="urn:microsoft.com/office/officeart/2005/8/layout/target2"/>
    <dgm:cxn modelId="{FD2CD359-BCB4-784C-AEF2-E1F8A323E1B7}" type="presParOf" srcId="{D1F90663-217E-FE47-8C4A-BEA7DD8A1FE4}" destId="{A2F72E47-8DFB-FD47-BA79-5992EC043F03}" srcOrd="8" destOrd="0" presId="urn:microsoft.com/office/officeart/2005/8/layout/targe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8B6E2E-2BFF-FC47-821B-428BD77D6416}">
      <dsp:nvSpPr>
        <dsp:cNvPr id="0" name=""/>
        <dsp:cNvSpPr/>
      </dsp:nvSpPr>
      <dsp:spPr>
        <a:xfrm>
          <a:off x="868371" y="0"/>
          <a:ext cx="9841538"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880CB3-21A9-8A4F-BE9A-D94E1C3C400F}">
      <dsp:nvSpPr>
        <dsp:cNvPr id="0" name=""/>
        <dsp:cNvSpPr/>
      </dsp:nvSpPr>
      <dsp:spPr>
        <a:xfrm>
          <a:off x="1996" y="1305401"/>
          <a:ext cx="2221914"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IT" sz="2700" b="1" kern="1200"/>
            <a:t>What is a quantum computer?</a:t>
          </a:r>
          <a:endParaRPr lang="en-IT" sz="2700" kern="1200"/>
        </a:p>
      </dsp:txBody>
      <dsp:txXfrm>
        <a:off x="86962" y="1390367"/>
        <a:ext cx="2051982" cy="1570603"/>
      </dsp:txXfrm>
    </dsp:sp>
    <dsp:sp modelId="{215FB249-8A65-E54C-8104-ACD97A0878AC}">
      <dsp:nvSpPr>
        <dsp:cNvPr id="0" name=""/>
        <dsp:cNvSpPr/>
      </dsp:nvSpPr>
      <dsp:spPr>
        <a:xfrm>
          <a:off x="2340089" y="1305401"/>
          <a:ext cx="2221914"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b="1" kern="1200"/>
            <a:t>Quantum Algorithms</a:t>
          </a:r>
        </a:p>
      </dsp:txBody>
      <dsp:txXfrm>
        <a:off x="2425055" y="1390367"/>
        <a:ext cx="2051982" cy="1570603"/>
      </dsp:txXfrm>
    </dsp:sp>
    <dsp:sp modelId="{C1DF1096-90B8-D940-B494-8A3431494DB4}">
      <dsp:nvSpPr>
        <dsp:cNvPr id="0" name=""/>
        <dsp:cNvSpPr/>
      </dsp:nvSpPr>
      <dsp:spPr>
        <a:xfrm>
          <a:off x="4678183" y="1305401"/>
          <a:ext cx="2221914"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a:t>How to run quantum circuits</a:t>
          </a:r>
          <a:endParaRPr lang="en-IT" sz="2700" kern="1200"/>
        </a:p>
      </dsp:txBody>
      <dsp:txXfrm>
        <a:off x="4763149" y="1390367"/>
        <a:ext cx="2051982" cy="1570603"/>
      </dsp:txXfrm>
    </dsp:sp>
    <dsp:sp modelId="{21E61842-9FF1-A747-879E-C9052620036F}">
      <dsp:nvSpPr>
        <dsp:cNvPr id="0" name=""/>
        <dsp:cNvSpPr/>
      </dsp:nvSpPr>
      <dsp:spPr>
        <a:xfrm>
          <a:off x="7016276" y="1305401"/>
          <a:ext cx="2221914"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a:t>Introduction to Qiskit</a:t>
          </a:r>
          <a:endParaRPr lang="en-IT" sz="2700" kern="1200"/>
        </a:p>
      </dsp:txBody>
      <dsp:txXfrm>
        <a:off x="7101242" y="1390367"/>
        <a:ext cx="2051982" cy="1570603"/>
      </dsp:txXfrm>
    </dsp:sp>
    <dsp:sp modelId="{D5249A77-B43B-FE46-9705-E8BC7FE53B93}">
      <dsp:nvSpPr>
        <dsp:cNvPr id="0" name=""/>
        <dsp:cNvSpPr/>
      </dsp:nvSpPr>
      <dsp:spPr>
        <a:xfrm>
          <a:off x="9354369" y="1305401"/>
          <a:ext cx="2221914"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a:t>Qiskit Exercises</a:t>
          </a:r>
          <a:endParaRPr lang="en-IT" sz="2700" kern="1200"/>
        </a:p>
      </dsp:txBody>
      <dsp:txXfrm>
        <a:off x="9439335" y="1390367"/>
        <a:ext cx="2051982" cy="15706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E13CCA-CC0E-8748-BD53-2F7DF0F50707}">
      <dsp:nvSpPr>
        <dsp:cNvPr id="0" name=""/>
        <dsp:cNvSpPr/>
      </dsp:nvSpPr>
      <dsp:spPr>
        <a:xfrm rot="5400000">
          <a:off x="6132695" y="-1529380"/>
          <a:ext cx="3481070" cy="741009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a:lnSpc>
              <a:spcPct val="90000"/>
            </a:lnSpc>
            <a:spcBef>
              <a:spcPct val="0"/>
            </a:spcBef>
            <a:spcAft>
              <a:spcPct val="15000"/>
            </a:spcAft>
            <a:buChar char="•"/>
          </a:pPr>
          <a:r>
            <a:rPr lang="en-IT" sz="2800" b="1" kern="1200"/>
            <a:t>Quantum Decoherence</a:t>
          </a:r>
          <a:r>
            <a:rPr lang="en-IT" sz="2800" kern="1200"/>
            <a:t>:</a:t>
          </a:r>
          <a:r>
            <a:rPr lang="en-IT" sz="2800" b="1" kern="1200"/>
            <a:t> </a:t>
          </a:r>
          <a:r>
            <a:rPr lang="en-IT" sz="2800" kern="1200"/>
            <a:t>the state of a qubit progressively collapses due to the unavoidable interaction with external environment.</a:t>
          </a:r>
        </a:p>
        <a:p>
          <a:pPr marL="285750" lvl="1" indent="-285750" algn="l" defTabSz="1244600">
            <a:lnSpc>
              <a:spcPct val="90000"/>
            </a:lnSpc>
            <a:spcBef>
              <a:spcPct val="0"/>
            </a:spcBef>
            <a:spcAft>
              <a:spcPct val="15000"/>
            </a:spcAft>
            <a:buChar char="•"/>
          </a:pPr>
          <a:r>
            <a:rPr lang="en-IT" sz="2800" b="1" kern="1200"/>
            <a:t>Physical Gates</a:t>
          </a:r>
          <a:r>
            <a:rPr lang="en-IT" sz="2800" kern="1200"/>
            <a:t>: Quantum gates are not ideal. This leads to an error component that is proportional to the number of gates applied to the qubit.</a:t>
          </a:r>
        </a:p>
      </dsp:txBody>
      <dsp:txXfrm rot="-5400000">
        <a:off x="4168181" y="605066"/>
        <a:ext cx="7240167" cy="3141206"/>
      </dsp:txXfrm>
    </dsp:sp>
    <dsp:sp modelId="{E870715E-F6C8-984A-82AF-0D4AD1D87BA7}">
      <dsp:nvSpPr>
        <dsp:cNvPr id="0" name=""/>
        <dsp:cNvSpPr/>
      </dsp:nvSpPr>
      <dsp:spPr>
        <a:xfrm>
          <a:off x="0" y="0"/>
          <a:ext cx="4168181" cy="435133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IT" sz="3400" b="1" kern="1200"/>
            <a:t>Quantum Noise </a:t>
          </a:r>
          <a:r>
            <a:rPr lang="en-IT" sz="3400" kern="1200"/>
            <a:t>is a destructive, unpredictable effect acting on qubits stored in a quantum computer. It has two main components:</a:t>
          </a:r>
        </a:p>
      </dsp:txBody>
      <dsp:txXfrm>
        <a:off x="203474" y="203474"/>
        <a:ext cx="3761233" cy="39443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AD97DA-761C-904E-9C92-D0C72B847A0C}">
      <dsp:nvSpPr>
        <dsp:cNvPr id="0" name=""/>
        <dsp:cNvSpPr/>
      </dsp:nvSpPr>
      <dsp:spPr>
        <a:xfrm>
          <a:off x="0" y="31329"/>
          <a:ext cx="11578281" cy="208961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IT" sz="3800" b="1" kern="1200"/>
            <a:t>Classical simulators</a:t>
          </a:r>
          <a:r>
            <a:rPr lang="en-IT" sz="3800" kern="1200"/>
            <a:t>:  any classical computer can simulate the behavior of a quantum computer (with a limited number of qubits).</a:t>
          </a:r>
        </a:p>
      </dsp:txBody>
      <dsp:txXfrm>
        <a:off x="102007" y="133336"/>
        <a:ext cx="11374267" cy="1885605"/>
      </dsp:txXfrm>
    </dsp:sp>
    <dsp:sp modelId="{A79BFC0D-7C4F-7149-BDAB-72BE38A9BBEE}">
      <dsp:nvSpPr>
        <dsp:cNvPr id="0" name=""/>
        <dsp:cNvSpPr/>
      </dsp:nvSpPr>
      <dsp:spPr>
        <a:xfrm>
          <a:off x="0" y="2230389"/>
          <a:ext cx="11578281" cy="208961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IT" sz="3800" b="1" kern="1200"/>
            <a:t>Real quantum devices</a:t>
          </a:r>
          <a:r>
            <a:rPr lang="en-IT" sz="3800" kern="1200"/>
            <a:t>: We can (and we will) exploit IBM-Q network to test our circuits on real quantum computers.</a:t>
          </a:r>
        </a:p>
      </dsp:txBody>
      <dsp:txXfrm>
        <a:off x="102007" y="2332396"/>
        <a:ext cx="11374267" cy="18856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3C2F9B-8F74-ED4D-9CCE-52292D38387E}">
      <dsp:nvSpPr>
        <dsp:cNvPr id="0" name=""/>
        <dsp:cNvSpPr/>
      </dsp:nvSpPr>
      <dsp:spPr>
        <a:xfrm>
          <a:off x="0" y="0"/>
          <a:ext cx="11578281" cy="4351338"/>
        </a:xfrm>
        <a:prstGeom prst="roundRect">
          <a:avLst>
            <a:gd name="adj" fmla="val 8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2686347" numCol="1" spcCol="1270" anchor="t" anchorCtr="0">
          <a:noAutofit/>
        </a:bodyPr>
        <a:lstStyle/>
        <a:p>
          <a:pPr marL="0" lvl="0" indent="0" algn="l" defTabSz="2222500">
            <a:lnSpc>
              <a:spcPct val="90000"/>
            </a:lnSpc>
            <a:spcBef>
              <a:spcPct val="0"/>
            </a:spcBef>
            <a:spcAft>
              <a:spcPct val="35000"/>
            </a:spcAft>
            <a:buNone/>
          </a:pPr>
          <a:r>
            <a:rPr lang="en-IT" sz="5000" kern="1200"/>
            <a:t>In this introduction to Qiskit we will cover:</a:t>
          </a:r>
        </a:p>
      </dsp:txBody>
      <dsp:txXfrm>
        <a:off x="108329" y="108329"/>
        <a:ext cx="11361623" cy="4134680"/>
      </dsp:txXfrm>
    </dsp:sp>
    <dsp:sp modelId="{1AE157E9-A665-0B4B-8344-7A052D0558D7}">
      <dsp:nvSpPr>
        <dsp:cNvPr id="0" name=""/>
        <dsp:cNvSpPr/>
      </dsp:nvSpPr>
      <dsp:spPr>
        <a:xfrm>
          <a:off x="289457" y="1958102"/>
          <a:ext cx="2169796" cy="1958102"/>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kern="1200" err="1"/>
            <a:t>Qiskit</a:t>
          </a:r>
          <a:r>
            <a:rPr lang="en-GB" sz="2700" kern="1200"/>
            <a:t> software structure</a:t>
          </a:r>
          <a:endParaRPr lang="en-IT" sz="2700" kern="1200"/>
        </a:p>
      </dsp:txBody>
      <dsp:txXfrm>
        <a:off x="349675" y="2018320"/>
        <a:ext cx="2049360" cy="1837666"/>
      </dsp:txXfrm>
    </dsp:sp>
    <dsp:sp modelId="{971CF754-EC11-9945-BA2A-E039CA814E95}">
      <dsp:nvSpPr>
        <dsp:cNvPr id="0" name=""/>
        <dsp:cNvSpPr/>
      </dsp:nvSpPr>
      <dsp:spPr>
        <a:xfrm>
          <a:off x="2493513" y="1958102"/>
          <a:ext cx="2169796" cy="1958102"/>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kern="1200"/>
            <a:t>A Tutorial for Qiskit installation</a:t>
          </a:r>
          <a:endParaRPr lang="en-IT" sz="2700" kern="1200"/>
        </a:p>
      </dsp:txBody>
      <dsp:txXfrm>
        <a:off x="2553731" y="2018320"/>
        <a:ext cx="2049360" cy="1837666"/>
      </dsp:txXfrm>
    </dsp:sp>
    <dsp:sp modelId="{2ECA6D2D-91E4-2645-935B-AA998BC570C6}">
      <dsp:nvSpPr>
        <dsp:cNvPr id="0" name=""/>
        <dsp:cNvSpPr/>
      </dsp:nvSpPr>
      <dsp:spPr>
        <a:xfrm>
          <a:off x="4697570" y="1958102"/>
          <a:ext cx="2169796" cy="1958102"/>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kern="1200"/>
            <a:t>How to build quantum circuits with Qiskit</a:t>
          </a:r>
          <a:endParaRPr lang="en-IT" sz="2700" kern="1200"/>
        </a:p>
      </dsp:txBody>
      <dsp:txXfrm>
        <a:off x="4757788" y="2018320"/>
        <a:ext cx="2049360" cy="1837666"/>
      </dsp:txXfrm>
    </dsp:sp>
    <dsp:sp modelId="{E73AC419-954D-484B-AC09-FAEBA78D5185}">
      <dsp:nvSpPr>
        <dsp:cNvPr id="0" name=""/>
        <dsp:cNvSpPr/>
      </dsp:nvSpPr>
      <dsp:spPr>
        <a:xfrm>
          <a:off x="6901627" y="1958102"/>
          <a:ext cx="2169796" cy="1958102"/>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IT" sz="2700" kern="1200"/>
            <a:t>How to run circuits on simulators</a:t>
          </a:r>
        </a:p>
      </dsp:txBody>
      <dsp:txXfrm>
        <a:off x="6961845" y="2018320"/>
        <a:ext cx="2049360" cy="1837666"/>
      </dsp:txXfrm>
    </dsp:sp>
    <dsp:sp modelId="{A2F72E47-8DFB-FD47-BA79-5992EC043F03}">
      <dsp:nvSpPr>
        <dsp:cNvPr id="0" name=""/>
        <dsp:cNvSpPr/>
      </dsp:nvSpPr>
      <dsp:spPr>
        <a:xfrm>
          <a:off x="9105684" y="1958102"/>
          <a:ext cx="2169796" cy="1958102"/>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IT" sz="2700" kern="1200"/>
            <a:t>How to run circuits on an IBM-Q device</a:t>
          </a:r>
        </a:p>
      </dsp:txBody>
      <dsp:txXfrm>
        <a:off x="9165902" y="2018320"/>
        <a:ext cx="2049360" cy="183766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23T11:11:22.217"/>
    </inkml:context>
    <inkml:brush xml:id="br0">
      <inkml:brushProperty name="width" value="0.05" units="cm"/>
      <inkml:brushProperty name="height" value="0.05" units="cm"/>
      <inkml:brushProperty name="color" value="#E71224"/>
    </inkml:brush>
  </inkml:definitions>
  <inkml:trace contextRef="#ctx0" brushRef="#br0">2488 2449 24575,'-9'0'0,"-8"0"0,-12 0 0,-13 0 0,-15 0 0,-11 0 0,4 0 0,-10 0 0,-9 0-544,-10 0 544,43 0 0,0 0 0,-37 0 0,18 0 0,17 0 0,13 0 0,11 0 0,10 0 0,7 0 544,4 0-544,2 0 0,1 0 0,1 0 0,-1 0 0,-3 0 0,-5 0 0,-6 0 0,-5 0 0,-7 0 0,-2 0 0,-7 0 0,-3 0 0,-3 0 0,-2-3 0,1 0 0,0-3 0,-13 0 0,23 0 0,-16-2 0,20 1 0,-9-1 0,1-1 0,0 0 0,5 0 0,-5 0 0,-1 0 0,4 0 0,-1-4 0,5 1 0,3 0 0,2 1 0,6 1 0,2 0 0,2 1 0,1 2 0,2 0 0,3 1 0,1 0 0,1 0 0,-1 1 0,0-1 0,0 0 0,3 0 0,-2-1 0,-1-1 0,-2-1 0,-2-2 0,-2-1 0,-2-2 0,0-2 0,1-2 0,3-1 0,-4-5 0,10 8 0,-8-11 0,9 7 0,-4-3 0,-1-3 0,-3-2 0,0 0 0,1-7 0,-2-1 0,1-6 0,-1-6 0,1 4 0,4 1 0,2 7 0,3 5 0,3 3 0,0 2 0,0 2 0,1-2 0,1-1 0,1-3 0,-1-8 0,-2-3 0,0-4 0,1-1 0,2-1 0,1 1 0,0 5 0,0 5 0,0 2 0,0 2 0,0 0 0,0 0 0,2 4 0,3 1 0,2-1 0,4 0 0,6-4 0,-6 7 0,7-5 0,-5 10 0,4-3 0,2 4 0,1-3 0,4-3 0,6-5 0,4-1 0,4-1 0,8-5 0,2 1 0,-1 0 0,-2 4 0,-8 7 0,-1 3 0,0 3 0,0 2 0,3 1 0,2 2 0,0 2 0,1-2 0,-1-2 0,0 0 0,1 1 0,-1 1 0,-1 1 0,2 1 0,3-4 0,5-1 0,2-1 0,4 1 0,0 2 0,0 4 0,3 1 0,18-5 0,-18 9 0,22-7 0,-26 6 0,13-2 0,0-2 0,-1 3 0,1 0 0,0 0 0,0 4 0,5 0 0,1 4 0,7 0 0,-2 0 0,-4 0 0,1 0 0,-2 0 0,-1 0 0,2 0 0,1 0 0,4 0 0,2 0 0,1 0 0,-1 0 0,0 0 0,1 0 0,-5 2 0,-2 4 0,-1 5 0,13 5-653,1-2 653,-40-7 0,1 0 0,46 7 0,-5 0 0,4 3 0,-2 0 0,-29-6 0,0 0 0,15 3 0,-10-1 0,-4-1 0,-16-3 0,39 9 0,-38-6 0,11 2 0,-10-1 0,-6 0 0,-6-1 653,-4 0-653,3-3 0,0 1 0,0-1 0,0 1 0,-2 2 0,0 0 0,2 0 0,3 1 0,1 1 0,-1 3 0,0 3 0,1 6 0,5 7 0,8 7 0,5 6 0,-1-1 0,-4-3 0,-7-2 0,-6-1 0,-1-1 0,-3-1 0,-6-6 0,-6-2 0,-3 2 0,-2 1 0,-2-1 0,-2 1 0,0 7 0,-6-12 0,4 14 0,-6-14 0,0 5 0,-1-2 0,-2-2 0,-3-5 0,-1 0 0,-2-4 0,3 1 0,-1 1 0,1 0 0,-1 0 0,-2 0 0,0 4 0,0 7 0,0 7 0,0 5 0,-3 2 0,-6-2 0,-5-3 0,-3-6 0,3-9 0,3-6 0,4-7 0,2-3 0,1-1 0,0-2 0,-4 1 0,-4 3 0,-6 5 0,-5 6 0,-7 8 0,-2 4 0,-2-2 0,3-1 0,6-3 0,6-13 0,4 2 0,6-10 0,0 1 0,4-3 0,1 1 0,1-3 0,0-1 0,-1 1 0,-5 0 0,-7 4 0,-9 6 0,-8 4 0,-6 4 0,-2 1 0,-4 1 0,1 1 0,7-2 0,7-4 0,10-5 0,5-3 0,4-3 0,4-2 0,3-1 0,1-1 0,1-2 0,-4 1 0,-5 2 0,-8 3 0,-13 6 0,-9 3 0,-10 5 0,-5-1 0,6 0 0,5-1 0,7-4 0,10-1 0,8-6 0,6-3 0,5-2 0,3-1 0,-1 0 0,-5 0 0,-11 1 0,-11 2 0,-10 1 0,-10 1 0,-10 0 0,-5 1 0,-1-1 0,2-2 0,-1-2 0,-2-2 0,-3-1 0,-2 0 0,-1 0 0,-2 0 0,27 0 0,2 0 0,-10 0 0,-24 0 0,46 0 0,-8 0 0,10 0 0,12 0 0,7 0 0,7 0 0,3 0 0,2 0 0,0 0 0,2 0 0,-1 0 0,-3 0 0,-6 0 0,-8 0 0,-4 0 0,-8 0 0,-5 0 0,0 0 0,1 0 0,4 0 0,4 0 0,3-2 0,7 0 0,7 0 0,4 0 0,2 2 0,0 0 0,1 0 0,-3 0 0,-5 0 0,-14 0 0,-43 0 0,26 0 0,-33 0 0,47-1 0,-3-1 0,8-1 0,7 1 0,7 0 0,3 2 0,4 0 0,1-1 0,0-1 0,1 1 0,-1-1 0,-2 2 0,-1 0 0,-15 0 0,9 0 0,-42 0 0,33-2 0,-28-2 0,26-2 0,-4-2 0,3 0 0,1 0 0,4 1 0,4 1 0,3 1 0,4-1 0,3 2 0,0 2 0,1 1 0,0 1 0,-2 0 0,-2 0 0,-2 2 0,2 0 0,1 0 0,3-1 0,1-1 0,1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B32AE9-16EE-5B46-B016-D5E0A119C6F1}" type="datetimeFigureOut">
              <a:rPr lang="en-IT" smtClean="0"/>
              <a:t>05/07/2023</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98532C-A34B-BF4F-8B7E-AB57144BF325}" type="slidenum">
              <a:rPr lang="en-IT" smtClean="0"/>
              <a:t>‹#›</a:t>
            </a:fld>
            <a:endParaRPr lang="en-IT"/>
          </a:p>
        </p:txBody>
      </p:sp>
    </p:spTree>
    <p:extLst>
      <p:ext uri="{BB962C8B-B14F-4D97-AF65-F5344CB8AC3E}">
        <p14:creationId xmlns:p14="http://schemas.microsoft.com/office/powerpoint/2010/main" val="3243027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1C7019-D9D7-4241-BB38-6B6A13B20A16}"/>
              </a:ext>
            </a:extLst>
          </p:cNvPr>
          <p:cNvSpPr/>
          <p:nvPr userDrawn="1"/>
        </p:nvSpPr>
        <p:spPr>
          <a:xfrm>
            <a:off x="0" y="0"/>
            <a:ext cx="12192000" cy="3509963"/>
          </a:xfrm>
          <a:prstGeom prst="rect">
            <a:avLst/>
          </a:prstGeom>
          <a:gradFill>
            <a:gsLst>
              <a:gs pos="9000">
                <a:schemeClr val="accent1">
                  <a:lumMod val="89000"/>
                </a:schemeClr>
              </a:gs>
              <a:gs pos="23000">
                <a:schemeClr val="accent1">
                  <a:lumMod val="89000"/>
                </a:schemeClr>
              </a:gs>
              <a:gs pos="69000">
                <a:schemeClr val="accent1">
                  <a:lumMod val="75000"/>
                </a:schemeClr>
              </a:gs>
              <a:gs pos="97000">
                <a:schemeClr val="accent1">
                  <a:lumMod val="70000"/>
                </a:schemeClr>
              </a:gs>
            </a:gsLst>
            <a:lin ang="27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2" name="Title 1">
            <a:extLst>
              <a:ext uri="{FF2B5EF4-FFF2-40B4-BE49-F238E27FC236}">
                <a16:creationId xmlns:a16="http://schemas.microsoft.com/office/drawing/2014/main" id="{8B16BCD7-688A-0B45-AB16-E82107E728E7}"/>
              </a:ext>
            </a:extLst>
          </p:cNvPr>
          <p:cNvSpPr>
            <a:spLocks noGrp="1"/>
          </p:cNvSpPr>
          <p:nvPr>
            <p:ph type="ctrTitle"/>
          </p:nvPr>
        </p:nvSpPr>
        <p:spPr>
          <a:xfrm>
            <a:off x="457200" y="1122363"/>
            <a:ext cx="11312769" cy="2387600"/>
          </a:xfrm>
          <a:prstGeom prst="rect">
            <a:avLst/>
          </a:prstGeo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1F981EE9-F61A-D94B-8DBA-078841A6CCA3}"/>
              </a:ext>
            </a:extLst>
          </p:cNvPr>
          <p:cNvSpPr>
            <a:spLocks noGrp="1"/>
          </p:cNvSpPr>
          <p:nvPr>
            <p:ph type="subTitle" idx="1"/>
          </p:nvPr>
        </p:nvSpPr>
        <p:spPr>
          <a:xfrm>
            <a:off x="457199" y="3602038"/>
            <a:ext cx="11312769" cy="2387600"/>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EE645376-96B5-144C-BC37-A16373608572}"/>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5" name="Footer Placeholder 4">
            <a:extLst>
              <a:ext uri="{FF2B5EF4-FFF2-40B4-BE49-F238E27FC236}">
                <a16:creationId xmlns:a16="http://schemas.microsoft.com/office/drawing/2014/main" id="{EF5D54DD-0EC0-E747-AC09-E0CF8E638AAB}"/>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EC2E9C9A-BF2C-E74F-8BFD-7B43F0853221}"/>
              </a:ext>
            </a:extLst>
          </p:cNvPr>
          <p:cNvSpPr>
            <a:spLocks noGrp="1"/>
          </p:cNvSpPr>
          <p:nvPr>
            <p:ph type="sldNum" sz="quarter" idx="12"/>
          </p:nvPr>
        </p:nvSpPr>
        <p:spPr/>
        <p:txBody>
          <a:bodyPr/>
          <a:lstStyle/>
          <a:p>
            <a:fld id="{3EBE722A-0E85-F64D-AD0B-E35C2DFE861C}" type="slidenum">
              <a:rPr lang="en-IT" smtClean="0"/>
              <a:t>‹#›</a:t>
            </a:fld>
            <a:endParaRPr lang="en-IT"/>
          </a:p>
        </p:txBody>
      </p:sp>
      <p:sp>
        <p:nvSpPr>
          <p:cNvPr id="9" name="Oval 8">
            <a:extLst>
              <a:ext uri="{FF2B5EF4-FFF2-40B4-BE49-F238E27FC236}">
                <a16:creationId xmlns:a16="http://schemas.microsoft.com/office/drawing/2014/main" id="{4A3BE731-B568-3A47-A135-447E9CDE7E8E}"/>
              </a:ext>
            </a:extLst>
          </p:cNvPr>
          <p:cNvSpPr/>
          <p:nvPr userDrawn="1"/>
        </p:nvSpPr>
        <p:spPr>
          <a:xfrm>
            <a:off x="9988062" y="136523"/>
            <a:ext cx="1899140" cy="189914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3652559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5F566-EE4B-D34E-8BFD-8D745F77CFEB}"/>
              </a:ext>
            </a:extLst>
          </p:cNvPr>
          <p:cNvSpPr>
            <a:spLocks noGrp="1"/>
          </p:cNvSpPr>
          <p:nvPr>
            <p:ph type="title"/>
          </p:nvPr>
        </p:nvSpPr>
        <p:spPr>
          <a:xfrm>
            <a:off x="0" y="3"/>
            <a:ext cx="12192000" cy="1646237"/>
          </a:xfrm>
          <a:prstGeom prst="rect">
            <a:avLst/>
          </a:prstGeom>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B60243A0-9EE6-EB46-B981-B357C201811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511B108D-B9F3-5641-932B-5D45B8C7E74D}"/>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5" name="Footer Placeholder 4">
            <a:extLst>
              <a:ext uri="{FF2B5EF4-FFF2-40B4-BE49-F238E27FC236}">
                <a16:creationId xmlns:a16="http://schemas.microsoft.com/office/drawing/2014/main" id="{EEDF0CFA-C3BC-3248-8849-0E52C09EFA05}"/>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0EA41FBB-BFFB-FA44-AA5C-EDF2BCA1BE02}"/>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3380808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6D206-1772-3C48-86FB-1E262456A921}"/>
              </a:ext>
            </a:extLst>
          </p:cNvPr>
          <p:cNvSpPr>
            <a:spLocks noGrp="1"/>
          </p:cNvSpPr>
          <p:nvPr>
            <p:ph type="title"/>
          </p:nvPr>
        </p:nvSpPr>
        <p:spPr>
          <a:xfrm>
            <a:off x="831851" y="1709740"/>
            <a:ext cx="10515600" cy="2852737"/>
          </a:xfrm>
          <a:prstGeom prst="rect">
            <a:avLst/>
          </a:prstGeom>
        </p:spPr>
        <p:txBody>
          <a:bodyPr anchor="b"/>
          <a:lstStyle>
            <a:lvl1pPr>
              <a:defRPr sz="6000">
                <a:solidFill>
                  <a:srgbClr val="0F406B"/>
                </a:solidFill>
              </a:defRPr>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E0BA2ACD-3134-394B-900F-C2AE48899EE9}"/>
              </a:ext>
            </a:extLst>
          </p:cNvPr>
          <p:cNvSpPr>
            <a:spLocks noGrp="1"/>
          </p:cNvSpPr>
          <p:nvPr>
            <p:ph type="body" idx="1"/>
          </p:nvPr>
        </p:nvSpPr>
        <p:spPr>
          <a:xfrm>
            <a:off x="1292087" y="4589465"/>
            <a:ext cx="10055364" cy="1500187"/>
          </a:xfrm>
        </p:spPr>
        <p:txBody>
          <a:bodyPr>
            <a:normAutofit/>
          </a:bodyPr>
          <a:lstStyle>
            <a:lvl1pPr marL="0" indent="0">
              <a:buNone/>
              <a:defRPr sz="20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9D468AB-0551-DB41-B2E8-9980BC42D6B2}"/>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5" name="Footer Placeholder 4">
            <a:extLst>
              <a:ext uri="{FF2B5EF4-FFF2-40B4-BE49-F238E27FC236}">
                <a16:creationId xmlns:a16="http://schemas.microsoft.com/office/drawing/2014/main" id="{FFE1D6A3-2303-0849-AB94-FD742208DA97}"/>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D9D28D36-86BD-6A4E-8920-C7C4AC1BDD19}"/>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2835807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48033-EDC7-9443-B31F-14F491572254}"/>
              </a:ext>
            </a:extLst>
          </p:cNvPr>
          <p:cNvSpPr>
            <a:spLocks noGrp="1"/>
          </p:cNvSpPr>
          <p:nvPr>
            <p:ph type="title"/>
          </p:nvPr>
        </p:nvSpPr>
        <p:spPr>
          <a:xfrm>
            <a:off x="0" y="3"/>
            <a:ext cx="12192000" cy="1646237"/>
          </a:xfrm>
          <a:prstGeom prst="rect">
            <a:avLst/>
          </a:prstGeom>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48A83A8D-FBDA-6B4E-B218-5AAAB646F2B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666EB7C2-7E94-6D4F-806E-0ACEC1EF156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4BF29328-DCD8-8147-8360-4228056F9223}"/>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6" name="Footer Placeholder 5">
            <a:extLst>
              <a:ext uri="{FF2B5EF4-FFF2-40B4-BE49-F238E27FC236}">
                <a16:creationId xmlns:a16="http://schemas.microsoft.com/office/drawing/2014/main" id="{BAF85AFC-FE94-914A-AC95-ED69518A73EC}"/>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F70132DE-1D75-3C4D-AEB5-78C29E68038F}"/>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2769041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40B96-49D4-5440-9D22-4D5B4E1AE123}"/>
              </a:ext>
            </a:extLst>
          </p:cNvPr>
          <p:cNvSpPr>
            <a:spLocks noGrp="1"/>
          </p:cNvSpPr>
          <p:nvPr>
            <p:ph type="title"/>
          </p:nvPr>
        </p:nvSpPr>
        <p:spPr>
          <a:xfrm>
            <a:off x="839788" y="365127"/>
            <a:ext cx="10515600" cy="1325563"/>
          </a:xfrm>
          <a:prstGeom prst="rect">
            <a:avLst/>
          </a:prstGeo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7CDAA009-FB2A-454B-A196-BC6C52C3A4E9}"/>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128853F-D374-4C4D-B60A-F247D02EF616}"/>
              </a:ext>
            </a:extLst>
          </p:cNvPr>
          <p:cNvSpPr>
            <a:spLocks noGrp="1"/>
          </p:cNvSpPr>
          <p:nvPr>
            <p:ph sz="half" idx="2"/>
          </p:nvPr>
        </p:nvSpPr>
        <p:spPr>
          <a:xfrm>
            <a:off x="839789"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C7CB03AB-6140-5E4F-927F-541916ACEC18}"/>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BF1C7F1-E5F7-E44B-98A0-F1197303B06E}"/>
              </a:ext>
            </a:extLst>
          </p:cNvPr>
          <p:cNvSpPr>
            <a:spLocks noGrp="1"/>
          </p:cNvSpPr>
          <p:nvPr>
            <p:ph sz="quarter" idx="4"/>
          </p:nvPr>
        </p:nvSpPr>
        <p:spPr>
          <a:xfrm>
            <a:off x="6172201"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5216707A-3A70-1A44-81A5-A1B9112EE6F4}"/>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8" name="Footer Placeholder 7">
            <a:extLst>
              <a:ext uri="{FF2B5EF4-FFF2-40B4-BE49-F238E27FC236}">
                <a16:creationId xmlns:a16="http://schemas.microsoft.com/office/drawing/2014/main" id="{392F7FAD-4C51-5248-803E-E41E2C04AA85}"/>
              </a:ext>
            </a:extLst>
          </p:cNvPr>
          <p:cNvSpPr>
            <a:spLocks noGrp="1"/>
          </p:cNvSpPr>
          <p:nvPr>
            <p:ph type="ftr" sz="quarter" idx="11"/>
          </p:nvPr>
        </p:nvSpPr>
        <p:spPr/>
        <p:txBody>
          <a:bodyPr/>
          <a:lstStyle/>
          <a:p>
            <a:endParaRPr lang="en-IT"/>
          </a:p>
        </p:txBody>
      </p:sp>
      <p:sp>
        <p:nvSpPr>
          <p:cNvPr id="9" name="Slide Number Placeholder 8">
            <a:extLst>
              <a:ext uri="{FF2B5EF4-FFF2-40B4-BE49-F238E27FC236}">
                <a16:creationId xmlns:a16="http://schemas.microsoft.com/office/drawing/2014/main" id="{16478451-6A37-D543-837D-FB64017627FA}"/>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413822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D650-E509-3C45-92E9-796C27555438}"/>
              </a:ext>
            </a:extLst>
          </p:cNvPr>
          <p:cNvSpPr>
            <a:spLocks noGrp="1"/>
          </p:cNvSpPr>
          <p:nvPr>
            <p:ph type="title"/>
          </p:nvPr>
        </p:nvSpPr>
        <p:spPr>
          <a:xfrm>
            <a:off x="0" y="3"/>
            <a:ext cx="12192000" cy="1646237"/>
          </a:xfrm>
          <a:prstGeom prst="rect">
            <a:avLst/>
          </a:prstGeom>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F705D241-63EE-044E-A463-9E9DA5EC04AE}"/>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4" name="Footer Placeholder 3">
            <a:extLst>
              <a:ext uri="{FF2B5EF4-FFF2-40B4-BE49-F238E27FC236}">
                <a16:creationId xmlns:a16="http://schemas.microsoft.com/office/drawing/2014/main" id="{822FB690-BC5B-744E-95A1-D14354740668}"/>
              </a:ext>
            </a:extLst>
          </p:cNvPr>
          <p:cNvSpPr>
            <a:spLocks noGrp="1"/>
          </p:cNvSpPr>
          <p:nvPr>
            <p:ph type="ftr" sz="quarter" idx="11"/>
          </p:nvPr>
        </p:nvSpPr>
        <p:spPr/>
        <p:txBody>
          <a:bodyPr/>
          <a:lstStyle/>
          <a:p>
            <a:endParaRPr lang="en-IT"/>
          </a:p>
        </p:txBody>
      </p:sp>
      <p:sp>
        <p:nvSpPr>
          <p:cNvPr id="5" name="Slide Number Placeholder 4">
            <a:extLst>
              <a:ext uri="{FF2B5EF4-FFF2-40B4-BE49-F238E27FC236}">
                <a16:creationId xmlns:a16="http://schemas.microsoft.com/office/drawing/2014/main" id="{A1553C0E-D803-DB47-B038-F0298CD90460}"/>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825526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A0E0B8-15DE-6644-B834-BA5ADF589EE0}"/>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3" name="Footer Placeholder 2">
            <a:extLst>
              <a:ext uri="{FF2B5EF4-FFF2-40B4-BE49-F238E27FC236}">
                <a16:creationId xmlns:a16="http://schemas.microsoft.com/office/drawing/2014/main" id="{0CF6A455-731C-DC49-A90A-FD1F277DA642}"/>
              </a:ext>
            </a:extLst>
          </p:cNvPr>
          <p:cNvSpPr>
            <a:spLocks noGrp="1"/>
          </p:cNvSpPr>
          <p:nvPr>
            <p:ph type="ftr" sz="quarter" idx="11"/>
          </p:nvPr>
        </p:nvSpPr>
        <p:spPr/>
        <p:txBody>
          <a:bodyPr/>
          <a:lstStyle/>
          <a:p>
            <a:endParaRPr lang="en-IT"/>
          </a:p>
        </p:txBody>
      </p:sp>
      <p:sp>
        <p:nvSpPr>
          <p:cNvPr id="4" name="Slide Number Placeholder 3">
            <a:extLst>
              <a:ext uri="{FF2B5EF4-FFF2-40B4-BE49-F238E27FC236}">
                <a16:creationId xmlns:a16="http://schemas.microsoft.com/office/drawing/2014/main" id="{335BB3E0-D5E2-734B-820D-75E85D5FD2C0}"/>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22594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BBECE-2C47-3346-A0CB-07C2E4A0969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58805334-981B-4442-88CF-322829F4AFF1}"/>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8FB75574-2456-074E-A2FB-9DC431E09140}"/>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C5A735-F4CC-EE49-9DAF-4009AC5D0CDE}"/>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6" name="Footer Placeholder 5">
            <a:extLst>
              <a:ext uri="{FF2B5EF4-FFF2-40B4-BE49-F238E27FC236}">
                <a16:creationId xmlns:a16="http://schemas.microsoft.com/office/drawing/2014/main" id="{7A25232A-E62F-DC4A-B596-F5345A44D295}"/>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9AA99315-C246-7740-9C8B-20E56DD914F8}"/>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1051870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ECE2-8F4E-4C41-967F-C7C23771EA6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324C6492-B573-0146-AD5C-D63EB4712772}"/>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Click icon to add picture</a:t>
            </a:r>
            <a:endParaRPr lang="en-IT"/>
          </a:p>
        </p:txBody>
      </p:sp>
      <p:sp>
        <p:nvSpPr>
          <p:cNvPr id="4" name="Text Placeholder 3">
            <a:extLst>
              <a:ext uri="{FF2B5EF4-FFF2-40B4-BE49-F238E27FC236}">
                <a16:creationId xmlns:a16="http://schemas.microsoft.com/office/drawing/2014/main" id="{766B626B-72BA-DA4A-90A2-F151D74EE8D5}"/>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A1C0923-0A27-3E40-92A5-5DA1E054487F}"/>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6" name="Footer Placeholder 5">
            <a:extLst>
              <a:ext uri="{FF2B5EF4-FFF2-40B4-BE49-F238E27FC236}">
                <a16:creationId xmlns:a16="http://schemas.microsoft.com/office/drawing/2014/main" id="{DA7BFBF7-F94B-5F4A-9AB3-458F6DC4878A}"/>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61930D75-05E1-FF4D-9DF9-6D049803EE14}"/>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3342107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71DE4-220F-524A-AE71-249F148F0EAB}"/>
              </a:ext>
            </a:extLst>
          </p:cNvPr>
          <p:cNvSpPr>
            <a:spLocks noGrp="1"/>
          </p:cNvSpPr>
          <p:nvPr>
            <p:ph type="title"/>
          </p:nvPr>
        </p:nvSpPr>
        <p:spPr>
          <a:xfrm>
            <a:off x="0" y="3"/>
            <a:ext cx="12192000" cy="1646237"/>
          </a:xfrm>
          <a:prstGeom prst="rect">
            <a:avLst/>
          </a:prstGeom>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AC61CC8A-886E-314B-A14E-E0A2E61CF38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949D9B9C-C5C4-5444-A859-21983291D0CC}"/>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5" name="Footer Placeholder 4">
            <a:extLst>
              <a:ext uri="{FF2B5EF4-FFF2-40B4-BE49-F238E27FC236}">
                <a16:creationId xmlns:a16="http://schemas.microsoft.com/office/drawing/2014/main" id="{8CCB66D3-28A4-3648-90A6-3B836E92E527}"/>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EF18903C-B86B-7B4B-BE9B-CC28E3D3B8B1}"/>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2305552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588538-75A8-2940-8B53-8DED49B6F967}"/>
              </a:ext>
            </a:extLst>
          </p:cNvPr>
          <p:cNvSpPr>
            <a:spLocks noGrp="1"/>
          </p:cNvSpPr>
          <p:nvPr>
            <p:ph type="title" orient="vert"/>
          </p:nvPr>
        </p:nvSpPr>
        <p:spPr>
          <a:xfrm>
            <a:off x="8724901" y="365125"/>
            <a:ext cx="2628900" cy="5811838"/>
          </a:xfrm>
          <a:prstGeom prst="rect">
            <a:avLst/>
          </a:prstGeo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59F1F877-E463-6342-BD68-61A67B7FECA0}"/>
              </a:ext>
            </a:extLst>
          </p:cNvPr>
          <p:cNvSpPr>
            <a:spLocks noGrp="1"/>
          </p:cNvSpPr>
          <p:nvPr>
            <p:ph type="body" orient="vert" idx="1"/>
          </p:nvPr>
        </p:nvSpPr>
        <p:spPr>
          <a:xfrm>
            <a:off x="838201"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5CD2C77C-53D3-6940-9813-8ACEC1C53539}"/>
              </a:ext>
            </a:extLst>
          </p:cNvPr>
          <p:cNvSpPr>
            <a:spLocks noGrp="1"/>
          </p:cNvSpPr>
          <p:nvPr>
            <p:ph type="dt" sz="half" idx="10"/>
          </p:nvPr>
        </p:nvSpPr>
        <p:spPr/>
        <p:txBody>
          <a:bodyPr/>
          <a:lstStyle/>
          <a:p>
            <a:fld id="{39EB820E-2417-BC43-8A61-666922ACD89B}" type="datetimeFigureOut">
              <a:rPr lang="en-IT" smtClean="0"/>
              <a:t>05/07/2023</a:t>
            </a:fld>
            <a:endParaRPr lang="en-IT"/>
          </a:p>
        </p:txBody>
      </p:sp>
      <p:sp>
        <p:nvSpPr>
          <p:cNvPr id="5" name="Footer Placeholder 4">
            <a:extLst>
              <a:ext uri="{FF2B5EF4-FFF2-40B4-BE49-F238E27FC236}">
                <a16:creationId xmlns:a16="http://schemas.microsoft.com/office/drawing/2014/main" id="{6CF90E75-C745-A649-BC0D-85E270A96F4A}"/>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36833050-78F2-6E44-9024-5826147E427B}"/>
              </a:ext>
            </a:extLst>
          </p:cNvPr>
          <p:cNvSpPr>
            <a:spLocks noGrp="1"/>
          </p:cNvSpPr>
          <p:nvPr>
            <p:ph type="sldNum" sz="quarter" idx="12"/>
          </p:nvPr>
        </p:nvSpPr>
        <p:spPr/>
        <p:txBody>
          <a:bodyPr/>
          <a:lstStyle/>
          <a:p>
            <a:fld id="{3EBE722A-0E85-F64D-AD0B-E35C2DFE861C}" type="slidenum">
              <a:rPr lang="en-IT" smtClean="0"/>
              <a:t>‹#›</a:t>
            </a:fld>
            <a:endParaRPr lang="en-IT"/>
          </a:p>
        </p:txBody>
      </p:sp>
    </p:spTree>
    <p:extLst>
      <p:ext uri="{BB962C8B-B14F-4D97-AF65-F5344CB8AC3E}">
        <p14:creationId xmlns:p14="http://schemas.microsoft.com/office/powerpoint/2010/main" val="2226547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E7771D9-37ED-4C42-9AD1-17228E80D3CC}"/>
              </a:ext>
            </a:extLst>
          </p:cNvPr>
          <p:cNvSpPr/>
          <p:nvPr userDrawn="1"/>
        </p:nvSpPr>
        <p:spPr>
          <a:xfrm>
            <a:off x="0" y="0"/>
            <a:ext cx="12192000" cy="1641231"/>
          </a:xfrm>
          <a:prstGeom prst="rect">
            <a:avLst/>
          </a:prstGeom>
          <a:gradFill flip="none" rotWithShape="1">
            <a:gsLst>
              <a:gs pos="9000">
                <a:schemeClr val="accent1">
                  <a:lumMod val="89000"/>
                </a:schemeClr>
              </a:gs>
              <a:gs pos="23000">
                <a:schemeClr val="accent1">
                  <a:lumMod val="89000"/>
                </a:schemeClr>
              </a:gs>
              <a:gs pos="69000">
                <a:schemeClr val="accent1">
                  <a:lumMod val="75000"/>
                </a:schemeClr>
              </a:gs>
              <a:gs pos="97000">
                <a:schemeClr val="accent1">
                  <a:lumMod val="7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2" name="Title Placeholder 1">
            <a:extLst>
              <a:ext uri="{FF2B5EF4-FFF2-40B4-BE49-F238E27FC236}">
                <a16:creationId xmlns:a16="http://schemas.microsoft.com/office/drawing/2014/main" id="{9A440966-E552-C147-9B42-753B6C49F55E}"/>
              </a:ext>
            </a:extLst>
          </p:cNvPr>
          <p:cNvSpPr>
            <a:spLocks noGrp="1"/>
          </p:cNvSpPr>
          <p:nvPr>
            <p:ph type="title"/>
          </p:nvPr>
        </p:nvSpPr>
        <p:spPr>
          <a:xfrm>
            <a:off x="0" y="3"/>
            <a:ext cx="12192000" cy="1646237"/>
          </a:xfrm>
          <a:prstGeom prst="rect">
            <a:avLst/>
          </a:prstGeom>
          <a:noFill/>
        </p:spPr>
        <p:txBody>
          <a:bodyPr vert="horz" lIns="36000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58E8B0DB-A150-224C-A6BB-C0701F58628B}"/>
              </a:ext>
            </a:extLst>
          </p:cNvPr>
          <p:cNvSpPr>
            <a:spLocks noGrp="1"/>
          </p:cNvSpPr>
          <p:nvPr>
            <p:ph type="body" idx="1"/>
          </p:nvPr>
        </p:nvSpPr>
        <p:spPr>
          <a:xfrm>
            <a:off x="308921" y="1825625"/>
            <a:ext cx="11578281"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B7C6BF8C-7A7B-674A-AA1D-775D5193416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B820E-2417-BC43-8A61-666922ACD89B}" type="datetimeFigureOut">
              <a:rPr lang="en-IT" smtClean="0"/>
              <a:t>05/07/2023</a:t>
            </a:fld>
            <a:endParaRPr lang="en-IT"/>
          </a:p>
        </p:txBody>
      </p:sp>
      <p:sp>
        <p:nvSpPr>
          <p:cNvPr id="5" name="Footer Placeholder 4">
            <a:extLst>
              <a:ext uri="{FF2B5EF4-FFF2-40B4-BE49-F238E27FC236}">
                <a16:creationId xmlns:a16="http://schemas.microsoft.com/office/drawing/2014/main" id="{2056B8A9-B022-C248-8D61-A6C3411F209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T"/>
          </a:p>
        </p:txBody>
      </p:sp>
      <p:sp>
        <p:nvSpPr>
          <p:cNvPr id="6" name="Slide Number Placeholder 5">
            <a:extLst>
              <a:ext uri="{FF2B5EF4-FFF2-40B4-BE49-F238E27FC236}">
                <a16:creationId xmlns:a16="http://schemas.microsoft.com/office/drawing/2014/main" id="{24B4AECD-FF0A-9F48-AE9B-1BFF35EE0FBA}"/>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BE722A-0E85-F64D-AD0B-E35C2DFE861C}" type="slidenum">
              <a:rPr lang="en-IT" smtClean="0"/>
              <a:t>‹#›</a:t>
            </a:fld>
            <a:endParaRPr lang="en-IT"/>
          </a:p>
        </p:txBody>
      </p:sp>
      <p:sp>
        <p:nvSpPr>
          <p:cNvPr id="10" name="Oval 9">
            <a:extLst>
              <a:ext uri="{FF2B5EF4-FFF2-40B4-BE49-F238E27FC236}">
                <a16:creationId xmlns:a16="http://schemas.microsoft.com/office/drawing/2014/main" id="{285950CA-F02E-D848-9172-87943A6D2C26}"/>
              </a:ext>
            </a:extLst>
          </p:cNvPr>
          <p:cNvSpPr/>
          <p:nvPr userDrawn="1"/>
        </p:nvSpPr>
        <p:spPr>
          <a:xfrm>
            <a:off x="10492154" y="136523"/>
            <a:ext cx="1395048" cy="1395048"/>
          </a:xfrm>
          <a:prstGeom prst="ellipse">
            <a:avLst/>
          </a:prstGeom>
          <a:blipFill>
            <a:blip r:embed="rId1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3769442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800" kern="1200">
          <a:solidFill>
            <a:schemeClr val="bg1"/>
          </a:solidFill>
          <a:latin typeface="+mn-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rgbClr val="0F406B"/>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rgbClr val="0F406B"/>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rgbClr val="0F406B"/>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3.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6.png"/><Relationship Id="rId9" Type="http://schemas.openxmlformats.org/officeDocument/2006/relationships/image" Target="../media/image18.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4.png"/><Relationship Id="rId7" Type="http://schemas.openxmlformats.org/officeDocument/2006/relationships/image" Target="../media/image9.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2" Type="http://schemas.openxmlformats.org/officeDocument/2006/relationships/hyperlink" Target="https://doi.org/10.22331/q-2018-08-06-7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quantum-computing.ibm.com/composer/docs/iqx/guide/shors-algorithm" TargetMode="External"/><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8.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2.jpeg"/><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hyperlink" Target="https://www.ibm.com/blogs/research/2019/02/q-network-quantum-goals/" TargetMode="External"/><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docs.conda.io/en/latest/miniconda.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towardsdatascience.com/manage-your-python-virtual-environment-with-conda-a0d2934d5195" TargetMode="External"/><Relationship Id="rId2" Type="http://schemas.openxmlformats.org/officeDocument/2006/relationships/hyperlink" Target="https://qiskit.org/documentation/getting_started.html"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quantum-computing.ibm.co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8B02C-2879-1144-98C0-5FC7C6F01162}"/>
              </a:ext>
            </a:extLst>
          </p:cNvPr>
          <p:cNvSpPr>
            <a:spLocks noGrp="1"/>
          </p:cNvSpPr>
          <p:nvPr>
            <p:ph type="ctrTitle"/>
          </p:nvPr>
        </p:nvSpPr>
        <p:spPr/>
        <p:txBody>
          <a:bodyPr/>
          <a:lstStyle/>
          <a:p>
            <a:r>
              <a:rPr lang="en-IT"/>
              <a:t>Introduction to</a:t>
            </a:r>
            <a:br>
              <a:rPr lang="en-IT"/>
            </a:br>
            <a:r>
              <a:rPr lang="en-IT"/>
              <a:t>Quantum Computing - Lab</a:t>
            </a:r>
          </a:p>
        </p:txBody>
      </p:sp>
      <p:sp>
        <p:nvSpPr>
          <p:cNvPr id="3" name="Subtitle 2">
            <a:extLst>
              <a:ext uri="{FF2B5EF4-FFF2-40B4-BE49-F238E27FC236}">
                <a16:creationId xmlns:a16="http://schemas.microsoft.com/office/drawing/2014/main" id="{367911E7-B469-CC46-9922-F1A2192BC643}"/>
              </a:ext>
            </a:extLst>
          </p:cNvPr>
          <p:cNvSpPr>
            <a:spLocks noGrp="1"/>
          </p:cNvSpPr>
          <p:nvPr>
            <p:ph type="subTitle" idx="1"/>
          </p:nvPr>
        </p:nvSpPr>
        <p:spPr/>
        <p:txBody>
          <a:bodyPr/>
          <a:lstStyle/>
          <a:p>
            <a:r>
              <a:rPr lang="en-IT"/>
              <a:t>Department of Information Engineering</a:t>
            </a:r>
          </a:p>
          <a:p>
            <a:r>
              <a:rPr lang="en-IT"/>
              <a:t>MSc in Computer Engineering (a.y. 2022/2023)</a:t>
            </a:r>
          </a:p>
          <a:p>
            <a:r>
              <a:rPr lang="en-IT"/>
              <a:t>Computer Architecture (Prof. Cosimo Antonio Prete)</a:t>
            </a:r>
          </a:p>
        </p:txBody>
      </p:sp>
      <p:sp>
        <p:nvSpPr>
          <p:cNvPr id="4" name="Date Placeholder 3">
            <a:extLst>
              <a:ext uri="{FF2B5EF4-FFF2-40B4-BE49-F238E27FC236}">
                <a16:creationId xmlns:a16="http://schemas.microsoft.com/office/drawing/2014/main" id="{8C3E0286-0631-8049-864A-51176D6D88C2}"/>
              </a:ext>
            </a:extLst>
          </p:cNvPr>
          <p:cNvSpPr>
            <a:spLocks noGrp="1"/>
          </p:cNvSpPr>
          <p:nvPr>
            <p:ph type="dt" sz="half" idx="10"/>
          </p:nvPr>
        </p:nvSpPr>
        <p:spPr/>
        <p:txBody>
          <a:bodyPr/>
          <a:lstStyle/>
          <a:p>
            <a:r>
              <a:rPr lang="it-IT"/>
              <a:t>Pisa - </a:t>
            </a:r>
            <a:fld id="{BDE51652-3DE9-7A43-89ED-F095CE5F9878}" type="datetime1">
              <a:rPr lang="it-IT" smtClean="0"/>
              <a:t>07/05/2023</a:t>
            </a:fld>
            <a:endParaRPr lang="en-IT"/>
          </a:p>
        </p:txBody>
      </p:sp>
      <p:sp>
        <p:nvSpPr>
          <p:cNvPr id="5" name="TextBox 4">
            <a:extLst>
              <a:ext uri="{FF2B5EF4-FFF2-40B4-BE49-F238E27FC236}">
                <a16:creationId xmlns:a16="http://schemas.microsoft.com/office/drawing/2014/main" id="{72307CA6-9FFB-BD4A-AC84-DC9C4C865424}"/>
              </a:ext>
            </a:extLst>
          </p:cNvPr>
          <p:cNvSpPr txBox="1"/>
          <p:nvPr/>
        </p:nvSpPr>
        <p:spPr>
          <a:xfrm>
            <a:off x="7921487" y="5433022"/>
            <a:ext cx="4114800" cy="923330"/>
          </a:xfrm>
          <a:prstGeom prst="rect">
            <a:avLst/>
          </a:prstGeom>
          <a:noFill/>
        </p:spPr>
        <p:txBody>
          <a:bodyPr wrap="square" rtlCol="0">
            <a:spAutoFit/>
          </a:bodyPr>
          <a:lstStyle/>
          <a:p>
            <a:pPr algn="r"/>
            <a:r>
              <a:rPr lang="en-IT">
                <a:solidFill>
                  <a:srgbClr val="0F406B"/>
                </a:solidFill>
              </a:rPr>
              <a:t>Leonardo Bacciottini</a:t>
            </a:r>
          </a:p>
          <a:p>
            <a:pPr algn="r"/>
            <a:r>
              <a:rPr lang="en-IT">
                <a:solidFill>
                  <a:srgbClr val="0F406B"/>
                </a:solidFill>
              </a:rPr>
              <a:t>PhD student</a:t>
            </a:r>
          </a:p>
          <a:p>
            <a:pPr algn="r"/>
            <a:r>
              <a:rPr lang="en-IT">
                <a:solidFill>
                  <a:srgbClr val="0F406B"/>
                </a:solidFill>
              </a:rPr>
              <a:t>leonardo.bacciottini@phd.unipi.it</a:t>
            </a:r>
          </a:p>
        </p:txBody>
      </p:sp>
    </p:spTree>
    <p:extLst>
      <p:ext uri="{BB962C8B-B14F-4D97-AF65-F5344CB8AC3E}">
        <p14:creationId xmlns:p14="http://schemas.microsoft.com/office/powerpoint/2010/main" val="2110479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4FC928-4E34-D043-BFF9-EE26136AB178}"/>
              </a:ext>
            </a:extLst>
          </p:cNvPr>
          <p:cNvSpPr>
            <a:spLocks noGrp="1"/>
          </p:cNvSpPr>
          <p:nvPr>
            <p:ph type="title"/>
          </p:nvPr>
        </p:nvSpPr>
        <p:spPr/>
        <p:txBody>
          <a:bodyPr/>
          <a:lstStyle/>
          <a:p>
            <a:r>
              <a:rPr lang="en-IT"/>
              <a:t>Outline</a:t>
            </a:r>
          </a:p>
        </p:txBody>
      </p:sp>
      <p:graphicFrame>
        <p:nvGraphicFramePr>
          <p:cNvPr id="17" name="Content Placeholder 16">
            <a:extLst>
              <a:ext uri="{FF2B5EF4-FFF2-40B4-BE49-F238E27FC236}">
                <a16:creationId xmlns:a16="http://schemas.microsoft.com/office/drawing/2014/main" id="{BB76C02E-146D-F142-AB83-26C8F3A0BA2A}"/>
              </a:ext>
            </a:extLst>
          </p:cNvPr>
          <p:cNvGraphicFramePr>
            <a:graphicFrameLocks noGrp="1"/>
          </p:cNvGraphicFramePr>
          <p:nvPr>
            <p:ph idx="1"/>
            <p:extLst>
              <p:ext uri="{D42A27DB-BD31-4B8C-83A1-F6EECF244321}">
                <p14:modId xmlns:p14="http://schemas.microsoft.com/office/powerpoint/2010/main" val="1532925704"/>
              </p:ext>
            </p:extLst>
          </p:nvPr>
        </p:nvGraphicFramePr>
        <p:xfrm>
          <a:off x="308921" y="1825625"/>
          <a:ext cx="1157828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4845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E31FE-072B-2D4C-8C8F-0DCBB507BDC6}"/>
              </a:ext>
            </a:extLst>
          </p:cNvPr>
          <p:cNvSpPr>
            <a:spLocks noGrp="1"/>
          </p:cNvSpPr>
          <p:nvPr>
            <p:ph type="title"/>
          </p:nvPr>
        </p:nvSpPr>
        <p:spPr/>
        <p:txBody>
          <a:bodyPr/>
          <a:lstStyle/>
          <a:p>
            <a:r>
              <a:rPr lang="en-IT"/>
              <a:t>What is a quantum computer?</a:t>
            </a:r>
          </a:p>
        </p:txBody>
      </p:sp>
      <p:sp>
        <p:nvSpPr>
          <p:cNvPr id="3" name="Content Placeholder 2">
            <a:extLst>
              <a:ext uri="{FF2B5EF4-FFF2-40B4-BE49-F238E27FC236}">
                <a16:creationId xmlns:a16="http://schemas.microsoft.com/office/drawing/2014/main" id="{ABF48858-D0D7-9549-8FD5-46547201B6FF}"/>
              </a:ext>
            </a:extLst>
          </p:cNvPr>
          <p:cNvSpPr>
            <a:spLocks noGrp="1"/>
          </p:cNvSpPr>
          <p:nvPr>
            <p:ph idx="1"/>
          </p:nvPr>
        </p:nvSpPr>
        <p:spPr>
          <a:xfrm>
            <a:off x="185057" y="1760311"/>
            <a:ext cx="11723914" cy="4782004"/>
          </a:xfrm>
        </p:spPr>
        <p:txBody>
          <a:bodyPr>
            <a:normAutofit/>
          </a:bodyPr>
          <a:lstStyle/>
          <a:p>
            <a:r>
              <a:rPr lang="en-US" altLang="it-IT"/>
              <a:t>A quantum computer is a machine that performs calculations based on the laws of quantum mechanics instead of the laws of classical physics.</a:t>
            </a:r>
          </a:p>
          <a:p>
            <a:r>
              <a:rPr lang="en-IT"/>
              <a:t>As the </a:t>
            </a:r>
            <a:r>
              <a:rPr lang="en-IT" b="1">
                <a:solidFill>
                  <a:srgbClr val="FF0000"/>
                </a:solidFill>
              </a:rPr>
              <a:t>bit</a:t>
            </a:r>
            <a:r>
              <a:rPr lang="en-IT" b="1"/>
              <a:t> </a:t>
            </a:r>
            <a:r>
              <a:rPr lang="en-IT"/>
              <a:t>is the computational unit of a classical computer, the </a:t>
            </a:r>
            <a:r>
              <a:rPr lang="en-IT" b="1">
                <a:solidFill>
                  <a:srgbClr val="FF0000"/>
                </a:solidFill>
              </a:rPr>
              <a:t>qubit </a:t>
            </a:r>
            <a:r>
              <a:rPr lang="en-IT"/>
              <a:t>is the computational unit of a quantum computer.</a:t>
            </a:r>
          </a:p>
          <a:p>
            <a:r>
              <a:rPr lang="en-IT"/>
              <a:t>The logical operations that a classical computer can perform on bits (e.g. AND, OR, NOT, NAND, …) are mapped by its </a:t>
            </a:r>
            <a:r>
              <a:rPr lang="en-IT" b="1">
                <a:solidFill>
                  <a:srgbClr val="FF0000"/>
                </a:solidFill>
              </a:rPr>
              <a:t>instructions set</a:t>
            </a:r>
            <a:r>
              <a:rPr lang="en-IT"/>
              <a:t>.</a:t>
            </a:r>
          </a:p>
          <a:p>
            <a:r>
              <a:rPr lang="en-IT"/>
              <a:t>Current operating systems abstract this low-level API and provide users with applications and advanced programming languages.</a:t>
            </a:r>
          </a:p>
        </p:txBody>
      </p:sp>
    </p:spTree>
    <p:extLst>
      <p:ext uri="{BB962C8B-B14F-4D97-AF65-F5344CB8AC3E}">
        <p14:creationId xmlns:p14="http://schemas.microsoft.com/office/powerpoint/2010/main" val="39967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176B20-0C99-DB44-A7B4-E103D85F3678}"/>
              </a:ext>
            </a:extLst>
          </p:cNvPr>
          <p:cNvSpPr>
            <a:spLocks noGrp="1"/>
          </p:cNvSpPr>
          <p:nvPr>
            <p:ph type="title"/>
          </p:nvPr>
        </p:nvSpPr>
        <p:spPr/>
        <p:txBody>
          <a:bodyPr/>
          <a:lstStyle/>
          <a:p>
            <a:r>
              <a:rPr lang="en-IT"/>
              <a:t>What is a quantum computer? (2)</a:t>
            </a:r>
          </a:p>
        </p:txBody>
      </p:sp>
      <p:sp>
        <p:nvSpPr>
          <p:cNvPr id="5" name="Content Placeholder 4">
            <a:extLst>
              <a:ext uri="{FF2B5EF4-FFF2-40B4-BE49-F238E27FC236}">
                <a16:creationId xmlns:a16="http://schemas.microsoft.com/office/drawing/2014/main" id="{6212DA4B-D631-4B4B-AF96-DA7B4B08C8A0}"/>
              </a:ext>
            </a:extLst>
          </p:cNvPr>
          <p:cNvSpPr>
            <a:spLocks noGrp="1"/>
          </p:cNvSpPr>
          <p:nvPr>
            <p:ph idx="1"/>
          </p:nvPr>
        </p:nvSpPr>
        <p:spPr>
          <a:xfrm>
            <a:off x="6480313" y="1825625"/>
            <a:ext cx="5406889" cy="4351338"/>
          </a:xfrm>
        </p:spPr>
        <p:txBody>
          <a:bodyPr>
            <a:normAutofit lnSpcReduction="10000"/>
          </a:bodyPr>
          <a:lstStyle/>
          <a:p>
            <a:r>
              <a:rPr lang="en-IT"/>
              <a:t>Quantum computers have an instructions set composed of quantum gates (e.g. {H, Z, X, Y QNOT, CX, SWAP, MEASURE}).</a:t>
            </a:r>
          </a:p>
          <a:p>
            <a:r>
              <a:rPr lang="en-IT"/>
              <a:t>They don’t provide (at least currently) any high-level abstraction. They can be seen as mainframes which execute an ordered list of instructions on a set of qubits and output some measurement results.</a:t>
            </a:r>
          </a:p>
          <a:p>
            <a:endParaRPr lang="en-IT"/>
          </a:p>
        </p:txBody>
      </p:sp>
      <p:pic>
        <p:nvPicPr>
          <p:cNvPr id="11" name="Picture 10">
            <a:extLst>
              <a:ext uri="{FF2B5EF4-FFF2-40B4-BE49-F238E27FC236}">
                <a16:creationId xmlns:a16="http://schemas.microsoft.com/office/drawing/2014/main" id="{FA148095-B750-E245-ACEC-5418779ACBE7}"/>
              </a:ext>
            </a:extLst>
          </p:cNvPr>
          <p:cNvPicPr>
            <a:picLocks noChangeAspect="1"/>
          </p:cNvPicPr>
          <p:nvPr/>
        </p:nvPicPr>
        <p:blipFill>
          <a:blip r:embed="rId2"/>
          <a:stretch>
            <a:fillRect/>
          </a:stretch>
        </p:blipFill>
        <p:spPr>
          <a:xfrm>
            <a:off x="304798" y="1825625"/>
            <a:ext cx="5864087" cy="4438788"/>
          </a:xfrm>
          <a:prstGeom prst="rect">
            <a:avLst/>
          </a:prstGeom>
        </p:spPr>
      </p:pic>
      <p:sp>
        <p:nvSpPr>
          <p:cNvPr id="12" name="TextBox 11">
            <a:extLst>
              <a:ext uri="{FF2B5EF4-FFF2-40B4-BE49-F238E27FC236}">
                <a16:creationId xmlns:a16="http://schemas.microsoft.com/office/drawing/2014/main" id="{9F85F14C-8911-A241-9D17-D4817E9F1A8F}"/>
              </a:ext>
            </a:extLst>
          </p:cNvPr>
          <p:cNvSpPr txBox="1"/>
          <p:nvPr/>
        </p:nvSpPr>
        <p:spPr>
          <a:xfrm>
            <a:off x="304798" y="6370983"/>
            <a:ext cx="3770245" cy="369332"/>
          </a:xfrm>
          <a:prstGeom prst="rect">
            <a:avLst/>
          </a:prstGeom>
          <a:noFill/>
        </p:spPr>
        <p:txBody>
          <a:bodyPr wrap="square" rtlCol="0">
            <a:spAutoFit/>
          </a:bodyPr>
          <a:lstStyle/>
          <a:p>
            <a:r>
              <a:rPr lang="en-IT" i="1">
                <a:solidFill>
                  <a:srgbClr val="0F406B"/>
                </a:solidFill>
              </a:rPr>
              <a:t>Calcolatrice Elettronica Pisana – 1961.</a:t>
            </a:r>
          </a:p>
        </p:txBody>
      </p:sp>
    </p:spTree>
    <p:extLst>
      <p:ext uri="{BB962C8B-B14F-4D97-AF65-F5344CB8AC3E}">
        <p14:creationId xmlns:p14="http://schemas.microsoft.com/office/powerpoint/2010/main" val="1969903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501DA-D9F6-034C-A872-9EB1A1DC9C1F}"/>
              </a:ext>
            </a:extLst>
          </p:cNvPr>
          <p:cNvSpPr>
            <a:spLocks noGrp="1"/>
          </p:cNvSpPr>
          <p:nvPr>
            <p:ph type="title"/>
          </p:nvPr>
        </p:nvSpPr>
        <p:spPr/>
        <p:txBody>
          <a:bodyPr/>
          <a:lstStyle/>
          <a:p>
            <a:r>
              <a:rPr lang="en-IT"/>
              <a:t>Quantum Program: Example</a:t>
            </a:r>
          </a:p>
        </p:txBody>
      </p:sp>
      <p:grpSp>
        <p:nvGrpSpPr>
          <p:cNvPr id="42" name="Group 41">
            <a:extLst>
              <a:ext uri="{FF2B5EF4-FFF2-40B4-BE49-F238E27FC236}">
                <a16:creationId xmlns:a16="http://schemas.microsoft.com/office/drawing/2014/main" id="{A711C7E8-B305-5C42-8B59-E3AC4F4E504A}"/>
              </a:ext>
            </a:extLst>
          </p:cNvPr>
          <p:cNvGrpSpPr/>
          <p:nvPr/>
        </p:nvGrpSpPr>
        <p:grpSpPr>
          <a:xfrm>
            <a:off x="151486" y="3355848"/>
            <a:ext cx="2177143" cy="1872740"/>
            <a:chOff x="1036536" y="3880488"/>
            <a:chExt cx="2177143" cy="1872740"/>
          </a:xfrm>
        </p:grpSpPr>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77BF430B-BD60-EA43-972D-C5D0D706A3D7}"/>
                    </a:ext>
                  </a:extLst>
                </p:cNvPr>
                <p:cNvSpPr txBox="1"/>
                <p:nvPr/>
              </p:nvSpPr>
              <p:spPr>
                <a:xfrm>
                  <a:off x="1036536" y="5106897"/>
                  <a:ext cx="2177143" cy="646331"/>
                </a:xfrm>
                <a:prstGeom prst="rect">
                  <a:avLst/>
                </a:prstGeom>
                <a:noFill/>
              </p:spPr>
              <p:txBody>
                <a:bodyPr wrap="square" rtlCol="0">
                  <a:spAutoFit/>
                </a:bodyPr>
                <a:lstStyle/>
                <a:p>
                  <a:r>
                    <a:rPr lang="en-IT">
                      <a:solidFill>
                        <a:srgbClr val="0F406B"/>
                      </a:solidFill>
                    </a:rPr>
                    <a:t>Qubits are always </a:t>
                  </a:r>
                  <a:r>
                    <a:rPr lang="en-GB" err="1">
                      <a:solidFill>
                        <a:srgbClr val="0F406B"/>
                      </a:solidFill>
                    </a:rPr>
                    <a:t>i</a:t>
                  </a:r>
                  <a:r>
                    <a:rPr lang="en-IT">
                      <a:solidFill>
                        <a:srgbClr val="0F406B"/>
                      </a:solidFill>
                    </a:rPr>
                    <a:t>nitialized to state </a:t>
                  </a:r>
                  <a14:m>
                    <m:oMath xmlns:m="http://schemas.openxmlformats.org/officeDocument/2006/math">
                      <m:r>
                        <a:rPr lang="it-IT" i="1">
                          <a:solidFill>
                            <a:srgbClr val="0F406B"/>
                          </a:solidFill>
                          <a:latin typeface="Cambria Math" panose="02040503050406030204" pitchFamily="18" charset="0"/>
                        </a:rPr>
                        <m:t>|0⟩</m:t>
                      </m:r>
                    </m:oMath>
                  </a14:m>
                  <a:endParaRPr lang="en-IT">
                    <a:solidFill>
                      <a:srgbClr val="0F406B"/>
                    </a:solidFill>
                  </a:endParaRPr>
                </a:p>
              </p:txBody>
            </p:sp>
          </mc:Choice>
          <mc:Fallback>
            <p:sp>
              <p:nvSpPr>
                <p:cNvPr id="34" name="TextBox 33">
                  <a:extLst>
                    <a:ext uri="{FF2B5EF4-FFF2-40B4-BE49-F238E27FC236}">
                      <a16:creationId xmlns:a16="http://schemas.microsoft.com/office/drawing/2014/main" id="{77BF430B-BD60-EA43-972D-C5D0D706A3D7}"/>
                    </a:ext>
                  </a:extLst>
                </p:cNvPr>
                <p:cNvSpPr txBox="1">
                  <a:spLocks noRot="1" noChangeAspect="1" noMove="1" noResize="1" noEditPoints="1" noAdjustHandles="1" noChangeArrowheads="1" noChangeShapeType="1" noTextEdit="1"/>
                </p:cNvSpPr>
                <p:nvPr/>
              </p:nvSpPr>
              <p:spPr>
                <a:xfrm>
                  <a:off x="1036536" y="5106897"/>
                  <a:ext cx="2177143" cy="646331"/>
                </a:xfrm>
                <a:prstGeom prst="rect">
                  <a:avLst/>
                </a:prstGeom>
                <a:blipFill>
                  <a:blip r:embed="rId2"/>
                  <a:stretch>
                    <a:fillRect l="-2521" t="-5660" r="-280" b="-14151"/>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291567AD-396D-C84A-9357-E3B916343F9A}"/>
                </a:ext>
              </a:extLst>
            </p:cNvPr>
            <p:cNvCxnSpPr>
              <a:cxnSpLocks/>
              <a:stCxn id="34" idx="0"/>
            </p:cNvCxnSpPr>
            <p:nvPr/>
          </p:nvCxnSpPr>
          <p:spPr>
            <a:xfrm flipV="1">
              <a:off x="2125108" y="3880488"/>
              <a:ext cx="93755" cy="1226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8614270F-260A-D849-81A4-ADADFFAF793A}"/>
              </a:ext>
            </a:extLst>
          </p:cNvPr>
          <p:cNvGrpSpPr/>
          <p:nvPr/>
        </p:nvGrpSpPr>
        <p:grpSpPr>
          <a:xfrm>
            <a:off x="1883665" y="4367814"/>
            <a:ext cx="6715985" cy="710611"/>
            <a:chOff x="3854186" y="4825016"/>
            <a:chExt cx="3134445" cy="710611"/>
          </a:xfrm>
        </p:grpSpPr>
        <p:sp>
          <p:nvSpPr>
            <p:cNvPr id="38" name="Left Brace 37">
              <a:extLst>
                <a:ext uri="{FF2B5EF4-FFF2-40B4-BE49-F238E27FC236}">
                  <a16:creationId xmlns:a16="http://schemas.microsoft.com/office/drawing/2014/main" id="{5D8392E6-50C0-9F4D-96CB-95BC3AF8B0B8}"/>
                </a:ext>
              </a:extLst>
            </p:cNvPr>
            <p:cNvSpPr/>
            <p:nvPr/>
          </p:nvSpPr>
          <p:spPr>
            <a:xfrm rot="16200000">
              <a:off x="5282138" y="3397064"/>
              <a:ext cx="278541" cy="3134445"/>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T"/>
            </a:p>
          </p:txBody>
        </p:sp>
        <p:sp>
          <p:nvSpPr>
            <p:cNvPr id="40" name="TextBox 39">
              <a:extLst>
                <a:ext uri="{FF2B5EF4-FFF2-40B4-BE49-F238E27FC236}">
                  <a16:creationId xmlns:a16="http://schemas.microsoft.com/office/drawing/2014/main" id="{1933FA00-8F2E-5545-8353-15E9739B47BC}"/>
                </a:ext>
              </a:extLst>
            </p:cNvPr>
            <p:cNvSpPr txBox="1"/>
            <p:nvPr/>
          </p:nvSpPr>
          <p:spPr>
            <a:xfrm>
              <a:off x="4550492" y="5166295"/>
              <a:ext cx="1859538" cy="369332"/>
            </a:xfrm>
            <a:prstGeom prst="rect">
              <a:avLst/>
            </a:prstGeom>
            <a:noFill/>
          </p:spPr>
          <p:txBody>
            <a:bodyPr wrap="square">
              <a:spAutoFit/>
            </a:bodyPr>
            <a:lstStyle/>
            <a:p>
              <a:r>
                <a:rPr lang="it-IT">
                  <a:solidFill>
                    <a:srgbClr val="0F406B"/>
                  </a:solidFill>
                </a:rPr>
                <a:t>A </a:t>
              </a:r>
              <a:r>
                <a:rPr lang="it-IT" err="1">
                  <a:solidFill>
                    <a:srgbClr val="0F406B"/>
                  </a:solidFill>
                </a:rPr>
                <a:t>series</a:t>
              </a:r>
              <a:r>
                <a:rPr lang="it-IT">
                  <a:solidFill>
                    <a:srgbClr val="0F406B"/>
                  </a:solidFill>
                </a:rPr>
                <a:t> of gates are </a:t>
              </a:r>
              <a:r>
                <a:rPr lang="it-IT" err="1">
                  <a:solidFill>
                    <a:srgbClr val="0F406B"/>
                  </a:solidFill>
                </a:rPr>
                <a:t>applied</a:t>
              </a:r>
              <a:r>
                <a:rPr lang="it-IT">
                  <a:solidFill>
                    <a:srgbClr val="0F406B"/>
                  </a:solidFill>
                </a:rPr>
                <a:t> to the </a:t>
              </a:r>
              <a:r>
                <a:rPr lang="it-IT" err="1">
                  <a:solidFill>
                    <a:srgbClr val="0F406B"/>
                  </a:solidFill>
                </a:rPr>
                <a:t>qubit</a:t>
              </a:r>
              <a:endParaRPr lang="en-IT">
                <a:solidFill>
                  <a:srgbClr val="0F406B"/>
                </a:solidFill>
              </a:endParaRPr>
            </a:p>
          </p:txBody>
        </p:sp>
      </p:grpSp>
      <p:grpSp>
        <p:nvGrpSpPr>
          <p:cNvPr id="43" name="Group 42">
            <a:extLst>
              <a:ext uri="{FF2B5EF4-FFF2-40B4-BE49-F238E27FC236}">
                <a16:creationId xmlns:a16="http://schemas.microsoft.com/office/drawing/2014/main" id="{259B9A99-BC30-2343-A179-A34640E1B1E7}"/>
              </a:ext>
            </a:extLst>
          </p:cNvPr>
          <p:cNvGrpSpPr/>
          <p:nvPr/>
        </p:nvGrpSpPr>
        <p:grpSpPr>
          <a:xfrm>
            <a:off x="8719458" y="3622649"/>
            <a:ext cx="2533950" cy="2124548"/>
            <a:chOff x="679730" y="3905679"/>
            <a:chExt cx="2533950" cy="2124548"/>
          </a:xfrm>
        </p:grpSpPr>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AEAB77C-E3D6-B54B-A7B1-6EB1EB382BCB}"/>
                    </a:ext>
                  </a:extLst>
                </p:cNvPr>
                <p:cNvSpPr txBox="1"/>
                <p:nvPr/>
              </p:nvSpPr>
              <p:spPr>
                <a:xfrm>
                  <a:off x="679730" y="5106897"/>
                  <a:ext cx="2533950" cy="923330"/>
                </a:xfrm>
                <a:prstGeom prst="rect">
                  <a:avLst/>
                </a:prstGeom>
                <a:noFill/>
              </p:spPr>
              <p:txBody>
                <a:bodyPr wrap="square" rtlCol="0">
                  <a:spAutoFit/>
                </a:bodyPr>
                <a:lstStyle/>
                <a:p>
                  <a:r>
                    <a:rPr lang="it-IT" err="1">
                      <a:solidFill>
                        <a:srgbClr val="0F406B"/>
                      </a:solidFill>
                    </a:rPr>
                    <a:t>Finally</a:t>
                  </a:r>
                  <a:r>
                    <a:rPr lang="it-IT">
                      <a:solidFill>
                        <a:srgbClr val="0F406B"/>
                      </a:solidFill>
                    </a:rPr>
                    <a:t>, the </a:t>
                  </a:r>
                  <a:r>
                    <a:rPr lang="it-IT" err="1">
                      <a:solidFill>
                        <a:srgbClr val="0F406B"/>
                      </a:solidFill>
                    </a:rPr>
                    <a:t>qubit</a:t>
                  </a:r>
                  <a:r>
                    <a:rPr lang="it-IT">
                      <a:solidFill>
                        <a:srgbClr val="0F406B"/>
                      </a:solidFill>
                    </a:rPr>
                    <a:t> </a:t>
                  </a:r>
                  <a:r>
                    <a:rPr lang="it-IT" err="1">
                      <a:solidFill>
                        <a:srgbClr val="0F406B"/>
                      </a:solidFill>
                    </a:rPr>
                    <a:t>is</a:t>
                  </a:r>
                  <a:r>
                    <a:rPr lang="it-IT">
                      <a:solidFill>
                        <a:srgbClr val="0F406B"/>
                      </a:solidFill>
                    </a:rPr>
                    <a:t> </a:t>
                  </a:r>
                  <a:r>
                    <a:rPr lang="it-IT" err="1">
                      <a:solidFill>
                        <a:srgbClr val="0F406B"/>
                      </a:solidFill>
                    </a:rPr>
                    <a:t>measured</a:t>
                  </a:r>
                  <a:r>
                    <a:rPr lang="it-IT">
                      <a:solidFill>
                        <a:srgbClr val="0F406B"/>
                      </a:solidFill>
                    </a:rPr>
                    <a:t> </a:t>
                  </a:r>
                  <a:r>
                    <a:rPr lang="it-IT" err="1">
                      <a:solidFill>
                        <a:srgbClr val="0F406B"/>
                      </a:solidFill>
                    </a:rPr>
                    <a:t>along</a:t>
                  </a:r>
                  <a:r>
                    <a:rPr lang="it-IT">
                      <a:solidFill>
                        <a:srgbClr val="0F406B"/>
                      </a:solidFill>
                    </a:rPr>
                    <a:t> the CBS (</a:t>
                  </a:r>
                  <a14:m>
                    <m:oMath xmlns:m="http://schemas.openxmlformats.org/officeDocument/2006/math">
                      <m:r>
                        <a:rPr lang="it-IT" b="0" i="0" smtClean="0">
                          <a:solidFill>
                            <a:srgbClr val="0F406B"/>
                          </a:solidFill>
                          <a:latin typeface="Cambria Math" panose="02040503050406030204" pitchFamily="18" charset="0"/>
                        </a:rPr>
                        <m:t>{</m:t>
                      </m:r>
                      <m:r>
                        <a:rPr lang="it-IT" i="1">
                          <a:solidFill>
                            <a:srgbClr val="0F406B"/>
                          </a:solidFill>
                          <a:latin typeface="Cambria Math" panose="02040503050406030204" pitchFamily="18" charset="0"/>
                        </a:rPr>
                        <m:t>|0⟩</m:t>
                      </m:r>
                    </m:oMath>
                  </a14:m>
                  <a:r>
                    <a:rPr lang="it-IT">
                      <a:solidFill>
                        <a:srgbClr val="0F406B"/>
                      </a:solidFill>
                    </a:rPr>
                    <a:t>, </a:t>
                  </a:r>
                  <a14:m>
                    <m:oMath xmlns:m="http://schemas.openxmlformats.org/officeDocument/2006/math">
                      <m:r>
                        <a:rPr lang="it-IT" i="1">
                          <a:solidFill>
                            <a:srgbClr val="0F406B"/>
                          </a:solidFill>
                          <a:latin typeface="Cambria Math" panose="02040503050406030204" pitchFamily="18" charset="0"/>
                        </a:rPr>
                        <m:t>|</m:t>
                      </m:r>
                      <m:r>
                        <a:rPr lang="it-IT" b="0" i="1" smtClean="0">
                          <a:solidFill>
                            <a:srgbClr val="0F406B"/>
                          </a:solidFill>
                          <a:latin typeface="Cambria Math" panose="02040503050406030204" pitchFamily="18" charset="0"/>
                        </a:rPr>
                        <m:t>1</m:t>
                      </m:r>
                      <m:r>
                        <a:rPr lang="it-IT" i="1">
                          <a:solidFill>
                            <a:srgbClr val="0F406B"/>
                          </a:solidFill>
                          <a:latin typeface="Cambria Math" panose="02040503050406030204" pitchFamily="18" charset="0"/>
                        </a:rPr>
                        <m:t>⟩</m:t>
                      </m:r>
                    </m:oMath>
                  </a14:m>
                  <a:r>
                    <a:rPr lang="it-IT">
                      <a:solidFill>
                        <a:srgbClr val="0F406B"/>
                      </a:solidFill>
                    </a:rPr>
                    <a:t>})</a:t>
                  </a:r>
                  <a:endParaRPr lang="en-IT">
                    <a:solidFill>
                      <a:srgbClr val="0F406B"/>
                    </a:solidFill>
                  </a:endParaRPr>
                </a:p>
              </p:txBody>
            </p:sp>
          </mc:Choice>
          <mc:Fallback>
            <p:sp>
              <p:nvSpPr>
                <p:cNvPr id="44" name="TextBox 43">
                  <a:extLst>
                    <a:ext uri="{FF2B5EF4-FFF2-40B4-BE49-F238E27FC236}">
                      <a16:creationId xmlns:a16="http://schemas.microsoft.com/office/drawing/2014/main" id="{9AEAB77C-E3D6-B54B-A7B1-6EB1EB382BCB}"/>
                    </a:ext>
                  </a:extLst>
                </p:cNvPr>
                <p:cNvSpPr txBox="1">
                  <a:spLocks noRot="1" noChangeAspect="1" noMove="1" noResize="1" noEditPoints="1" noAdjustHandles="1" noChangeArrowheads="1" noChangeShapeType="1" noTextEdit="1"/>
                </p:cNvSpPr>
                <p:nvPr/>
              </p:nvSpPr>
              <p:spPr>
                <a:xfrm>
                  <a:off x="679730" y="5106897"/>
                  <a:ext cx="2533950" cy="923330"/>
                </a:xfrm>
                <a:prstGeom prst="rect">
                  <a:avLst/>
                </a:prstGeom>
                <a:blipFill>
                  <a:blip r:embed="rId3"/>
                  <a:stretch>
                    <a:fillRect l="-1923" t="-3289" r="-481" b="-9211"/>
                  </a:stretch>
                </a:blipFill>
              </p:spPr>
              <p:txBody>
                <a:bodyPr/>
                <a:lstStyle/>
                <a:p>
                  <a:r>
                    <a:rPr lang="en-US">
                      <a:noFill/>
                    </a:rPr>
                    <a:t> </a:t>
                  </a:r>
                </a:p>
              </p:txBody>
            </p:sp>
          </mc:Fallback>
        </mc:AlternateContent>
        <p:cxnSp>
          <p:nvCxnSpPr>
            <p:cNvPr id="45" name="Straight Arrow Connector 44">
              <a:extLst>
                <a:ext uri="{FF2B5EF4-FFF2-40B4-BE49-F238E27FC236}">
                  <a16:creationId xmlns:a16="http://schemas.microsoft.com/office/drawing/2014/main" id="{EC040653-97E7-594B-A729-59F4B831A98E}"/>
                </a:ext>
              </a:extLst>
            </p:cNvPr>
            <p:cNvCxnSpPr>
              <a:cxnSpLocks/>
              <a:stCxn id="44" idx="0"/>
            </p:cNvCxnSpPr>
            <p:nvPr/>
          </p:nvCxnSpPr>
          <p:spPr>
            <a:xfrm flipH="1" flipV="1">
              <a:off x="1397252" y="3905679"/>
              <a:ext cx="549453" cy="120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1" name="Content Placeholder 2">
            <a:extLst>
              <a:ext uri="{FF2B5EF4-FFF2-40B4-BE49-F238E27FC236}">
                <a16:creationId xmlns:a16="http://schemas.microsoft.com/office/drawing/2014/main" id="{545C34E7-E047-6542-BBB8-C24D3E4A6E61}"/>
              </a:ext>
            </a:extLst>
          </p:cNvPr>
          <p:cNvSpPr>
            <a:spLocks noGrp="1"/>
          </p:cNvSpPr>
          <p:nvPr>
            <p:ph idx="1"/>
          </p:nvPr>
        </p:nvSpPr>
        <p:spPr>
          <a:xfrm>
            <a:off x="151486" y="5785355"/>
            <a:ext cx="11578281" cy="923329"/>
          </a:xfrm>
        </p:spPr>
        <p:txBody>
          <a:bodyPr>
            <a:normAutofit fontScale="92500"/>
          </a:bodyPr>
          <a:lstStyle/>
          <a:p>
            <a:r>
              <a:rPr lang="en-US" altLang="it-IT"/>
              <a:t>This quantum program (or quantum circuit) is run multiple times. At the end, the quantum computer returns the measurement result of each independent shot.</a:t>
            </a:r>
          </a:p>
        </p:txBody>
      </p:sp>
      <p:grpSp>
        <p:nvGrpSpPr>
          <p:cNvPr id="56" name="Group 55">
            <a:extLst>
              <a:ext uri="{FF2B5EF4-FFF2-40B4-BE49-F238E27FC236}">
                <a16:creationId xmlns:a16="http://schemas.microsoft.com/office/drawing/2014/main" id="{370B10FC-A1B2-75B5-B024-1A577BCE8159}"/>
              </a:ext>
            </a:extLst>
          </p:cNvPr>
          <p:cNvGrpSpPr/>
          <p:nvPr/>
        </p:nvGrpSpPr>
        <p:grpSpPr>
          <a:xfrm>
            <a:off x="1223520" y="2533952"/>
            <a:ext cx="9335094" cy="1396474"/>
            <a:chOff x="1223520" y="2533952"/>
            <a:chExt cx="9335094" cy="1396474"/>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C96894F4-1BEA-2546-A87C-10220C733655}"/>
                    </a:ext>
                  </a:extLst>
                </p:cNvPr>
                <p:cNvSpPr txBox="1"/>
                <p:nvPr/>
              </p:nvSpPr>
              <p:spPr>
                <a:xfrm>
                  <a:off x="1223520" y="2908307"/>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|0⟩</m:t>
                        </m:r>
                      </m:oMath>
                    </m:oMathPara>
                  </a14:m>
                  <a:endParaRPr lang="en-IT" sz="2000"/>
                </a:p>
              </p:txBody>
            </p:sp>
          </mc:Choice>
          <mc:Fallback>
            <p:sp>
              <p:nvSpPr>
                <p:cNvPr id="14" name="TextBox 13">
                  <a:extLst>
                    <a:ext uri="{FF2B5EF4-FFF2-40B4-BE49-F238E27FC236}">
                      <a16:creationId xmlns:a16="http://schemas.microsoft.com/office/drawing/2014/main" id="{C96894F4-1BEA-2546-A87C-10220C733655}"/>
                    </a:ext>
                  </a:extLst>
                </p:cNvPr>
                <p:cNvSpPr txBox="1">
                  <a:spLocks noRot="1" noChangeAspect="1" noMove="1" noResize="1" noEditPoints="1" noAdjustHandles="1" noChangeArrowheads="1" noChangeShapeType="1" noTextEdit="1"/>
                </p:cNvSpPr>
                <p:nvPr/>
              </p:nvSpPr>
              <p:spPr>
                <a:xfrm>
                  <a:off x="1223520" y="2908307"/>
                  <a:ext cx="283225" cy="307777"/>
                </a:xfrm>
                <a:prstGeom prst="rect">
                  <a:avLst/>
                </a:prstGeom>
                <a:blipFill>
                  <a:blip r:embed="rId4"/>
                  <a:stretch>
                    <a:fillRect l="-43478" r="-52174" b="-33333"/>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15D1F71D-DF4C-D042-B9BE-824FAFD09D0A}"/>
                </a:ext>
              </a:extLst>
            </p:cNvPr>
            <p:cNvCxnSpPr>
              <a:cxnSpLocks/>
              <a:endCxn id="30" idx="1"/>
            </p:cNvCxnSpPr>
            <p:nvPr/>
          </p:nvCxnSpPr>
          <p:spPr>
            <a:xfrm flipV="1">
              <a:off x="1633386" y="3047569"/>
              <a:ext cx="6501774" cy="146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BC4D3EED-03C7-9F4F-806D-D65A36CD99FE}"/>
                </a:ext>
              </a:extLst>
            </p:cNvPr>
            <p:cNvSpPr/>
            <p:nvPr/>
          </p:nvSpPr>
          <p:spPr>
            <a:xfrm>
              <a:off x="2042293" y="2626408"/>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H</a:t>
              </a:r>
            </a:p>
            <a:p>
              <a:pPr algn="ctr"/>
              <a:endParaRPr lang="it-IT"/>
            </a:p>
          </p:txBody>
        </p:sp>
        <p:pic>
          <p:nvPicPr>
            <p:cNvPr id="30" name="Picture 29">
              <a:extLst>
                <a:ext uri="{FF2B5EF4-FFF2-40B4-BE49-F238E27FC236}">
                  <a16:creationId xmlns:a16="http://schemas.microsoft.com/office/drawing/2014/main" id="{4B9DF4A1-F519-434F-ACBE-90F737638B43}"/>
                </a:ext>
              </a:extLst>
            </p:cNvPr>
            <p:cNvPicPr>
              <a:picLocks noChangeAspect="1"/>
            </p:cNvPicPr>
            <p:nvPr/>
          </p:nvPicPr>
          <p:blipFill>
            <a:blip r:embed="rId5"/>
            <a:stretch>
              <a:fillRect/>
            </a:stretch>
          </p:blipFill>
          <p:spPr>
            <a:xfrm>
              <a:off x="8135160" y="2533952"/>
              <a:ext cx="1743909" cy="1027234"/>
            </a:xfrm>
            <a:prstGeom prst="rect">
              <a:avLst/>
            </a:prstGeom>
          </p:spPr>
        </p:pic>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96B5BF3D-469E-DC87-DF13-88BC0A6A6C6F}"/>
                    </a:ext>
                  </a:extLst>
                </p:cNvPr>
                <p:cNvSpPr txBox="1"/>
                <p:nvPr/>
              </p:nvSpPr>
              <p:spPr>
                <a:xfrm>
                  <a:off x="3191227" y="3622649"/>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33" name="TextBox 32">
                  <a:extLst>
                    <a:ext uri="{FF2B5EF4-FFF2-40B4-BE49-F238E27FC236}">
                      <a16:creationId xmlns:a16="http://schemas.microsoft.com/office/drawing/2014/main" id="{96B5BF3D-469E-DC87-DF13-88BC0A6A6C6F}"/>
                    </a:ext>
                  </a:extLst>
                </p:cNvPr>
                <p:cNvSpPr txBox="1">
                  <a:spLocks noRot="1" noChangeAspect="1" noMove="1" noResize="1" noEditPoints="1" noAdjustHandles="1" noChangeArrowheads="1" noChangeShapeType="1" noTextEdit="1"/>
                </p:cNvSpPr>
                <p:nvPr/>
              </p:nvSpPr>
              <p:spPr>
                <a:xfrm>
                  <a:off x="3191227" y="3622649"/>
                  <a:ext cx="283225" cy="307777"/>
                </a:xfrm>
                <a:prstGeom prst="rect">
                  <a:avLst/>
                </a:prstGeom>
                <a:blipFill>
                  <a:blip r:embed="rId6"/>
                  <a:stretch>
                    <a:fillRect l="-40426" r="-97872" b="-3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281E909-0E12-48A0-7E85-B51ADE44D3CB}"/>
                    </a:ext>
                  </a:extLst>
                </p:cNvPr>
                <p:cNvSpPr txBox="1"/>
                <p:nvPr/>
              </p:nvSpPr>
              <p:spPr>
                <a:xfrm>
                  <a:off x="4881951" y="3597798"/>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35" name="TextBox 34">
                  <a:extLst>
                    <a:ext uri="{FF2B5EF4-FFF2-40B4-BE49-F238E27FC236}">
                      <a16:creationId xmlns:a16="http://schemas.microsoft.com/office/drawing/2014/main" id="{7281E909-0E12-48A0-7E85-B51ADE44D3CB}"/>
                    </a:ext>
                  </a:extLst>
                </p:cNvPr>
                <p:cNvSpPr txBox="1">
                  <a:spLocks noRot="1" noChangeAspect="1" noMove="1" noResize="1" noEditPoints="1" noAdjustHandles="1" noChangeArrowheads="1" noChangeShapeType="1" noTextEdit="1"/>
                </p:cNvSpPr>
                <p:nvPr/>
              </p:nvSpPr>
              <p:spPr>
                <a:xfrm>
                  <a:off x="4881951" y="3597798"/>
                  <a:ext cx="283225" cy="307777"/>
                </a:xfrm>
                <a:prstGeom prst="rect">
                  <a:avLst/>
                </a:prstGeom>
                <a:blipFill>
                  <a:blip r:embed="rId7"/>
                  <a:stretch>
                    <a:fillRect l="-43478" r="-123913" b="-3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13E65754-1035-D3A5-B9A8-CAE089EC500F}"/>
                    </a:ext>
                  </a:extLst>
                </p:cNvPr>
                <p:cNvSpPr txBox="1"/>
                <p:nvPr/>
              </p:nvSpPr>
              <p:spPr>
                <a:xfrm>
                  <a:off x="6599188" y="3595361"/>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36" name="TextBox 35">
                  <a:extLst>
                    <a:ext uri="{FF2B5EF4-FFF2-40B4-BE49-F238E27FC236}">
                      <a16:creationId xmlns:a16="http://schemas.microsoft.com/office/drawing/2014/main" id="{13E65754-1035-D3A5-B9A8-CAE089EC500F}"/>
                    </a:ext>
                  </a:extLst>
                </p:cNvPr>
                <p:cNvSpPr txBox="1">
                  <a:spLocks noRot="1" noChangeAspect="1" noMove="1" noResize="1" noEditPoints="1" noAdjustHandles="1" noChangeArrowheads="1" noChangeShapeType="1" noTextEdit="1"/>
                </p:cNvSpPr>
                <p:nvPr/>
              </p:nvSpPr>
              <p:spPr>
                <a:xfrm>
                  <a:off x="6599188" y="3595361"/>
                  <a:ext cx="283225" cy="307777"/>
                </a:xfrm>
                <a:prstGeom prst="rect">
                  <a:avLst/>
                </a:prstGeom>
                <a:blipFill>
                  <a:blip r:embed="rId8"/>
                  <a:stretch>
                    <a:fillRect l="-43478" r="-147826" b="-3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9CF3C886-52E3-7000-7E41-30D4668CBEED}"/>
                    </a:ext>
                  </a:extLst>
                </p:cNvPr>
                <p:cNvSpPr txBox="1"/>
                <p:nvPr/>
              </p:nvSpPr>
              <p:spPr>
                <a:xfrm>
                  <a:off x="8316425" y="3578442"/>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39" name="TextBox 38">
                  <a:extLst>
                    <a:ext uri="{FF2B5EF4-FFF2-40B4-BE49-F238E27FC236}">
                      <a16:creationId xmlns:a16="http://schemas.microsoft.com/office/drawing/2014/main" id="{9CF3C886-52E3-7000-7E41-30D4668CBEED}"/>
                    </a:ext>
                  </a:extLst>
                </p:cNvPr>
                <p:cNvSpPr txBox="1">
                  <a:spLocks noRot="1" noChangeAspect="1" noMove="1" noResize="1" noEditPoints="1" noAdjustHandles="1" noChangeArrowheads="1" noChangeShapeType="1" noTextEdit="1"/>
                </p:cNvSpPr>
                <p:nvPr/>
              </p:nvSpPr>
              <p:spPr>
                <a:xfrm>
                  <a:off x="8316425" y="3578442"/>
                  <a:ext cx="283225" cy="307777"/>
                </a:xfrm>
                <a:prstGeom prst="rect">
                  <a:avLst/>
                </a:prstGeom>
                <a:blipFill>
                  <a:blip r:embed="rId9"/>
                  <a:stretch>
                    <a:fillRect l="-40426" r="-168085" b="-33333"/>
                  </a:stretch>
                </a:blipFill>
              </p:spPr>
              <p:txBody>
                <a:bodyPr/>
                <a:lstStyle/>
                <a:p>
                  <a:r>
                    <a:rPr lang="en-US">
                      <a:noFill/>
                    </a:rPr>
                    <a:t> </a:t>
                  </a:r>
                </a:p>
              </p:txBody>
            </p:sp>
          </mc:Fallback>
        </mc:AlternateContent>
        <p:sp>
          <p:nvSpPr>
            <p:cNvPr id="46" name="Rectangle 45">
              <a:extLst>
                <a:ext uri="{FF2B5EF4-FFF2-40B4-BE49-F238E27FC236}">
                  <a16:creationId xmlns:a16="http://schemas.microsoft.com/office/drawing/2014/main" id="{0B58BE95-196A-CB17-D5CA-445D5B8A6F17}"/>
                </a:ext>
              </a:extLst>
            </p:cNvPr>
            <p:cNvSpPr/>
            <p:nvPr/>
          </p:nvSpPr>
          <p:spPr>
            <a:xfrm>
              <a:off x="3756521" y="2626408"/>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Z</a:t>
              </a:r>
            </a:p>
            <a:p>
              <a:pPr algn="ctr"/>
              <a:endParaRPr lang="it-IT"/>
            </a:p>
          </p:txBody>
        </p:sp>
        <p:sp>
          <p:nvSpPr>
            <p:cNvPr id="47" name="Rectangle 46">
              <a:extLst>
                <a:ext uri="{FF2B5EF4-FFF2-40B4-BE49-F238E27FC236}">
                  <a16:creationId xmlns:a16="http://schemas.microsoft.com/office/drawing/2014/main" id="{AB0830A9-DD74-BE7D-8977-EE1ADBBE4483}"/>
                </a:ext>
              </a:extLst>
            </p:cNvPr>
            <p:cNvSpPr/>
            <p:nvPr/>
          </p:nvSpPr>
          <p:spPr>
            <a:xfrm>
              <a:off x="5470749" y="2626192"/>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S</a:t>
              </a:r>
            </a:p>
            <a:p>
              <a:pPr algn="ctr"/>
              <a:endParaRPr lang="it-IT"/>
            </a:p>
          </p:txBody>
        </p:sp>
        <p:sp>
          <p:nvSpPr>
            <p:cNvPr id="48" name="Rectangle 47">
              <a:extLst>
                <a:ext uri="{FF2B5EF4-FFF2-40B4-BE49-F238E27FC236}">
                  <a16:creationId xmlns:a16="http://schemas.microsoft.com/office/drawing/2014/main" id="{B116668A-6885-988D-1F62-DC9655970EFF}"/>
                </a:ext>
              </a:extLst>
            </p:cNvPr>
            <p:cNvSpPr/>
            <p:nvPr/>
          </p:nvSpPr>
          <p:spPr>
            <a:xfrm>
              <a:off x="7184977" y="2599013"/>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T</a:t>
              </a:r>
            </a:p>
            <a:p>
              <a:pPr algn="ctr"/>
              <a:endParaRPr lang="it-IT"/>
            </a:p>
          </p:txBody>
        </p:sp>
        <p:cxnSp>
          <p:nvCxnSpPr>
            <p:cNvPr id="8" name="Straight Connector 7">
              <a:extLst>
                <a:ext uri="{FF2B5EF4-FFF2-40B4-BE49-F238E27FC236}">
                  <a16:creationId xmlns:a16="http://schemas.microsoft.com/office/drawing/2014/main" id="{99AC8052-356C-4026-3935-C69DD1E5937C}"/>
                </a:ext>
              </a:extLst>
            </p:cNvPr>
            <p:cNvCxnSpPr>
              <a:cxnSpLocks/>
            </p:cNvCxnSpPr>
            <p:nvPr/>
          </p:nvCxnSpPr>
          <p:spPr>
            <a:xfrm>
              <a:off x="3390495" y="2608936"/>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476F894A-F371-0266-999C-AB6AEE4952AD}"/>
                </a:ext>
              </a:extLst>
            </p:cNvPr>
            <p:cNvCxnSpPr>
              <a:cxnSpLocks/>
            </p:cNvCxnSpPr>
            <p:nvPr/>
          </p:nvCxnSpPr>
          <p:spPr>
            <a:xfrm>
              <a:off x="5123170" y="2626192"/>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A0DB26A6-2E7A-51B2-48AD-0F1A72B5AF57}"/>
                </a:ext>
              </a:extLst>
            </p:cNvPr>
            <p:cNvCxnSpPr>
              <a:cxnSpLocks/>
            </p:cNvCxnSpPr>
            <p:nvPr/>
          </p:nvCxnSpPr>
          <p:spPr>
            <a:xfrm>
              <a:off x="6844218" y="2608936"/>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A28984B3-3F46-325E-90BD-3E0851ABABC0}"/>
                </a:ext>
              </a:extLst>
            </p:cNvPr>
            <p:cNvCxnSpPr>
              <a:cxnSpLocks/>
            </p:cNvCxnSpPr>
            <p:nvPr/>
          </p:nvCxnSpPr>
          <p:spPr>
            <a:xfrm>
              <a:off x="9879069" y="3054882"/>
              <a:ext cx="679545" cy="0"/>
            </a:xfrm>
            <a:prstGeom prst="line">
              <a:avLst/>
            </a:prstGeom>
            <a:ln w="28575">
              <a:prstDash val="soli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0D7950B9-587B-C871-7645-10E0626363A1}"/>
                </a:ext>
              </a:extLst>
            </p:cNvPr>
            <p:cNvCxnSpPr>
              <a:cxnSpLocks/>
            </p:cNvCxnSpPr>
            <p:nvPr/>
          </p:nvCxnSpPr>
          <p:spPr>
            <a:xfrm>
              <a:off x="8549933" y="2607113"/>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D567B261-871E-DCFD-2497-ABE6D6AC05F6}"/>
                </a:ext>
              </a:extLst>
            </p:cNvPr>
            <p:cNvCxnSpPr>
              <a:cxnSpLocks/>
            </p:cNvCxnSpPr>
            <p:nvPr/>
          </p:nvCxnSpPr>
          <p:spPr>
            <a:xfrm>
              <a:off x="10192991" y="2578757"/>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55" name="TextBox 54">
                  <a:extLst>
                    <a:ext uri="{FF2B5EF4-FFF2-40B4-BE49-F238E27FC236}">
                      <a16:creationId xmlns:a16="http://schemas.microsoft.com/office/drawing/2014/main" id="{621C0338-9DA0-BE0D-CE80-DB304AB55D06}"/>
                    </a:ext>
                  </a:extLst>
                </p:cNvPr>
                <p:cNvSpPr txBox="1"/>
                <p:nvPr/>
              </p:nvSpPr>
              <p:spPr>
                <a:xfrm>
                  <a:off x="9972422" y="3529808"/>
                  <a:ext cx="283225" cy="32060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r>
                              <a:rPr lang="it-IT" sz="2000" b="0" i="1" smtClean="0">
                                <a:latin typeface="Cambria Math" panose="02040503050406030204" pitchFamily="18" charset="0"/>
                              </a:rPr>
                              <m:t>𝑝𝑚</m:t>
                            </m:r>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55" name="TextBox 54">
                  <a:extLst>
                    <a:ext uri="{FF2B5EF4-FFF2-40B4-BE49-F238E27FC236}">
                      <a16:creationId xmlns:a16="http://schemas.microsoft.com/office/drawing/2014/main" id="{621C0338-9DA0-BE0D-CE80-DB304AB55D06}"/>
                    </a:ext>
                  </a:extLst>
                </p:cNvPr>
                <p:cNvSpPr txBox="1">
                  <a:spLocks noRot="1" noChangeAspect="1" noMove="1" noResize="1" noEditPoints="1" noAdjustHandles="1" noChangeArrowheads="1" noChangeShapeType="1" noTextEdit="1"/>
                </p:cNvSpPr>
                <p:nvPr/>
              </p:nvSpPr>
              <p:spPr>
                <a:xfrm>
                  <a:off x="9972422" y="3529808"/>
                  <a:ext cx="283225" cy="320601"/>
                </a:xfrm>
                <a:prstGeom prst="rect">
                  <a:avLst/>
                </a:prstGeom>
                <a:blipFill>
                  <a:blip r:embed="rId10"/>
                  <a:stretch>
                    <a:fillRect l="-43478" t="-7547" r="-234783" b="-32075"/>
                  </a:stretch>
                </a:blipFill>
              </p:spPr>
              <p:txBody>
                <a:bodyPr/>
                <a:lstStyle/>
                <a:p>
                  <a:r>
                    <a:rPr lang="en-US">
                      <a:noFill/>
                    </a:rPr>
                    <a:t> </a:t>
                  </a:r>
                </a:p>
              </p:txBody>
            </p:sp>
          </mc:Fallback>
        </mc:AlternateContent>
      </p:grpSp>
    </p:spTree>
    <p:extLst>
      <p:ext uri="{BB962C8B-B14F-4D97-AF65-F5344CB8AC3E}">
        <p14:creationId xmlns:p14="http://schemas.microsoft.com/office/powerpoint/2010/main" val="200486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0C33-3CF1-2E44-8F5A-E45096FA34B7}"/>
              </a:ext>
            </a:extLst>
          </p:cNvPr>
          <p:cNvSpPr>
            <a:spLocks noGrp="1"/>
          </p:cNvSpPr>
          <p:nvPr>
            <p:ph type="title"/>
          </p:nvPr>
        </p:nvSpPr>
        <p:spPr/>
        <p:txBody>
          <a:bodyPr/>
          <a:lstStyle/>
          <a:p>
            <a:r>
              <a:rPr lang="en-IT"/>
              <a:t>Quantum Program: Example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C0C75E3-462F-2944-8F1C-E773E49225B3}"/>
                  </a:ext>
                </a:extLst>
              </p:cNvPr>
              <p:cNvSpPr>
                <a:spLocks noGrp="1"/>
              </p:cNvSpPr>
              <p:nvPr>
                <p:ph idx="1"/>
              </p:nvPr>
            </p:nvSpPr>
            <p:spPr/>
            <p:txBody>
              <a:bodyPr/>
              <a:lstStyle/>
              <a:p>
                <a:r>
                  <a:rPr lang="en-IT"/>
                  <a:t>Exercise: compute the intermediate state vectors  </a:t>
                </a:r>
                <a14:m>
                  <m:oMath xmlns:m="http://schemas.openxmlformats.org/officeDocument/2006/math">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sSup>
                          <m:sSupPr>
                            <m:ctrlPr>
                              <a:rPr lang="it-IT" b="0" i="1" smtClean="0">
                                <a:latin typeface="Cambria Math" panose="02040503050406030204" pitchFamily="18" charset="0"/>
                              </a:rPr>
                            </m:ctrlPr>
                          </m:sSupPr>
                          <m:e>
                            <m:r>
                              <a:rPr lang="it-IT" b="0" i="1" smtClean="0">
                                <a:latin typeface="Cambria Math" panose="02040503050406030204" pitchFamily="18" charset="0"/>
                                <a:ea typeface="Cambria Math" panose="02040503050406030204" pitchFamily="18" charset="0"/>
                              </a:rPr>
                              <m:t>𝜓</m:t>
                            </m:r>
                          </m:e>
                          <m:sup>
                            <m:r>
                              <a:rPr lang="it-IT" b="0" i="1" smtClean="0">
                                <a:latin typeface="Cambria Math" panose="02040503050406030204" pitchFamily="18" charset="0"/>
                              </a:rPr>
                              <m:t>′</m:t>
                            </m:r>
                          </m:sup>
                        </m:sSup>
                      </m:e>
                    </m:d>
                  </m:oMath>
                </a14:m>
                <a:r>
                  <a:rPr lang="en-IT">
                    <a:solidFill>
                      <a:srgbClr val="0F406B"/>
                    </a:solidFill>
                  </a:rPr>
                  <a:t>,</a:t>
                </a:r>
                <a:r>
                  <a:rPr lang="it-IT"/>
                  <a:t> </a:t>
                </a:r>
                <a14:m>
                  <m:oMath xmlns:m="http://schemas.openxmlformats.org/officeDocument/2006/math">
                    <m:r>
                      <a:rPr lang="it-IT" i="1">
                        <a:latin typeface="Cambria Math" panose="02040503050406030204" pitchFamily="18" charset="0"/>
                      </a:rPr>
                      <m:t>|</m:t>
                    </m:r>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r>
                              <a:rPr lang="it-IT" b="0" i="1" smtClean="0">
                                <a:latin typeface="Cambria Math" panose="02040503050406030204" pitchFamily="18" charset="0"/>
                              </a:rPr>
                              <m:t>′</m:t>
                            </m:r>
                          </m:sup>
                        </m:sSup>
                      </m:e>
                    </m:d>
                  </m:oMath>
                </a14:m>
                <a:r>
                  <a:rPr lang="en-IT">
                    <a:solidFill>
                      <a:srgbClr val="0F406B"/>
                    </a:solidFill>
                  </a:rPr>
                  <a:t>,</a:t>
                </a:r>
                <a:r>
                  <a:rPr lang="it-IT"/>
                  <a:t> </a:t>
                </a:r>
                <a14:m>
                  <m:oMath xmlns:m="http://schemas.openxmlformats.org/officeDocument/2006/math">
                    <m:r>
                      <a:rPr lang="it-IT" i="1">
                        <a:latin typeface="Cambria Math" panose="02040503050406030204" pitchFamily="18" charset="0"/>
                      </a:rPr>
                      <m:t>|</m:t>
                    </m:r>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r>
                              <a:rPr lang="it-IT" b="0" i="1" smtClean="0">
                                <a:latin typeface="Cambria Math" panose="02040503050406030204" pitchFamily="18" charset="0"/>
                              </a:rPr>
                              <m:t>′′</m:t>
                            </m:r>
                          </m:sup>
                        </m:sSup>
                      </m:e>
                    </m:d>
                  </m:oMath>
                </a14:m>
                <a:r>
                  <a:rPr lang="en-IT">
                    <a:solidFill>
                      <a:srgbClr val="0F406B"/>
                    </a:solidFill>
                  </a:rPr>
                  <a:t>,</a:t>
                </a:r>
                <a:r>
                  <a:rPr lang="it-IT"/>
                  <a:t> </a:t>
                </a:r>
                <a14:m>
                  <m:oMath xmlns:m="http://schemas.openxmlformats.org/officeDocument/2006/math">
                    <m:r>
                      <a:rPr lang="it-IT" i="1">
                        <a:latin typeface="Cambria Math" panose="02040503050406030204" pitchFamily="18" charset="0"/>
                      </a:rPr>
                      <m:t>|</m:t>
                    </m:r>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r>
                              <a:rPr lang="it-IT" b="0" i="1" smtClean="0">
                                <a:latin typeface="Cambria Math" panose="02040503050406030204" pitchFamily="18" charset="0"/>
                              </a:rPr>
                              <m:t>′′′</m:t>
                            </m:r>
                          </m:sup>
                        </m:sSup>
                      </m:e>
                    </m:d>
                  </m:oMath>
                </a14:m>
                <a:r>
                  <a:rPr lang="en-IT">
                    <a:solidFill>
                      <a:srgbClr val="0F406B"/>
                    </a:solidFill>
                  </a:rPr>
                  <a:t>, and the post measurement state (along the CBS)</a:t>
                </a:r>
                <a:r>
                  <a:rPr lang="it-IT"/>
                  <a:t> </a:t>
                </a:r>
                <a14:m>
                  <m:oMath xmlns:m="http://schemas.openxmlformats.org/officeDocument/2006/math">
                    <m:r>
                      <a:rPr lang="it-IT" i="1">
                        <a:latin typeface="Cambria Math" panose="02040503050406030204" pitchFamily="18" charset="0"/>
                      </a:rPr>
                      <m:t>|</m:t>
                    </m:r>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𝑝𝑚</m:t>
                            </m:r>
                            <m:r>
                              <a:rPr lang="it-IT" b="0" i="1" smtClean="0">
                                <a:latin typeface="Cambria Math" panose="02040503050406030204" pitchFamily="18" charset="0"/>
                                <a:ea typeface="Cambria Math" panose="02040503050406030204" pitchFamily="18" charset="0"/>
                              </a:rPr>
                              <m:t>)</m:t>
                            </m:r>
                          </m:sup>
                        </m:sSup>
                      </m:e>
                    </m:d>
                  </m:oMath>
                </a14:m>
                <a:r>
                  <a:rPr lang="en-IT">
                    <a:solidFill>
                      <a:srgbClr val="0F406B"/>
                    </a:solidFill>
                  </a:rPr>
                  <a:t>.</a:t>
                </a:r>
              </a:p>
            </p:txBody>
          </p:sp>
        </mc:Choice>
        <mc:Fallback>
          <p:sp>
            <p:nvSpPr>
              <p:cNvPr id="3" name="Content Placeholder 2">
                <a:extLst>
                  <a:ext uri="{FF2B5EF4-FFF2-40B4-BE49-F238E27FC236}">
                    <a16:creationId xmlns:a16="http://schemas.microsoft.com/office/drawing/2014/main" id="{AC0C75E3-462F-2944-8F1C-E773E49225B3}"/>
                  </a:ext>
                </a:extLst>
              </p:cNvPr>
              <p:cNvSpPr>
                <a:spLocks noGrp="1" noRot="1" noChangeAspect="1" noMove="1" noResize="1" noEditPoints="1" noAdjustHandles="1" noChangeArrowheads="1" noChangeShapeType="1" noTextEdit="1"/>
              </p:cNvSpPr>
              <p:nvPr>
                <p:ph idx="1"/>
              </p:nvPr>
            </p:nvSpPr>
            <p:spPr>
              <a:blipFill>
                <a:blip r:embed="rId2"/>
                <a:stretch>
                  <a:fillRect l="-948" t="-2241"/>
                </a:stretch>
              </a:blipFill>
            </p:spPr>
            <p:txBody>
              <a:bodyPr/>
              <a:lstStyle/>
              <a:p>
                <a:r>
                  <a:rPr lang="en-US">
                    <a:noFill/>
                  </a:rPr>
                  <a:t> </a:t>
                </a:r>
              </a:p>
            </p:txBody>
          </p:sp>
        </mc:Fallback>
      </mc:AlternateContent>
      <p:grpSp>
        <p:nvGrpSpPr>
          <p:cNvPr id="31" name="Group 30">
            <a:extLst>
              <a:ext uri="{FF2B5EF4-FFF2-40B4-BE49-F238E27FC236}">
                <a16:creationId xmlns:a16="http://schemas.microsoft.com/office/drawing/2014/main" id="{9DFFBE82-940B-D512-4371-FD97D3AF7D41}"/>
              </a:ext>
            </a:extLst>
          </p:cNvPr>
          <p:cNvGrpSpPr/>
          <p:nvPr/>
        </p:nvGrpSpPr>
        <p:grpSpPr>
          <a:xfrm>
            <a:off x="1287528" y="3135583"/>
            <a:ext cx="9335094" cy="1396474"/>
            <a:chOff x="1223520" y="2533952"/>
            <a:chExt cx="9335094" cy="1396474"/>
          </a:xfrm>
        </p:grpSpPr>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2B03DA0B-E30D-15E8-5A8D-FE888C0FDCB8}"/>
                    </a:ext>
                  </a:extLst>
                </p:cNvPr>
                <p:cNvSpPr txBox="1"/>
                <p:nvPr/>
              </p:nvSpPr>
              <p:spPr>
                <a:xfrm>
                  <a:off x="1223520" y="2908307"/>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|0⟩</m:t>
                        </m:r>
                      </m:oMath>
                    </m:oMathPara>
                  </a14:m>
                  <a:endParaRPr lang="en-IT" sz="2000"/>
                </a:p>
              </p:txBody>
            </p:sp>
          </mc:Choice>
          <mc:Fallback>
            <p:sp>
              <p:nvSpPr>
                <p:cNvPr id="32" name="TextBox 31">
                  <a:extLst>
                    <a:ext uri="{FF2B5EF4-FFF2-40B4-BE49-F238E27FC236}">
                      <a16:creationId xmlns:a16="http://schemas.microsoft.com/office/drawing/2014/main" id="{2B03DA0B-E30D-15E8-5A8D-FE888C0FDCB8}"/>
                    </a:ext>
                  </a:extLst>
                </p:cNvPr>
                <p:cNvSpPr txBox="1">
                  <a:spLocks noRot="1" noChangeAspect="1" noMove="1" noResize="1" noEditPoints="1" noAdjustHandles="1" noChangeArrowheads="1" noChangeShapeType="1" noTextEdit="1"/>
                </p:cNvSpPr>
                <p:nvPr/>
              </p:nvSpPr>
              <p:spPr>
                <a:xfrm>
                  <a:off x="1223520" y="2908307"/>
                  <a:ext cx="283225" cy="307777"/>
                </a:xfrm>
                <a:prstGeom prst="rect">
                  <a:avLst/>
                </a:prstGeom>
                <a:blipFill>
                  <a:blip r:embed="rId3"/>
                  <a:stretch>
                    <a:fillRect l="-40426" r="-51064" b="-34000"/>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72B32C09-5D5F-68D1-FF0D-4BB9D16B3132}"/>
                </a:ext>
              </a:extLst>
            </p:cNvPr>
            <p:cNvCxnSpPr>
              <a:cxnSpLocks/>
              <a:endCxn id="35" idx="1"/>
            </p:cNvCxnSpPr>
            <p:nvPr/>
          </p:nvCxnSpPr>
          <p:spPr>
            <a:xfrm flipV="1">
              <a:off x="1695344" y="3047569"/>
              <a:ext cx="6439816" cy="73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2F9EBF83-3029-6BDD-89F2-6364242CF034}"/>
                </a:ext>
              </a:extLst>
            </p:cNvPr>
            <p:cNvSpPr/>
            <p:nvPr/>
          </p:nvSpPr>
          <p:spPr>
            <a:xfrm>
              <a:off x="2042293" y="2626408"/>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H</a:t>
              </a:r>
            </a:p>
            <a:p>
              <a:pPr algn="ctr"/>
              <a:endParaRPr lang="it-IT"/>
            </a:p>
          </p:txBody>
        </p:sp>
        <p:pic>
          <p:nvPicPr>
            <p:cNvPr id="35" name="Picture 34">
              <a:extLst>
                <a:ext uri="{FF2B5EF4-FFF2-40B4-BE49-F238E27FC236}">
                  <a16:creationId xmlns:a16="http://schemas.microsoft.com/office/drawing/2014/main" id="{B32E2A88-7868-77C5-0B8D-8080EEA302BC}"/>
                </a:ext>
              </a:extLst>
            </p:cNvPr>
            <p:cNvPicPr>
              <a:picLocks noChangeAspect="1"/>
            </p:cNvPicPr>
            <p:nvPr/>
          </p:nvPicPr>
          <p:blipFill>
            <a:blip r:embed="rId4"/>
            <a:stretch>
              <a:fillRect/>
            </a:stretch>
          </p:blipFill>
          <p:spPr>
            <a:xfrm>
              <a:off x="8135160" y="2533952"/>
              <a:ext cx="1743909" cy="1027234"/>
            </a:xfrm>
            <a:prstGeom prst="rect">
              <a:avLst/>
            </a:prstGeom>
          </p:spPr>
        </p:pic>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9C4C0F94-D6FB-C7A4-E4EC-33DE67749B06}"/>
                    </a:ext>
                  </a:extLst>
                </p:cNvPr>
                <p:cNvSpPr txBox="1"/>
                <p:nvPr/>
              </p:nvSpPr>
              <p:spPr>
                <a:xfrm>
                  <a:off x="3191227" y="3622649"/>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36" name="TextBox 35">
                  <a:extLst>
                    <a:ext uri="{FF2B5EF4-FFF2-40B4-BE49-F238E27FC236}">
                      <a16:creationId xmlns:a16="http://schemas.microsoft.com/office/drawing/2014/main" id="{9C4C0F94-D6FB-C7A4-E4EC-33DE67749B06}"/>
                    </a:ext>
                  </a:extLst>
                </p:cNvPr>
                <p:cNvSpPr txBox="1">
                  <a:spLocks noRot="1" noChangeAspect="1" noMove="1" noResize="1" noEditPoints="1" noAdjustHandles="1" noChangeArrowheads="1" noChangeShapeType="1" noTextEdit="1"/>
                </p:cNvSpPr>
                <p:nvPr/>
              </p:nvSpPr>
              <p:spPr>
                <a:xfrm>
                  <a:off x="3191227" y="3622649"/>
                  <a:ext cx="283225" cy="307777"/>
                </a:xfrm>
                <a:prstGeom prst="rect">
                  <a:avLst/>
                </a:prstGeom>
                <a:blipFill>
                  <a:blip r:embed="rId5"/>
                  <a:stretch>
                    <a:fillRect l="-43478" r="-100000" b="-3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BE785A54-1367-A478-E9E1-93A2F8184D6B}"/>
                    </a:ext>
                  </a:extLst>
                </p:cNvPr>
                <p:cNvSpPr txBox="1"/>
                <p:nvPr/>
              </p:nvSpPr>
              <p:spPr>
                <a:xfrm>
                  <a:off x="4881951" y="3597798"/>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37" name="TextBox 36">
                  <a:extLst>
                    <a:ext uri="{FF2B5EF4-FFF2-40B4-BE49-F238E27FC236}">
                      <a16:creationId xmlns:a16="http://schemas.microsoft.com/office/drawing/2014/main" id="{BE785A54-1367-A478-E9E1-93A2F8184D6B}"/>
                    </a:ext>
                  </a:extLst>
                </p:cNvPr>
                <p:cNvSpPr txBox="1">
                  <a:spLocks noRot="1" noChangeAspect="1" noMove="1" noResize="1" noEditPoints="1" noAdjustHandles="1" noChangeArrowheads="1" noChangeShapeType="1" noTextEdit="1"/>
                </p:cNvSpPr>
                <p:nvPr/>
              </p:nvSpPr>
              <p:spPr>
                <a:xfrm>
                  <a:off x="4881951" y="3597798"/>
                  <a:ext cx="283225" cy="307777"/>
                </a:xfrm>
                <a:prstGeom prst="rect">
                  <a:avLst/>
                </a:prstGeom>
                <a:blipFill>
                  <a:blip r:embed="rId6"/>
                  <a:stretch>
                    <a:fillRect l="-40426" r="-121277" b="-3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5599EE8-4183-C15B-193D-58529471E88D}"/>
                    </a:ext>
                  </a:extLst>
                </p:cNvPr>
                <p:cNvSpPr txBox="1"/>
                <p:nvPr/>
              </p:nvSpPr>
              <p:spPr>
                <a:xfrm>
                  <a:off x="6599188" y="3595361"/>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38" name="TextBox 37">
                  <a:extLst>
                    <a:ext uri="{FF2B5EF4-FFF2-40B4-BE49-F238E27FC236}">
                      <a16:creationId xmlns:a16="http://schemas.microsoft.com/office/drawing/2014/main" id="{E5599EE8-4183-C15B-193D-58529471E88D}"/>
                    </a:ext>
                  </a:extLst>
                </p:cNvPr>
                <p:cNvSpPr txBox="1">
                  <a:spLocks noRot="1" noChangeAspect="1" noMove="1" noResize="1" noEditPoints="1" noAdjustHandles="1" noChangeArrowheads="1" noChangeShapeType="1" noTextEdit="1"/>
                </p:cNvSpPr>
                <p:nvPr/>
              </p:nvSpPr>
              <p:spPr>
                <a:xfrm>
                  <a:off x="6599188" y="3595361"/>
                  <a:ext cx="283225" cy="307777"/>
                </a:xfrm>
                <a:prstGeom prst="rect">
                  <a:avLst/>
                </a:prstGeom>
                <a:blipFill>
                  <a:blip r:embed="rId7"/>
                  <a:stretch>
                    <a:fillRect l="-40426" r="-144681" b="-3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5E656DAE-18EC-FC73-C61B-958BA5F51640}"/>
                    </a:ext>
                  </a:extLst>
                </p:cNvPr>
                <p:cNvSpPr txBox="1"/>
                <p:nvPr/>
              </p:nvSpPr>
              <p:spPr>
                <a:xfrm>
                  <a:off x="8316425" y="3578442"/>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39" name="TextBox 38">
                  <a:extLst>
                    <a:ext uri="{FF2B5EF4-FFF2-40B4-BE49-F238E27FC236}">
                      <a16:creationId xmlns:a16="http://schemas.microsoft.com/office/drawing/2014/main" id="{5E656DAE-18EC-FC73-C61B-958BA5F51640}"/>
                    </a:ext>
                  </a:extLst>
                </p:cNvPr>
                <p:cNvSpPr txBox="1">
                  <a:spLocks noRot="1" noChangeAspect="1" noMove="1" noResize="1" noEditPoints="1" noAdjustHandles="1" noChangeArrowheads="1" noChangeShapeType="1" noTextEdit="1"/>
                </p:cNvSpPr>
                <p:nvPr/>
              </p:nvSpPr>
              <p:spPr>
                <a:xfrm>
                  <a:off x="8316425" y="3578442"/>
                  <a:ext cx="283225" cy="307777"/>
                </a:xfrm>
                <a:prstGeom prst="rect">
                  <a:avLst/>
                </a:prstGeom>
                <a:blipFill>
                  <a:blip r:embed="rId8"/>
                  <a:stretch>
                    <a:fillRect l="-43478" r="-171739" b="-34000"/>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83C548D7-6F4E-6C30-2366-7889A10919B0}"/>
                </a:ext>
              </a:extLst>
            </p:cNvPr>
            <p:cNvSpPr/>
            <p:nvPr/>
          </p:nvSpPr>
          <p:spPr>
            <a:xfrm>
              <a:off x="3756521" y="2626408"/>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Z</a:t>
              </a:r>
            </a:p>
            <a:p>
              <a:pPr algn="ctr"/>
              <a:endParaRPr lang="it-IT"/>
            </a:p>
          </p:txBody>
        </p:sp>
        <p:sp>
          <p:nvSpPr>
            <p:cNvPr id="41" name="Rectangle 40">
              <a:extLst>
                <a:ext uri="{FF2B5EF4-FFF2-40B4-BE49-F238E27FC236}">
                  <a16:creationId xmlns:a16="http://schemas.microsoft.com/office/drawing/2014/main" id="{139B38E7-EDE0-015D-E38C-E846D65D0685}"/>
                </a:ext>
              </a:extLst>
            </p:cNvPr>
            <p:cNvSpPr/>
            <p:nvPr/>
          </p:nvSpPr>
          <p:spPr>
            <a:xfrm>
              <a:off x="5470749" y="2626192"/>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S</a:t>
              </a:r>
            </a:p>
            <a:p>
              <a:pPr algn="ctr"/>
              <a:endParaRPr lang="it-IT"/>
            </a:p>
          </p:txBody>
        </p:sp>
        <p:sp>
          <p:nvSpPr>
            <p:cNvPr id="42" name="Rectangle 41">
              <a:extLst>
                <a:ext uri="{FF2B5EF4-FFF2-40B4-BE49-F238E27FC236}">
                  <a16:creationId xmlns:a16="http://schemas.microsoft.com/office/drawing/2014/main" id="{1DA54DBD-E84E-B0BF-AFF0-E573BD4404FD}"/>
                </a:ext>
              </a:extLst>
            </p:cNvPr>
            <p:cNvSpPr/>
            <p:nvPr/>
          </p:nvSpPr>
          <p:spPr>
            <a:xfrm>
              <a:off x="7184977" y="2599013"/>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T</a:t>
              </a:r>
            </a:p>
            <a:p>
              <a:pPr algn="ctr"/>
              <a:endParaRPr lang="it-IT"/>
            </a:p>
          </p:txBody>
        </p:sp>
        <p:cxnSp>
          <p:nvCxnSpPr>
            <p:cNvPr id="43" name="Straight Connector 42">
              <a:extLst>
                <a:ext uri="{FF2B5EF4-FFF2-40B4-BE49-F238E27FC236}">
                  <a16:creationId xmlns:a16="http://schemas.microsoft.com/office/drawing/2014/main" id="{F00C7688-DE7C-E1CA-873F-A64A255F036C}"/>
                </a:ext>
              </a:extLst>
            </p:cNvPr>
            <p:cNvCxnSpPr>
              <a:cxnSpLocks/>
            </p:cNvCxnSpPr>
            <p:nvPr/>
          </p:nvCxnSpPr>
          <p:spPr>
            <a:xfrm>
              <a:off x="3390495" y="2608936"/>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131FE84B-6FFA-68D0-FB71-A828A38339C7}"/>
                </a:ext>
              </a:extLst>
            </p:cNvPr>
            <p:cNvCxnSpPr>
              <a:cxnSpLocks/>
            </p:cNvCxnSpPr>
            <p:nvPr/>
          </p:nvCxnSpPr>
          <p:spPr>
            <a:xfrm>
              <a:off x="5123170" y="2626192"/>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EF5D8D4C-778D-576F-397F-9E940EBC9657}"/>
                </a:ext>
              </a:extLst>
            </p:cNvPr>
            <p:cNvCxnSpPr>
              <a:cxnSpLocks/>
            </p:cNvCxnSpPr>
            <p:nvPr/>
          </p:nvCxnSpPr>
          <p:spPr>
            <a:xfrm>
              <a:off x="6844218" y="2608936"/>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BAF0798A-E007-B24D-D612-4E797E1C1AEE}"/>
                </a:ext>
              </a:extLst>
            </p:cNvPr>
            <p:cNvCxnSpPr>
              <a:cxnSpLocks/>
            </p:cNvCxnSpPr>
            <p:nvPr/>
          </p:nvCxnSpPr>
          <p:spPr>
            <a:xfrm>
              <a:off x="9879069" y="3054882"/>
              <a:ext cx="679545" cy="0"/>
            </a:xfrm>
            <a:prstGeom prst="line">
              <a:avLst/>
            </a:prstGeom>
            <a:ln w="28575">
              <a:prstDash val="soli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EF07A567-FD9D-1635-6F43-B18B62DC4CC1}"/>
                </a:ext>
              </a:extLst>
            </p:cNvPr>
            <p:cNvCxnSpPr>
              <a:cxnSpLocks/>
            </p:cNvCxnSpPr>
            <p:nvPr/>
          </p:nvCxnSpPr>
          <p:spPr>
            <a:xfrm>
              <a:off x="8549933" y="2607113"/>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201592F3-3D31-B205-4210-58C490EB670B}"/>
                </a:ext>
              </a:extLst>
            </p:cNvPr>
            <p:cNvCxnSpPr>
              <a:cxnSpLocks/>
            </p:cNvCxnSpPr>
            <p:nvPr/>
          </p:nvCxnSpPr>
          <p:spPr>
            <a:xfrm>
              <a:off x="10192991" y="2578757"/>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7A0E3DF5-9FC1-0224-B529-3C6870E29DFF}"/>
                    </a:ext>
                  </a:extLst>
                </p:cNvPr>
                <p:cNvSpPr txBox="1"/>
                <p:nvPr/>
              </p:nvSpPr>
              <p:spPr>
                <a:xfrm>
                  <a:off x="9972422" y="3529808"/>
                  <a:ext cx="283225" cy="32060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r>
                              <a:rPr lang="it-IT" sz="2000" b="0" i="1" smtClean="0">
                                <a:latin typeface="Cambria Math" panose="02040503050406030204" pitchFamily="18" charset="0"/>
                              </a:rPr>
                              <m:t>𝑝𝑚</m:t>
                            </m:r>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49" name="TextBox 48">
                  <a:extLst>
                    <a:ext uri="{FF2B5EF4-FFF2-40B4-BE49-F238E27FC236}">
                      <a16:creationId xmlns:a16="http://schemas.microsoft.com/office/drawing/2014/main" id="{7A0E3DF5-9FC1-0224-B529-3C6870E29DFF}"/>
                    </a:ext>
                  </a:extLst>
                </p:cNvPr>
                <p:cNvSpPr txBox="1">
                  <a:spLocks noRot="1" noChangeAspect="1" noMove="1" noResize="1" noEditPoints="1" noAdjustHandles="1" noChangeArrowheads="1" noChangeShapeType="1" noTextEdit="1"/>
                </p:cNvSpPr>
                <p:nvPr/>
              </p:nvSpPr>
              <p:spPr>
                <a:xfrm>
                  <a:off x="9972422" y="3529808"/>
                  <a:ext cx="283225" cy="320601"/>
                </a:xfrm>
                <a:prstGeom prst="rect">
                  <a:avLst/>
                </a:prstGeom>
                <a:blipFill>
                  <a:blip r:embed="rId9"/>
                  <a:stretch>
                    <a:fillRect l="-40426" t="-7692" r="-229787" b="-32692"/>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11F60CE-A87F-3EF7-8C8C-B1BC18F92D29}"/>
                  </a:ext>
                </a:extLst>
              </p:cNvPr>
              <p:cNvSpPr txBox="1"/>
              <p:nvPr/>
            </p:nvSpPr>
            <p:spPr>
              <a:xfrm>
                <a:off x="3514056" y="5073888"/>
                <a:ext cx="1912638" cy="6646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𝐻</m:t>
                      </m:r>
                      <m:r>
                        <a:rPr lang="it-IT" b="0" i="1" smtClean="0">
                          <a:latin typeface="Cambria Math" panose="02040503050406030204" pitchFamily="18" charset="0"/>
                        </a:rPr>
                        <m:t>= </m:t>
                      </m:r>
                      <m:f>
                        <m:fPr>
                          <m:ctrlPr>
                            <a:rPr lang="it-IT" b="0" i="1" smtClean="0">
                              <a:latin typeface="Cambria Math" panose="02040503050406030204" pitchFamily="18" charset="0"/>
                            </a:rPr>
                          </m:ctrlPr>
                        </m:fPr>
                        <m:num>
                          <m:r>
                            <a:rPr lang="it-IT" b="0" i="1" smtClean="0">
                              <a:latin typeface="Cambria Math" panose="02040503050406030204" pitchFamily="18" charset="0"/>
                            </a:rPr>
                            <m:t>1</m:t>
                          </m:r>
                        </m:num>
                        <m:den>
                          <m:rad>
                            <m:radPr>
                              <m:degHide m:val="on"/>
                              <m:ctrlPr>
                                <a:rPr lang="it-IT" b="0" i="1" smtClean="0">
                                  <a:latin typeface="Cambria Math" panose="02040503050406030204" pitchFamily="18" charset="0"/>
                                </a:rPr>
                              </m:ctrlPr>
                            </m:radPr>
                            <m:deg/>
                            <m:e>
                              <m:r>
                                <a:rPr lang="it-IT" b="0" i="1" smtClean="0">
                                  <a:latin typeface="Cambria Math" panose="02040503050406030204" pitchFamily="18" charset="0"/>
                                </a:rPr>
                                <m:t>2</m:t>
                              </m:r>
                            </m:e>
                          </m:rad>
                        </m:den>
                      </m:f>
                      <m:d>
                        <m:dPr>
                          <m:begChr m:val="["/>
                          <m:endChr m:val="]"/>
                          <m:ctrlPr>
                            <a:rPr lang="it-IT" b="0" i="1" smtClean="0">
                              <a:latin typeface="Cambria Math" panose="02040503050406030204" pitchFamily="18" charset="0"/>
                            </a:rPr>
                          </m:ctrlPr>
                        </m:dPr>
                        <m:e>
                          <m:m>
                            <m:mPr>
                              <m:mcs>
                                <m:mc>
                                  <m:mcPr>
                                    <m:count m:val="2"/>
                                    <m:mcJc m:val="center"/>
                                  </m:mcPr>
                                </m:mc>
                              </m:mcs>
                              <m:ctrlPr>
                                <a:rPr lang="it-IT" b="0" i="1" smtClean="0">
                                  <a:latin typeface="Cambria Math" panose="02040503050406030204" pitchFamily="18" charset="0"/>
                                </a:rPr>
                              </m:ctrlPr>
                            </m:mPr>
                            <m:mr>
                              <m:e>
                                <m:r>
                                  <m:rPr>
                                    <m:brk m:alnAt="7"/>
                                  </m:rPr>
                                  <a:rPr lang="it-IT" b="0" i="1" smtClean="0">
                                    <a:latin typeface="Cambria Math" panose="02040503050406030204" pitchFamily="18" charset="0"/>
                                  </a:rPr>
                                  <m:t>1</m:t>
                                </m:r>
                              </m:e>
                              <m:e>
                                <m:r>
                                  <a:rPr lang="it-IT" b="0" i="1" smtClean="0">
                                    <a:latin typeface="Cambria Math" panose="02040503050406030204" pitchFamily="18" charset="0"/>
                                  </a:rPr>
                                  <m:t>1</m:t>
                                </m:r>
                              </m:e>
                            </m:mr>
                            <m:mr>
                              <m:e>
                                <m:r>
                                  <a:rPr lang="it-IT" b="0" i="1" smtClean="0">
                                    <a:latin typeface="Cambria Math" panose="02040503050406030204" pitchFamily="18" charset="0"/>
                                  </a:rPr>
                                  <m:t>1</m:t>
                                </m:r>
                              </m:e>
                              <m:e>
                                <m:r>
                                  <a:rPr lang="it-IT" b="0" i="1" smtClean="0">
                                    <a:latin typeface="Cambria Math" panose="02040503050406030204" pitchFamily="18" charset="0"/>
                                  </a:rPr>
                                  <m:t>−1</m:t>
                                </m:r>
                              </m:e>
                            </m:mr>
                          </m:m>
                        </m:e>
                      </m:d>
                    </m:oMath>
                  </m:oMathPara>
                </a14:m>
                <a:endParaRPr lang="en-IT"/>
              </a:p>
            </p:txBody>
          </p:sp>
        </mc:Choice>
        <mc:Fallback>
          <p:sp>
            <p:nvSpPr>
              <p:cNvPr id="19" name="TextBox 18">
                <a:extLst>
                  <a:ext uri="{FF2B5EF4-FFF2-40B4-BE49-F238E27FC236}">
                    <a16:creationId xmlns:a16="http://schemas.microsoft.com/office/drawing/2014/main" id="{011F60CE-A87F-3EF7-8C8C-B1BC18F92D29}"/>
                  </a:ext>
                </a:extLst>
              </p:cNvPr>
              <p:cNvSpPr txBox="1">
                <a:spLocks noRot="1" noChangeAspect="1" noMove="1" noResize="1" noEditPoints="1" noAdjustHandles="1" noChangeArrowheads="1" noChangeShapeType="1" noTextEdit="1"/>
              </p:cNvSpPr>
              <p:nvPr/>
            </p:nvSpPr>
            <p:spPr>
              <a:xfrm>
                <a:off x="3514056" y="5073888"/>
                <a:ext cx="1912638" cy="66460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TextBox 70">
                <a:extLst>
                  <a:ext uri="{FF2B5EF4-FFF2-40B4-BE49-F238E27FC236}">
                    <a16:creationId xmlns:a16="http://schemas.microsoft.com/office/drawing/2014/main" id="{D1C2C1BA-9684-89C8-6FDD-D4FE663F138E}"/>
                  </a:ext>
                </a:extLst>
              </p:cNvPr>
              <p:cNvSpPr txBox="1"/>
              <p:nvPr/>
            </p:nvSpPr>
            <p:spPr>
              <a:xfrm>
                <a:off x="5476737" y="5109497"/>
                <a:ext cx="1509901" cy="5542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𝑍</m:t>
                      </m:r>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m>
                            <m:mPr>
                              <m:mcs>
                                <m:mc>
                                  <m:mcPr>
                                    <m:count m:val="2"/>
                                    <m:mcJc m:val="center"/>
                                  </m:mcPr>
                                </m:mc>
                              </m:mcs>
                              <m:ctrlPr>
                                <a:rPr lang="it-IT" b="0" i="1" smtClean="0">
                                  <a:latin typeface="Cambria Math" panose="02040503050406030204" pitchFamily="18" charset="0"/>
                                </a:rPr>
                              </m:ctrlPr>
                            </m:mPr>
                            <m:mr>
                              <m:e>
                                <m:r>
                                  <m:rPr>
                                    <m:brk m:alnAt="7"/>
                                  </m:rPr>
                                  <a:rPr lang="it-IT" b="0" i="1" smtClean="0">
                                    <a:latin typeface="Cambria Math" panose="02040503050406030204" pitchFamily="18" charset="0"/>
                                  </a:rPr>
                                  <m:t>1</m:t>
                                </m:r>
                              </m:e>
                              <m:e>
                                <m:r>
                                  <a:rPr lang="it-IT" b="0" i="1" smtClean="0">
                                    <a:latin typeface="Cambria Math" panose="02040503050406030204" pitchFamily="18" charset="0"/>
                                  </a:rPr>
                                  <m:t>0</m:t>
                                </m:r>
                              </m:e>
                            </m:mr>
                            <m:mr>
                              <m:e>
                                <m:r>
                                  <a:rPr lang="it-IT" b="0" i="1" smtClean="0">
                                    <a:latin typeface="Cambria Math" panose="02040503050406030204" pitchFamily="18" charset="0"/>
                                  </a:rPr>
                                  <m:t>0</m:t>
                                </m:r>
                              </m:e>
                              <m:e>
                                <m:r>
                                  <a:rPr lang="it-IT" b="0" i="1" smtClean="0">
                                    <a:latin typeface="Cambria Math" panose="02040503050406030204" pitchFamily="18" charset="0"/>
                                  </a:rPr>
                                  <m:t>−1</m:t>
                                </m:r>
                              </m:e>
                            </m:mr>
                          </m:m>
                        </m:e>
                      </m:d>
                    </m:oMath>
                  </m:oMathPara>
                </a14:m>
                <a:endParaRPr lang="en-IT"/>
              </a:p>
            </p:txBody>
          </p:sp>
        </mc:Choice>
        <mc:Fallback>
          <p:sp>
            <p:nvSpPr>
              <p:cNvPr id="71" name="TextBox 70">
                <a:extLst>
                  <a:ext uri="{FF2B5EF4-FFF2-40B4-BE49-F238E27FC236}">
                    <a16:creationId xmlns:a16="http://schemas.microsoft.com/office/drawing/2014/main" id="{D1C2C1BA-9684-89C8-6FDD-D4FE663F138E}"/>
                  </a:ext>
                </a:extLst>
              </p:cNvPr>
              <p:cNvSpPr txBox="1">
                <a:spLocks noRot="1" noChangeAspect="1" noMove="1" noResize="1" noEditPoints="1" noAdjustHandles="1" noChangeArrowheads="1" noChangeShapeType="1" noTextEdit="1"/>
              </p:cNvSpPr>
              <p:nvPr/>
            </p:nvSpPr>
            <p:spPr>
              <a:xfrm>
                <a:off x="5476737" y="5109497"/>
                <a:ext cx="1509901" cy="5542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D680A0DE-3619-673E-B0A0-E591DC895F0D}"/>
                  </a:ext>
                </a:extLst>
              </p:cNvPr>
              <p:cNvSpPr txBox="1"/>
              <p:nvPr/>
            </p:nvSpPr>
            <p:spPr>
              <a:xfrm>
                <a:off x="6946421" y="5092241"/>
                <a:ext cx="1321196" cy="5542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𝑆</m:t>
                      </m:r>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m>
                            <m:mPr>
                              <m:mcs>
                                <m:mc>
                                  <m:mcPr>
                                    <m:count m:val="2"/>
                                    <m:mcJc m:val="center"/>
                                  </m:mcPr>
                                </m:mc>
                              </m:mcs>
                              <m:ctrlPr>
                                <a:rPr lang="it-IT" b="0" i="1" smtClean="0">
                                  <a:latin typeface="Cambria Math" panose="02040503050406030204" pitchFamily="18" charset="0"/>
                                </a:rPr>
                              </m:ctrlPr>
                            </m:mPr>
                            <m:mr>
                              <m:e>
                                <m:r>
                                  <m:rPr>
                                    <m:brk m:alnAt="7"/>
                                  </m:rPr>
                                  <a:rPr lang="it-IT" b="0" i="1" smtClean="0">
                                    <a:latin typeface="Cambria Math" panose="02040503050406030204" pitchFamily="18" charset="0"/>
                                  </a:rPr>
                                  <m:t>1</m:t>
                                </m:r>
                              </m:e>
                              <m:e>
                                <m:r>
                                  <a:rPr lang="it-IT" b="0" i="1" smtClean="0">
                                    <a:latin typeface="Cambria Math" panose="02040503050406030204" pitchFamily="18" charset="0"/>
                                  </a:rPr>
                                  <m:t>0</m:t>
                                </m:r>
                              </m:e>
                            </m:mr>
                            <m:mr>
                              <m:e>
                                <m:r>
                                  <a:rPr lang="it-IT" b="0" i="1" smtClean="0">
                                    <a:latin typeface="Cambria Math" panose="02040503050406030204" pitchFamily="18" charset="0"/>
                                  </a:rPr>
                                  <m:t>0</m:t>
                                </m:r>
                              </m:e>
                              <m:e>
                                <m:r>
                                  <a:rPr lang="it-IT" b="0" i="1" smtClean="0">
                                    <a:latin typeface="Cambria Math" panose="02040503050406030204" pitchFamily="18" charset="0"/>
                                  </a:rPr>
                                  <m:t>𝑖</m:t>
                                </m:r>
                              </m:e>
                            </m:mr>
                          </m:m>
                        </m:e>
                      </m:d>
                    </m:oMath>
                  </m:oMathPara>
                </a14:m>
                <a:endParaRPr lang="en-IT"/>
              </a:p>
            </p:txBody>
          </p:sp>
        </mc:Choice>
        <mc:Fallback>
          <p:sp>
            <p:nvSpPr>
              <p:cNvPr id="72" name="TextBox 71">
                <a:extLst>
                  <a:ext uri="{FF2B5EF4-FFF2-40B4-BE49-F238E27FC236}">
                    <a16:creationId xmlns:a16="http://schemas.microsoft.com/office/drawing/2014/main" id="{D680A0DE-3619-673E-B0A0-E591DC895F0D}"/>
                  </a:ext>
                </a:extLst>
              </p:cNvPr>
              <p:cNvSpPr txBox="1">
                <a:spLocks noRot="1" noChangeAspect="1" noMove="1" noResize="1" noEditPoints="1" noAdjustHandles="1" noChangeArrowheads="1" noChangeShapeType="1" noTextEdit="1"/>
              </p:cNvSpPr>
              <p:nvPr/>
            </p:nvSpPr>
            <p:spPr>
              <a:xfrm>
                <a:off x="6946421" y="5092241"/>
                <a:ext cx="1321196" cy="5542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B3D93871-A7C8-49E9-6F6D-CEB95FF1A791}"/>
                  </a:ext>
                </a:extLst>
              </p:cNvPr>
              <p:cNvSpPr txBox="1"/>
              <p:nvPr/>
            </p:nvSpPr>
            <p:spPr>
              <a:xfrm>
                <a:off x="8267617" y="5073888"/>
                <a:ext cx="1699953" cy="5612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𝑇</m:t>
                      </m:r>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m>
                            <m:mPr>
                              <m:mcs>
                                <m:mc>
                                  <m:mcPr>
                                    <m:count m:val="2"/>
                                    <m:mcJc m:val="center"/>
                                  </m:mcPr>
                                </m:mc>
                              </m:mcs>
                              <m:ctrlPr>
                                <a:rPr lang="it-IT" b="0" i="1" smtClean="0">
                                  <a:latin typeface="Cambria Math" panose="02040503050406030204" pitchFamily="18" charset="0"/>
                                </a:rPr>
                              </m:ctrlPr>
                            </m:mPr>
                            <m:mr>
                              <m:e>
                                <m:r>
                                  <m:rPr>
                                    <m:brk m:alnAt="7"/>
                                  </m:rPr>
                                  <a:rPr lang="it-IT" b="0" i="1" smtClean="0">
                                    <a:latin typeface="Cambria Math" panose="02040503050406030204" pitchFamily="18" charset="0"/>
                                  </a:rPr>
                                  <m:t>1</m:t>
                                </m:r>
                              </m:e>
                              <m:e>
                                <m:r>
                                  <a:rPr lang="it-IT" b="0" i="1" smtClean="0">
                                    <a:latin typeface="Cambria Math" panose="02040503050406030204" pitchFamily="18" charset="0"/>
                                  </a:rPr>
                                  <m:t>0</m:t>
                                </m:r>
                              </m:e>
                            </m:mr>
                            <m:mr>
                              <m:e>
                                <m:r>
                                  <a:rPr lang="it-IT" b="0" i="1" smtClean="0">
                                    <a:latin typeface="Cambria Math" panose="02040503050406030204" pitchFamily="18" charset="0"/>
                                  </a:rPr>
                                  <m:t>0</m:t>
                                </m:r>
                              </m:e>
                              <m:e>
                                <m:sSup>
                                  <m:sSupPr>
                                    <m:ctrlPr>
                                      <a:rPr lang="it-IT" b="0" i="1" smtClean="0">
                                        <a:latin typeface="Cambria Math" panose="02040503050406030204" pitchFamily="18" charset="0"/>
                                      </a:rPr>
                                    </m:ctrlPr>
                                  </m:sSupPr>
                                  <m:e>
                                    <m:r>
                                      <a:rPr lang="it-IT" b="0" i="1" smtClean="0">
                                        <a:latin typeface="Cambria Math" panose="02040503050406030204" pitchFamily="18" charset="0"/>
                                      </a:rPr>
                                      <m:t>𝑒</m:t>
                                    </m:r>
                                  </m:e>
                                  <m:sup>
                                    <m:r>
                                      <a:rPr lang="it-IT" b="0" i="1" smtClean="0">
                                        <a:latin typeface="Cambria Math" panose="02040503050406030204" pitchFamily="18" charset="0"/>
                                      </a:rPr>
                                      <m:t>𝑖</m:t>
                                    </m:r>
                                    <m:r>
                                      <a:rPr lang="it-IT" b="0" i="1" smtClean="0">
                                        <a:latin typeface="Cambria Math" panose="02040503050406030204" pitchFamily="18" charset="0"/>
                                        <a:ea typeface="Cambria Math" panose="02040503050406030204" pitchFamily="18" charset="0"/>
                                      </a:rPr>
                                      <m:t>𝜋</m:t>
                                    </m:r>
                                    <m:r>
                                      <a:rPr lang="it-IT" b="0" i="1" smtClean="0">
                                        <a:latin typeface="Cambria Math" panose="02040503050406030204" pitchFamily="18" charset="0"/>
                                        <a:ea typeface="Cambria Math" panose="02040503050406030204" pitchFamily="18" charset="0"/>
                                      </a:rPr>
                                      <m:t>/4</m:t>
                                    </m:r>
                                  </m:sup>
                                </m:sSup>
                              </m:e>
                            </m:mr>
                          </m:m>
                        </m:e>
                      </m:d>
                    </m:oMath>
                  </m:oMathPara>
                </a14:m>
                <a:endParaRPr lang="en-IT"/>
              </a:p>
            </p:txBody>
          </p:sp>
        </mc:Choice>
        <mc:Fallback>
          <p:sp>
            <p:nvSpPr>
              <p:cNvPr id="73" name="TextBox 72">
                <a:extLst>
                  <a:ext uri="{FF2B5EF4-FFF2-40B4-BE49-F238E27FC236}">
                    <a16:creationId xmlns:a16="http://schemas.microsoft.com/office/drawing/2014/main" id="{B3D93871-A7C8-49E9-6F6D-CEB95FF1A791}"/>
                  </a:ext>
                </a:extLst>
              </p:cNvPr>
              <p:cNvSpPr txBox="1">
                <a:spLocks noRot="1" noChangeAspect="1" noMove="1" noResize="1" noEditPoints="1" noAdjustHandles="1" noChangeArrowheads="1" noChangeShapeType="1" noTextEdit="1"/>
              </p:cNvSpPr>
              <p:nvPr/>
            </p:nvSpPr>
            <p:spPr>
              <a:xfrm>
                <a:off x="8267617" y="5073888"/>
                <a:ext cx="1699953" cy="56124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6C259F17-F251-EA07-1C57-15D0E5A2AEEA}"/>
                  </a:ext>
                </a:extLst>
              </p:cNvPr>
              <p:cNvSpPr txBox="1"/>
              <p:nvPr/>
            </p:nvSpPr>
            <p:spPr>
              <a:xfrm>
                <a:off x="2291961" y="5129064"/>
                <a:ext cx="1172052" cy="5542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0</m:t>
                          </m:r>
                        </m:e>
                      </m:d>
                      <m:r>
                        <a:rPr lang="it-IT" b="0" i="1" smtClean="0">
                          <a:latin typeface="Cambria Math" panose="02040503050406030204" pitchFamily="18" charset="0"/>
                        </a:rPr>
                        <m:t>= </m:t>
                      </m:r>
                      <m:d>
                        <m:dPr>
                          <m:begChr m:val="["/>
                          <m:endChr m:val="]"/>
                          <m:ctrlPr>
                            <a:rPr lang="it-IT" b="0" i="1" smtClean="0">
                              <a:latin typeface="Cambria Math" panose="02040503050406030204" pitchFamily="18" charset="0"/>
                            </a:rPr>
                          </m:ctrlPr>
                        </m:dPr>
                        <m:e>
                          <m:m>
                            <m:mPr>
                              <m:mcs>
                                <m:mc>
                                  <m:mcPr>
                                    <m:count m:val="1"/>
                                    <m:mcJc m:val="center"/>
                                  </m:mcPr>
                                </m:mc>
                              </m:mcs>
                              <m:ctrlPr>
                                <a:rPr lang="it-IT" b="0" i="1" smtClean="0">
                                  <a:latin typeface="Cambria Math" panose="02040503050406030204" pitchFamily="18" charset="0"/>
                                </a:rPr>
                              </m:ctrlPr>
                            </m:mPr>
                            <m:mr>
                              <m:e>
                                <m:r>
                                  <m:rPr>
                                    <m:brk m:alnAt="7"/>
                                  </m:rPr>
                                  <a:rPr lang="it-IT" b="0" i="1" smtClean="0">
                                    <a:latin typeface="Cambria Math" panose="02040503050406030204" pitchFamily="18" charset="0"/>
                                  </a:rPr>
                                  <m:t>1</m:t>
                                </m:r>
                              </m:e>
                            </m:mr>
                            <m:mr>
                              <m:e>
                                <m:r>
                                  <a:rPr lang="it-IT" b="0" i="1" smtClean="0">
                                    <a:latin typeface="Cambria Math" panose="02040503050406030204" pitchFamily="18" charset="0"/>
                                  </a:rPr>
                                  <m:t>0</m:t>
                                </m:r>
                              </m:e>
                            </m:mr>
                          </m:m>
                        </m:e>
                      </m:d>
                    </m:oMath>
                  </m:oMathPara>
                </a14:m>
                <a:endParaRPr lang="en-IT"/>
              </a:p>
            </p:txBody>
          </p:sp>
        </mc:Choice>
        <mc:Fallback>
          <p:sp>
            <p:nvSpPr>
              <p:cNvPr id="21" name="TextBox 20">
                <a:extLst>
                  <a:ext uri="{FF2B5EF4-FFF2-40B4-BE49-F238E27FC236}">
                    <a16:creationId xmlns:a16="http://schemas.microsoft.com/office/drawing/2014/main" id="{6C259F17-F251-EA07-1C57-15D0E5A2AEEA}"/>
                  </a:ext>
                </a:extLst>
              </p:cNvPr>
              <p:cNvSpPr txBox="1">
                <a:spLocks noRot="1" noChangeAspect="1" noMove="1" noResize="1" noEditPoints="1" noAdjustHandles="1" noChangeArrowheads="1" noChangeShapeType="1" noTextEdit="1"/>
              </p:cNvSpPr>
              <p:nvPr/>
            </p:nvSpPr>
            <p:spPr>
              <a:xfrm>
                <a:off x="2291961" y="5129064"/>
                <a:ext cx="1172052" cy="554254"/>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12103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B16F7-5761-B107-B46D-4F99477FF259}"/>
              </a:ext>
            </a:extLst>
          </p:cNvPr>
          <p:cNvSpPr>
            <a:spLocks noGrp="1"/>
          </p:cNvSpPr>
          <p:nvPr>
            <p:ph type="title"/>
          </p:nvPr>
        </p:nvSpPr>
        <p:spPr/>
        <p:txBody>
          <a:bodyPr/>
          <a:lstStyle/>
          <a:p>
            <a:r>
              <a:rPr lang="en-IT"/>
              <a:t>Exercise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0BB6E61-20F4-97D9-225D-1A563EBA6E76}"/>
                  </a:ext>
                </a:extLst>
              </p:cNvPr>
              <p:cNvSpPr>
                <a:spLocks noGrp="1"/>
              </p:cNvSpPr>
              <p:nvPr>
                <p:ph idx="1"/>
              </p:nvPr>
            </p:nvSpPr>
            <p:spPr/>
            <p:txBody>
              <a:bodyPr/>
              <a:lstStyle/>
              <a:p>
                <a14:m>
                  <m:oMath xmlns:m="http://schemas.openxmlformats.org/officeDocument/2006/math">
                    <m:d>
                      <m:dPr>
                        <m:begChr m:val="|"/>
                        <m:endChr m:val="|"/>
                        <m:ctrlPr>
                          <a:rPr lang="it-IT" i="1" smtClean="0">
                            <a:latin typeface="Cambria Math" panose="02040503050406030204" pitchFamily="18" charset="0"/>
                          </a:rPr>
                        </m:ctrlPr>
                      </m:dPr>
                      <m:e>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sup>
                            </m:sSup>
                          </m:e>
                        </m:d>
                        <m:r>
                          <a:rPr lang="it-IT" b="0" i="1" smtClean="0">
                            <a:latin typeface="Cambria Math" panose="02040503050406030204" pitchFamily="18" charset="0"/>
                          </a:rPr>
                          <m:t>=</m:t>
                        </m:r>
                        <m:r>
                          <a:rPr lang="it-IT" b="0" i="1" smtClean="0">
                            <a:latin typeface="Cambria Math" panose="02040503050406030204" pitchFamily="18" charset="0"/>
                          </a:rPr>
                          <m:t>𝐻</m:t>
                        </m:r>
                      </m:e>
                    </m:d>
                    <m:d>
                      <m:dPr>
                        <m:begChr m:val=""/>
                        <m:endChr m:val="⟩"/>
                        <m:ctrlPr>
                          <a:rPr lang="it-IT" i="1">
                            <a:latin typeface="Cambria Math" panose="02040503050406030204" pitchFamily="18" charset="0"/>
                          </a:rPr>
                        </m:ctrlPr>
                      </m:dPr>
                      <m:e>
                        <m:r>
                          <a:rPr lang="it-IT" b="0" i="1" smtClean="0">
                            <a:latin typeface="Cambria Math" panose="02040503050406030204" pitchFamily="18" charset="0"/>
                          </a:rPr>
                          <m:t>0</m:t>
                        </m:r>
                      </m:e>
                    </m:d>
                    <m:r>
                      <a:rPr lang="it-IT" b="0" i="1" smtClean="0">
                        <a:latin typeface="Cambria Math" panose="02040503050406030204" pitchFamily="18" charset="0"/>
                      </a:rPr>
                      <m:t>= </m:t>
                    </m:r>
                    <m:f>
                      <m:fPr>
                        <m:ctrlPr>
                          <a:rPr lang="it-IT" b="0" i="1" smtClean="0">
                            <a:latin typeface="Cambria Math" panose="02040503050406030204" pitchFamily="18" charset="0"/>
                          </a:rPr>
                        </m:ctrlPr>
                      </m:fPr>
                      <m:num>
                        <m:r>
                          <a:rPr lang="it-IT" b="0" i="1" smtClean="0">
                            <a:latin typeface="Cambria Math" panose="02040503050406030204" pitchFamily="18" charset="0"/>
                          </a:rPr>
                          <m:t>1</m:t>
                        </m:r>
                      </m:num>
                      <m:den>
                        <m:rad>
                          <m:radPr>
                            <m:degHide m:val="on"/>
                            <m:ctrlPr>
                              <a:rPr lang="it-IT" b="0" i="1" smtClean="0">
                                <a:latin typeface="Cambria Math" panose="02040503050406030204" pitchFamily="18" charset="0"/>
                              </a:rPr>
                            </m:ctrlPr>
                          </m:radPr>
                          <m:deg/>
                          <m:e>
                            <m:r>
                              <a:rPr lang="it-IT" b="0" i="1" smtClean="0">
                                <a:latin typeface="Cambria Math" panose="02040503050406030204" pitchFamily="18" charset="0"/>
                              </a:rPr>
                              <m:t>2</m:t>
                            </m:r>
                          </m:e>
                        </m:rad>
                      </m:den>
                    </m:f>
                    <m:d>
                      <m:dPr>
                        <m:begChr m:val="["/>
                        <m:endChr m:val="]"/>
                        <m:ctrlPr>
                          <a:rPr lang="it-IT" b="0" i="1" smtClean="0">
                            <a:latin typeface="Cambria Math" panose="02040503050406030204" pitchFamily="18" charset="0"/>
                          </a:rPr>
                        </m:ctrlPr>
                      </m:dPr>
                      <m:e>
                        <m:m>
                          <m:mPr>
                            <m:mcs>
                              <m:mc>
                                <m:mcPr>
                                  <m:count m:val="2"/>
                                  <m:mcJc m:val="center"/>
                                </m:mcPr>
                              </m:mc>
                            </m:mcs>
                            <m:ctrlPr>
                              <a:rPr lang="it-IT" b="0" i="1" smtClean="0">
                                <a:latin typeface="Cambria Math" panose="02040503050406030204" pitchFamily="18" charset="0"/>
                              </a:rPr>
                            </m:ctrlPr>
                          </m:mPr>
                          <m:mr>
                            <m:e>
                              <m:r>
                                <m:rPr>
                                  <m:brk m:alnAt="7"/>
                                </m:rPr>
                                <a:rPr lang="it-IT" b="0" i="1" smtClean="0">
                                  <a:latin typeface="Cambria Math" panose="02040503050406030204" pitchFamily="18" charset="0"/>
                                </a:rPr>
                                <m:t>1</m:t>
                              </m:r>
                            </m:e>
                            <m:e>
                              <m:r>
                                <a:rPr lang="it-IT" b="0" i="1" smtClean="0">
                                  <a:latin typeface="Cambria Math" panose="02040503050406030204" pitchFamily="18" charset="0"/>
                                </a:rPr>
                                <m:t>1</m:t>
                              </m:r>
                            </m:e>
                          </m:mr>
                          <m:mr>
                            <m:e>
                              <m:r>
                                <a:rPr lang="it-IT" b="0" i="1" smtClean="0">
                                  <a:latin typeface="Cambria Math" panose="02040503050406030204" pitchFamily="18" charset="0"/>
                                </a:rPr>
                                <m:t>1</m:t>
                              </m:r>
                            </m:e>
                            <m:e>
                              <m:r>
                                <a:rPr lang="it-IT" b="0" i="1" smtClean="0">
                                  <a:latin typeface="Cambria Math" panose="02040503050406030204" pitchFamily="18" charset="0"/>
                                </a:rPr>
                                <m:t>−1</m:t>
                              </m:r>
                            </m:e>
                          </m:mr>
                        </m:m>
                      </m:e>
                    </m:d>
                    <m:d>
                      <m:dPr>
                        <m:begChr m:val="["/>
                        <m:endChr m:val="]"/>
                        <m:ctrlPr>
                          <a:rPr lang="it-IT" b="0" i="1" smtClean="0">
                            <a:latin typeface="Cambria Math" panose="02040503050406030204" pitchFamily="18" charset="0"/>
                          </a:rPr>
                        </m:ctrlPr>
                      </m:dPr>
                      <m:e>
                        <m:m>
                          <m:mPr>
                            <m:mcs>
                              <m:mc>
                                <m:mcPr>
                                  <m:count m:val="1"/>
                                  <m:mcJc m:val="center"/>
                                </m:mcPr>
                              </m:mc>
                            </m:mcs>
                            <m:ctrlPr>
                              <a:rPr lang="it-IT" b="0" i="1" smtClean="0">
                                <a:latin typeface="Cambria Math" panose="02040503050406030204" pitchFamily="18" charset="0"/>
                              </a:rPr>
                            </m:ctrlPr>
                          </m:mPr>
                          <m:mr>
                            <m:e>
                              <m:r>
                                <m:rPr>
                                  <m:brk m:alnAt="7"/>
                                </m:rPr>
                                <a:rPr lang="it-IT" b="0" i="1" smtClean="0">
                                  <a:latin typeface="Cambria Math" panose="02040503050406030204" pitchFamily="18" charset="0"/>
                                </a:rPr>
                                <m:t>1</m:t>
                              </m:r>
                            </m:e>
                          </m:mr>
                          <m:mr>
                            <m:e>
                              <m:r>
                                <a:rPr lang="it-IT" b="0" i="1" smtClean="0">
                                  <a:latin typeface="Cambria Math" panose="02040503050406030204" pitchFamily="18" charset="0"/>
                                </a:rPr>
                                <m:t>0</m:t>
                              </m:r>
                            </m:e>
                          </m:mr>
                        </m:m>
                      </m:e>
                    </m:d>
                    <m:r>
                      <a:rPr lang="it-IT" b="0" i="1" smtClean="0">
                        <a:latin typeface="Cambria Math" panose="02040503050406030204" pitchFamily="18" charset="0"/>
                      </a:rPr>
                      <m:t>=</m:t>
                    </m:r>
                    <m:f>
                      <m:fPr>
                        <m:ctrlPr>
                          <a:rPr lang="it-IT" b="0" i="1" smtClean="0">
                            <a:latin typeface="Cambria Math" panose="02040503050406030204" pitchFamily="18" charset="0"/>
                          </a:rPr>
                        </m:ctrlPr>
                      </m:fPr>
                      <m:num>
                        <m:r>
                          <a:rPr lang="it-IT" b="0" i="1" smtClean="0">
                            <a:latin typeface="Cambria Math" panose="02040503050406030204" pitchFamily="18" charset="0"/>
                          </a:rPr>
                          <m:t>1</m:t>
                        </m:r>
                      </m:num>
                      <m:den>
                        <m:rad>
                          <m:radPr>
                            <m:degHide m:val="on"/>
                            <m:ctrlPr>
                              <a:rPr lang="it-IT" b="0" i="1" smtClean="0">
                                <a:latin typeface="Cambria Math" panose="02040503050406030204" pitchFamily="18" charset="0"/>
                              </a:rPr>
                            </m:ctrlPr>
                          </m:radPr>
                          <m:deg/>
                          <m:e>
                            <m:r>
                              <a:rPr lang="it-IT" b="0" i="1" smtClean="0">
                                <a:latin typeface="Cambria Math" panose="02040503050406030204" pitchFamily="18" charset="0"/>
                              </a:rPr>
                              <m:t>2</m:t>
                            </m:r>
                          </m:e>
                        </m:rad>
                      </m:den>
                    </m:f>
                    <m:d>
                      <m:dPr>
                        <m:begChr m:val="["/>
                        <m:endChr m:val="]"/>
                        <m:ctrlPr>
                          <a:rPr lang="it-IT" b="0" i="1" smtClean="0">
                            <a:latin typeface="Cambria Math" panose="02040503050406030204" pitchFamily="18" charset="0"/>
                          </a:rPr>
                        </m:ctrlPr>
                      </m:dPr>
                      <m:e>
                        <m:m>
                          <m:mPr>
                            <m:mcs>
                              <m:mc>
                                <m:mcPr>
                                  <m:count m:val="1"/>
                                  <m:mcJc m:val="center"/>
                                </m:mcPr>
                              </m:mc>
                            </m:mcs>
                            <m:ctrlPr>
                              <a:rPr lang="it-IT" b="0" i="1" smtClean="0">
                                <a:latin typeface="Cambria Math" panose="02040503050406030204" pitchFamily="18" charset="0"/>
                              </a:rPr>
                            </m:ctrlPr>
                          </m:mPr>
                          <m:mr>
                            <m:e>
                              <m:r>
                                <m:rPr>
                                  <m:brk m:alnAt="7"/>
                                </m:rPr>
                                <a:rPr lang="it-IT" b="0" i="1" smtClean="0">
                                  <a:latin typeface="Cambria Math" panose="02040503050406030204" pitchFamily="18" charset="0"/>
                                </a:rPr>
                                <m:t>1</m:t>
                              </m:r>
                            </m:e>
                          </m:mr>
                          <m:mr>
                            <m:e>
                              <m:r>
                                <a:rPr lang="it-IT" b="0" i="1" smtClean="0">
                                  <a:latin typeface="Cambria Math" panose="02040503050406030204" pitchFamily="18" charset="0"/>
                                </a:rPr>
                                <m:t>1</m:t>
                              </m:r>
                            </m:e>
                          </m:mr>
                        </m:m>
                      </m:e>
                    </m:d>
                    <m:r>
                      <a:rPr lang="it-IT" b="0" i="1" smtClean="0">
                        <a:latin typeface="Cambria Math" panose="02040503050406030204" pitchFamily="18" charset="0"/>
                      </a:rPr>
                      <m:t>=</m:t>
                    </m:r>
                    <m:r>
                      <a:rPr lang="it-IT" i="1">
                        <a:latin typeface="Cambria Math" panose="02040503050406030204" pitchFamily="18" charset="0"/>
                      </a:rPr>
                      <m:t>|</m:t>
                    </m:r>
                    <m:d>
                      <m:dPr>
                        <m:begChr m:val=""/>
                        <m:endChr m:val="⟩"/>
                        <m:ctrlPr>
                          <a:rPr lang="it-IT" i="1">
                            <a:latin typeface="Cambria Math" panose="02040503050406030204" pitchFamily="18" charset="0"/>
                          </a:rPr>
                        </m:ctrlPr>
                      </m:dPr>
                      <m:e>
                        <m:r>
                          <a:rPr lang="it-IT" b="0" i="1" smtClean="0">
                            <a:latin typeface="Cambria Math" panose="02040503050406030204" pitchFamily="18" charset="0"/>
                          </a:rPr>
                          <m:t>+</m:t>
                        </m:r>
                      </m:e>
                    </m:d>
                  </m:oMath>
                </a14:m>
                <a:endParaRPr lang="en-IT"/>
              </a:p>
            </p:txBody>
          </p:sp>
        </mc:Choice>
        <mc:Fallback>
          <p:sp>
            <p:nvSpPr>
              <p:cNvPr id="3" name="Content Placeholder 2">
                <a:extLst>
                  <a:ext uri="{FF2B5EF4-FFF2-40B4-BE49-F238E27FC236}">
                    <a16:creationId xmlns:a16="http://schemas.microsoft.com/office/drawing/2014/main" id="{A0BB6E61-20F4-97D9-225D-1A563EBA6E7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35A558C-062D-9E1A-DD6F-3A08C4A5395D}"/>
              </a:ext>
            </a:extLst>
          </p:cNvPr>
          <p:cNvPicPr>
            <a:picLocks noChangeAspect="1"/>
          </p:cNvPicPr>
          <p:nvPr/>
        </p:nvPicPr>
        <p:blipFill>
          <a:blip r:embed="rId3"/>
          <a:stretch>
            <a:fillRect/>
          </a:stretch>
        </p:blipFill>
        <p:spPr>
          <a:xfrm>
            <a:off x="6686550" y="2884943"/>
            <a:ext cx="3262122" cy="3544557"/>
          </a:xfrm>
          <a:prstGeom prst="rect">
            <a:avLst/>
          </a:prstGeom>
        </p:spPr>
      </p:pic>
      <p:pic>
        <p:nvPicPr>
          <p:cNvPr id="5" name="Picture 4">
            <a:extLst>
              <a:ext uri="{FF2B5EF4-FFF2-40B4-BE49-F238E27FC236}">
                <a16:creationId xmlns:a16="http://schemas.microsoft.com/office/drawing/2014/main" id="{E65B2838-66BE-6A53-08EC-2029E54F3334}"/>
              </a:ext>
            </a:extLst>
          </p:cNvPr>
          <p:cNvPicPr>
            <a:picLocks noChangeAspect="1"/>
          </p:cNvPicPr>
          <p:nvPr/>
        </p:nvPicPr>
        <p:blipFill>
          <a:blip r:embed="rId4"/>
          <a:stretch>
            <a:fillRect/>
          </a:stretch>
        </p:blipFill>
        <p:spPr>
          <a:xfrm>
            <a:off x="1895094" y="2884943"/>
            <a:ext cx="3262122" cy="3544557"/>
          </a:xfrm>
          <a:prstGeom prst="rect">
            <a:avLst/>
          </a:prstGeom>
        </p:spPr>
      </p:pic>
      <p:sp>
        <p:nvSpPr>
          <p:cNvPr id="8" name="Right Arrow 7">
            <a:extLst>
              <a:ext uri="{FF2B5EF4-FFF2-40B4-BE49-F238E27FC236}">
                <a16:creationId xmlns:a16="http://schemas.microsoft.com/office/drawing/2014/main" id="{0519540E-7DEC-C721-7821-0D8879A3CD03}"/>
              </a:ext>
            </a:extLst>
          </p:cNvPr>
          <p:cNvSpPr/>
          <p:nvPr/>
        </p:nvSpPr>
        <p:spPr>
          <a:xfrm>
            <a:off x="5157216" y="4462272"/>
            <a:ext cx="1529334" cy="4023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1630659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6A2D9-2E8F-B74B-78D5-0F1446495CC3}"/>
              </a:ext>
            </a:extLst>
          </p:cNvPr>
          <p:cNvSpPr>
            <a:spLocks noGrp="1"/>
          </p:cNvSpPr>
          <p:nvPr>
            <p:ph type="title"/>
          </p:nvPr>
        </p:nvSpPr>
        <p:spPr/>
        <p:txBody>
          <a:bodyPr/>
          <a:lstStyle/>
          <a:p>
            <a:r>
              <a:rPr lang="en-IT"/>
              <a:t>Exercise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BD41C0E-956D-BD88-ACDB-86119476D1F2}"/>
                  </a:ext>
                </a:extLst>
              </p:cNvPr>
              <p:cNvSpPr>
                <a:spLocks noGrp="1"/>
              </p:cNvSpPr>
              <p:nvPr>
                <p:ph idx="1"/>
              </p:nvPr>
            </p:nvSpPr>
            <p:spPr/>
            <p:txBody>
              <a:bodyPr/>
              <a:lstStyle/>
              <a:p>
                <a14:m>
                  <m:oMath xmlns:m="http://schemas.openxmlformats.org/officeDocument/2006/math">
                    <m:d>
                      <m:dPr>
                        <m:begChr m:val="|"/>
                        <m:endChr m:val="|"/>
                        <m:ctrlPr>
                          <a:rPr lang="it-IT" i="1" smtClean="0">
                            <a:latin typeface="Cambria Math" panose="02040503050406030204" pitchFamily="18" charset="0"/>
                          </a:rPr>
                        </m:ctrlPr>
                      </m:dPr>
                      <m:e>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r>
                                  <a:rPr lang="it-IT" b="0" i="1" smtClean="0">
                                    <a:latin typeface="Cambria Math" panose="02040503050406030204" pitchFamily="18" charset="0"/>
                                  </a:rPr>
                                  <m:t>′</m:t>
                                </m:r>
                              </m:sup>
                            </m:sSup>
                          </m:e>
                        </m:d>
                        <m:r>
                          <a:rPr lang="it-IT" i="1">
                            <a:latin typeface="Cambria Math" panose="02040503050406030204" pitchFamily="18" charset="0"/>
                          </a:rPr>
                          <m:t>=</m:t>
                        </m:r>
                        <m:r>
                          <a:rPr lang="it-IT" b="0" i="1" smtClean="0">
                            <a:latin typeface="Cambria Math" panose="02040503050406030204" pitchFamily="18" charset="0"/>
                          </a:rPr>
                          <m:t>𝑍</m:t>
                        </m:r>
                      </m:e>
                    </m:d>
                    <m:d>
                      <m:dPr>
                        <m:begChr m:val=""/>
                        <m:endChr m:val="⟩"/>
                        <m:ctrlPr>
                          <a:rPr lang="it-IT" i="1">
                            <a:latin typeface="Cambria Math" panose="02040503050406030204" pitchFamily="18" charset="0"/>
                          </a:rPr>
                        </m:ctrlPr>
                      </m:dPr>
                      <m:e>
                        <m:r>
                          <a:rPr lang="it-IT" b="0" i="1" smtClean="0">
                            <a:latin typeface="Cambria Math" panose="02040503050406030204" pitchFamily="18" charset="0"/>
                          </a:rPr>
                          <m:t>+</m:t>
                        </m:r>
                      </m:e>
                    </m:d>
                    <m:r>
                      <a:rPr lang="it-IT" i="1">
                        <a:latin typeface="Cambria Math" panose="02040503050406030204" pitchFamily="18" charset="0"/>
                      </a:rPr>
                      <m:t>=</m:t>
                    </m:r>
                    <m:d>
                      <m:dPr>
                        <m:begChr m:val="["/>
                        <m:endChr m:val="]"/>
                        <m:ctrlPr>
                          <a:rPr lang="it-IT" i="1">
                            <a:latin typeface="Cambria Math" panose="02040503050406030204" pitchFamily="18" charset="0"/>
                          </a:rPr>
                        </m:ctrlPr>
                      </m:dPr>
                      <m:e>
                        <m:m>
                          <m:mPr>
                            <m:mcs>
                              <m:mc>
                                <m:mcPr>
                                  <m:count m:val="2"/>
                                  <m:mcJc m:val="center"/>
                                </m:mcPr>
                              </m:mc>
                            </m:mcs>
                            <m:ctrlPr>
                              <a:rPr lang="it-IT" i="1">
                                <a:latin typeface="Cambria Math" panose="02040503050406030204" pitchFamily="18" charset="0"/>
                              </a:rPr>
                            </m:ctrlPr>
                          </m:mPr>
                          <m:mr>
                            <m:e>
                              <m:r>
                                <m:rPr>
                                  <m:brk m:alnAt="7"/>
                                </m:rPr>
                                <a:rPr lang="it-IT" i="1">
                                  <a:latin typeface="Cambria Math" panose="02040503050406030204" pitchFamily="18" charset="0"/>
                                </a:rPr>
                                <m:t>1</m:t>
                              </m:r>
                            </m:e>
                            <m:e>
                              <m:r>
                                <a:rPr lang="it-IT" b="0" i="1" smtClean="0">
                                  <a:latin typeface="Cambria Math" panose="02040503050406030204" pitchFamily="18" charset="0"/>
                                </a:rPr>
                                <m:t>0</m:t>
                              </m:r>
                            </m:e>
                          </m:mr>
                          <m:mr>
                            <m:e>
                              <m:r>
                                <a:rPr lang="it-IT" b="0" i="1" smtClean="0">
                                  <a:latin typeface="Cambria Math" panose="02040503050406030204" pitchFamily="18" charset="0"/>
                                </a:rPr>
                                <m:t>0</m:t>
                              </m:r>
                            </m:e>
                            <m:e>
                              <m:r>
                                <a:rPr lang="it-IT" i="1">
                                  <a:latin typeface="Cambria Math" panose="02040503050406030204" pitchFamily="18" charset="0"/>
                                </a:rPr>
                                <m:t>−1</m:t>
                              </m:r>
                            </m:e>
                          </m:mr>
                        </m:m>
                      </m:e>
                    </m:d>
                    <m:d>
                      <m:dPr>
                        <m:begChr m:val="["/>
                        <m:endChr m:val="]"/>
                        <m:ctrlPr>
                          <a:rPr lang="it-IT" i="1">
                            <a:latin typeface="Cambria Math" panose="02040503050406030204" pitchFamily="18" charset="0"/>
                          </a:rPr>
                        </m:ctrlPr>
                      </m:dPr>
                      <m:e>
                        <m:m>
                          <m:mPr>
                            <m:mcs>
                              <m:mc>
                                <m:mcPr>
                                  <m:count m:val="1"/>
                                  <m:mcJc m:val="center"/>
                                </m:mcPr>
                              </m:mc>
                            </m:mcs>
                            <m:ctrlPr>
                              <a:rPr lang="it-IT" i="1" smtClean="0">
                                <a:latin typeface="Cambria Math" panose="02040503050406030204" pitchFamily="18" charset="0"/>
                              </a:rPr>
                            </m:ctrlPr>
                          </m:mPr>
                          <m:mr>
                            <m:e>
                              <m:f>
                                <m:fPr>
                                  <m:type m:val="skw"/>
                                  <m:ctrlPr>
                                    <a:rPr lang="it-IT" i="1" smtClean="0">
                                      <a:latin typeface="Cambria Math" panose="02040503050406030204" pitchFamily="18" charset="0"/>
                                    </a:rPr>
                                  </m:ctrlPr>
                                </m:fPr>
                                <m:num>
                                  <m:r>
                                    <a:rPr lang="it-IT" b="0" i="1" smtClean="0">
                                      <a:latin typeface="Cambria Math" panose="02040503050406030204" pitchFamily="18" charset="0"/>
                                    </a:rPr>
                                    <m:t>1</m:t>
                                  </m:r>
                                </m:num>
                                <m:den>
                                  <m:rad>
                                    <m:radPr>
                                      <m:degHide m:val="on"/>
                                      <m:ctrlPr>
                                        <a:rPr lang="it-IT" i="1" smtClean="0">
                                          <a:latin typeface="Cambria Math" panose="02040503050406030204" pitchFamily="18" charset="0"/>
                                        </a:rPr>
                                      </m:ctrlPr>
                                    </m:radPr>
                                    <m:deg/>
                                    <m:e>
                                      <m:r>
                                        <a:rPr lang="it-IT" b="0" i="1" smtClean="0">
                                          <a:latin typeface="Cambria Math" panose="02040503050406030204" pitchFamily="18" charset="0"/>
                                        </a:rPr>
                                        <m:t>2</m:t>
                                      </m:r>
                                    </m:e>
                                  </m:rad>
                                </m:den>
                              </m:f>
                            </m:e>
                          </m:mr>
                          <m:mr>
                            <m:e>
                              <m:f>
                                <m:fPr>
                                  <m:type m:val="skw"/>
                                  <m:ctrlPr>
                                    <a:rPr lang="it-IT" i="1" smtClean="0">
                                      <a:latin typeface="Cambria Math" panose="02040503050406030204" pitchFamily="18" charset="0"/>
                                    </a:rPr>
                                  </m:ctrlPr>
                                </m:fPr>
                                <m:num>
                                  <m:r>
                                    <a:rPr lang="it-IT" b="0" i="1" smtClean="0">
                                      <a:latin typeface="Cambria Math" panose="02040503050406030204" pitchFamily="18" charset="0"/>
                                    </a:rPr>
                                    <m:t>1</m:t>
                                  </m:r>
                                </m:num>
                                <m:den>
                                  <m:rad>
                                    <m:radPr>
                                      <m:degHide m:val="on"/>
                                      <m:ctrlPr>
                                        <a:rPr lang="it-IT" i="1" smtClean="0">
                                          <a:latin typeface="Cambria Math" panose="02040503050406030204" pitchFamily="18" charset="0"/>
                                        </a:rPr>
                                      </m:ctrlPr>
                                    </m:radPr>
                                    <m:deg/>
                                    <m:e>
                                      <m:r>
                                        <a:rPr lang="it-IT" b="0" i="1" smtClean="0">
                                          <a:latin typeface="Cambria Math" panose="02040503050406030204" pitchFamily="18" charset="0"/>
                                        </a:rPr>
                                        <m:t>2</m:t>
                                      </m:r>
                                    </m:e>
                                  </m:rad>
                                </m:den>
                              </m:f>
                            </m:e>
                          </m:mr>
                        </m:m>
                      </m:e>
                    </m:d>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1</m:t>
                        </m:r>
                      </m:num>
                      <m:den>
                        <m:rad>
                          <m:radPr>
                            <m:degHide m:val="on"/>
                            <m:ctrlPr>
                              <a:rPr lang="it-IT" i="1">
                                <a:latin typeface="Cambria Math" panose="02040503050406030204" pitchFamily="18" charset="0"/>
                              </a:rPr>
                            </m:ctrlPr>
                          </m:radPr>
                          <m:deg/>
                          <m:e>
                            <m:r>
                              <a:rPr lang="it-IT" i="1">
                                <a:latin typeface="Cambria Math" panose="02040503050406030204" pitchFamily="18" charset="0"/>
                              </a:rPr>
                              <m:t>2</m:t>
                            </m:r>
                          </m:e>
                        </m:rad>
                      </m:den>
                    </m:f>
                    <m:d>
                      <m:dPr>
                        <m:begChr m:val="["/>
                        <m:endChr m:val="]"/>
                        <m:ctrlPr>
                          <a:rPr lang="it-IT" i="1">
                            <a:latin typeface="Cambria Math" panose="02040503050406030204" pitchFamily="18" charset="0"/>
                          </a:rPr>
                        </m:ctrlPr>
                      </m:dPr>
                      <m:e>
                        <m:m>
                          <m:mPr>
                            <m:mcs>
                              <m:mc>
                                <m:mcPr>
                                  <m:count m:val="1"/>
                                  <m:mcJc m:val="center"/>
                                </m:mcPr>
                              </m:mc>
                            </m:mcs>
                            <m:ctrlPr>
                              <a:rPr lang="it-IT" i="1">
                                <a:latin typeface="Cambria Math" panose="02040503050406030204" pitchFamily="18" charset="0"/>
                              </a:rPr>
                            </m:ctrlPr>
                          </m:mPr>
                          <m:mr>
                            <m:e>
                              <m:r>
                                <m:rPr>
                                  <m:brk m:alnAt="7"/>
                                </m:rPr>
                                <a:rPr lang="it-IT" i="1">
                                  <a:latin typeface="Cambria Math" panose="02040503050406030204" pitchFamily="18" charset="0"/>
                                </a:rPr>
                                <m:t>1</m:t>
                              </m:r>
                            </m:e>
                          </m:mr>
                          <m:mr>
                            <m:e>
                              <m:r>
                                <a:rPr lang="it-IT" b="0" i="1" smtClean="0">
                                  <a:latin typeface="Cambria Math" panose="02040503050406030204" pitchFamily="18" charset="0"/>
                                </a:rPr>
                                <m:t>−1</m:t>
                              </m:r>
                            </m:e>
                          </m:mr>
                        </m:m>
                      </m:e>
                    </m:d>
                    <m:r>
                      <a:rPr lang="it-IT" i="1">
                        <a:latin typeface="Cambria Math" panose="02040503050406030204" pitchFamily="18" charset="0"/>
                      </a:rPr>
                      <m:t>=|</m:t>
                    </m:r>
                    <m:d>
                      <m:dPr>
                        <m:begChr m:val=""/>
                        <m:endChr m:val="⟩"/>
                        <m:ctrlPr>
                          <a:rPr lang="it-IT" i="1">
                            <a:latin typeface="Cambria Math" panose="02040503050406030204" pitchFamily="18" charset="0"/>
                          </a:rPr>
                        </m:ctrlPr>
                      </m:dPr>
                      <m:e>
                        <m:r>
                          <a:rPr lang="it-IT" b="0" i="1" smtClean="0">
                            <a:latin typeface="Cambria Math" panose="02040503050406030204" pitchFamily="18" charset="0"/>
                          </a:rPr>
                          <m:t>−</m:t>
                        </m:r>
                      </m:e>
                    </m:d>
                  </m:oMath>
                </a14:m>
                <a:endParaRPr lang="en-IT"/>
              </a:p>
              <a:p>
                <a:pPr marL="0" indent="0">
                  <a:buNone/>
                </a:pPr>
                <a:endParaRPr lang="en-IT"/>
              </a:p>
            </p:txBody>
          </p:sp>
        </mc:Choice>
        <mc:Fallback>
          <p:sp>
            <p:nvSpPr>
              <p:cNvPr id="3" name="Content Placeholder 2">
                <a:extLst>
                  <a:ext uri="{FF2B5EF4-FFF2-40B4-BE49-F238E27FC236}">
                    <a16:creationId xmlns:a16="http://schemas.microsoft.com/office/drawing/2014/main" id="{EBD41C0E-956D-BD88-ACDB-86119476D1F2}"/>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6" name="Right Arrow 5">
            <a:extLst>
              <a:ext uri="{FF2B5EF4-FFF2-40B4-BE49-F238E27FC236}">
                <a16:creationId xmlns:a16="http://schemas.microsoft.com/office/drawing/2014/main" id="{AD6628FB-68D4-C4D3-0E27-0F828613946C}"/>
              </a:ext>
            </a:extLst>
          </p:cNvPr>
          <p:cNvSpPr/>
          <p:nvPr/>
        </p:nvSpPr>
        <p:spPr>
          <a:xfrm>
            <a:off x="5157216" y="4462272"/>
            <a:ext cx="1529334" cy="4023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pic>
        <p:nvPicPr>
          <p:cNvPr id="8" name="Picture 7">
            <a:extLst>
              <a:ext uri="{FF2B5EF4-FFF2-40B4-BE49-F238E27FC236}">
                <a16:creationId xmlns:a16="http://schemas.microsoft.com/office/drawing/2014/main" id="{F96CE18D-F050-7C84-4C8D-6AB9AE188D88}"/>
              </a:ext>
            </a:extLst>
          </p:cNvPr>
          <p:cNvPicPr>
            <a:picLocks noChangeAspect="1"/>
          </p:cNvPicPr>
          <p:nvPr/>
        </p:nvPicPr>
        <p:blipFill>
          <a:blip r:embed="rId3"/>
          <a:stretch>
            <a:fillRect/>
          </a:stretch>
        </p:blipFill>
        <p:spPr>
          <a:xfrm>
            <a:off x="1895094" y="2884942"/>
            <a:ext cx="3262122" cy="3544557"/>
          </a:xfrm>
          <a:prstGeom prst="rect">
            <a:avLst/>
          </a:prstGeom>
        </p:spPr>
      </p:pic>
      <p:pic>
        <p:nvPicPr>
          <p:cNvPr id="9" name="Picture 8">
            <a:extLst>
              <a:ext uri="{FF2B5EF4-FFF2-40B4-BE49-F238E27FC236}">
                <a16:creationId xmlns:a16="http://schemas.microsoft.com/office/drawing/2014/main" id="{F5C97163-CF62-59A2-9AF5-EFAC59E1FDD5}"/>
              </a:ext>
            </a:extLst>
          </p:cNvPr>
          <p:cNvPicPr>
            <a:picLocks noChangeAspect="1"/>
          </p:cNvPicPr>
          <p:nvPr/>
        </p:nvPicPr>
        <p:blipFill>
          <a:blip r:embed="rId4"/>
          <a:stretch>
            <a:fillRect/>
          </a:stretch>
        </p:blipFill>
        <p:spPr>
          <a:xfrm>
            <a:off x="6686550" y="2884943"/>
            <a:ext cx="3262122" cy="3544557"/>
          </a:xfrm>
          <a:prstGeom prst="rect">
            <a:avLst/>
          </a:prstGeom>
        </p:spPr>
      </p:pic>
    </p:spTree>
    <p:extLst>
      <p:ext uri="{BB962C8B-B14F-4D97-AF65-F5344CB8AC3E}">
        <p14:creationId xmlns:p14="http://schemas.microsoft.com/office/powerpoint/2010/main" val="1238755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B44B-DD84-641C-1AA3-9F0604ED1FA4}"/>
              </a:ext>
            </a:extLst>
          </p:cNvPr>
          <p:cNvSpPr>
            <a:spLocks noGrp="1"/>
          </p:cNvSpPr>
          <p:nvPr>
            <p:ph type="title"/>
          </p:nvPr>
        </p:nvSpPr>
        <p:spPr/>
        <p:txBody>
          <a:bodyPr/>
          <a:lstStyle/>
          <a:p>
            <a:r>
              <a:rPr lang="en-IT"/>
              <a:t>Exercise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D209CD1-C60B-0EE3-17A7-45BEF62363A5}"/>
                  </a:ext>
                </a:extLst>
              </p:cNvPr>
              <p:cNvSpPr>
                <a:spLocks noGrp="1"/>
              </p:cNvSpPr>
              <p:nvPr>
                <p:ph idx="1"/>
              </p:nvPr>
            </p:nvSpPr>
            <p:spPr/>
            <p:txBody>
              <a:bodyPr/>
              <a:lstStyle/>
              <a:p>
                <a14:m>
                  <m:oMath xmlns:m="http://schemas.openxmlformats.org/officeDocument/2006/math">
                    <m:d>
                      <m:dPr>
                        <m:begChr m:val="|"/>
                        <m:endChr m:val="|"/>
                        <m:ctrlPr>
                          <a:rPr lang="it-IT" i="1" smtClean="0">
                            <a:latin typeface="Cambria Math" panose="02040503050406030204" pitchFamily="18" charset="0"/>
                          </a:rPr>
                        </m:ctrlPr>
                      </m:dPr>
                      <m:e>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r>
                                  <a:rPr lang="it-IT" b="0" i="1" smtClean="0">
                                    <a:latin typeface="Cambria Math" panose="02040503050406030204" pitchFamily="18" charset="0"/>
                                  </a:rPr>
                                  <m:t>′</m:t>
                                </m:r>
                              </m:sup>
                            </m:sSup>
                          </m:e>
                        </m:d>
                        <m:r>
                          <a:rPr lang="it-IT" i="1">
                            <a:latin typeface="Cambria Math" panose="02040503050406030204" pitchFamily="18" charset="0"/>
                          </a:rPr>
                          <m:t>=</m:t>
                        </m:r>
                        <m:r>
                          <a:rPr lang="it-IT" b="0" i="1" smtClean="0">
                            <a:latin typeface="Cambria Math" panose="02040503050406030204" pitchFamily="18" charset="0"/>
                          </a:rPr>
                          <m:t>𝑆</m:t>
                        </m:r>
                      </m:e>
                    </m:d>
                    <m:d>
                      <m:dPr>
                        <m:begChr m:val=""/>
                        <m:endChr m:val="⟩"/>
                        <m:ctrlPr>
                          <a:rPr lang="it-IT" i="1" smtClean="0">
                            <a:latin typeface="Cambria Math" panose="02040503050406030204" pitchFamily="18" charset="0"/>
                          </a:rPr>
                        </m:ctrlPr>
                      </m:dPr>
                      <m:e>
                        <m:r>
                          <a:rPr lang="it-IT" b="0" i="1" smtClean="0">
                            <a:latin typeface="Cambria Math" panose="02040503050406030204" pitchFamily="18" charset="0"/>
                          </a:rPr>
                          <m:t>−</m:t>
                        </m:r>
                      </m:e>
                    </m:d>
                    <m:r>
                      <a:rPr lang="it-IT" i="1">
                        <a:latin typeface="Cambria Math" panose="02040503050406030204" pitchFamily="18" charset="0"/>
                      </a:rPr>
                      <m:t>=</m:t>
                    </m:r>
                    <m:d>
                      <m:dPr>
                        <m:begChr m:val="["/>
                        <m:endChr m:val="]"/>
                        <m:ctrlPr>
                          <a:rPr lang="it-IT" i="1">
                            <a:latin typeface="Cambria Math" panose="02040503050406030204" pitchFamily="18" charset="0"/>
                          </a:rPr>
                        </m:ctrlPr>
                      </m:dPr>
                      <m:e>
                        <m:m>
                          <m:mPr>
                            <m:mcs>
                              <m:mc>
                                <m:mcPr>
                                  <m:count m:val="2"/>
                                  <m:mcJc m:val="center"/>
                                </m:mcPr>
                              </m:mc>
                            </m:mcs>
                            <m:ctrlPr>
                              <a:rPr lang="it-IT" i="1">
                                <a:latin typeface="Cambria Math" panose="02040503050406030204" pitchFamily="18" charset="0"/>
                              </a:rPr>
                            </m:ctrlPr>
                          </m:mPr>
                          <m:mr>
                            <m:e>
                              <m:r>
                                <m:rPr>
                                  <m:brk m:alnAt="7"/>
                                </m:rPr>
                                <a:rPr lang="it-IT" i="1">
                                  <a:latin typeface="Cambria Math" panose="02040503050406030204" pitchFamily="18" charset="0"/>
                                </a:rPr>
                                <m:t>1</m:t>
                              </m:r>
                            </m:e>
                            <m:e>
                              <m:r>
                                <a:rPr lang="it-IT" i="1">
                                  <a:latin typeface="Cambria Math" panose="02040503050406030204" pitchFamily="18" charset="0"/>
                                </a:rPr>
                                <m:t>0</m:t>
                              </m:r>
                            </m:e>
                          </m:mr>
                          <m:mr>
                            <m:e>
                              <m:r>
                                <a:rPr lang="it-IT" i="1">
                                  <a:latin typeface="Cambria Math" panose="02040503050406030204" pitchFamily="18" charset="0"/>
                                </a:rPr>
                                <m:t>0</m:t>
                              </m:r>
                            </m:e>
                            <m:e>
                              <m:r>
                                <a:rPr lang="it-IT" b="0" i="1" smtClean="0">
                                  <a:latin typeface="Cambria Math" panose="02040503050406030204" pitchFamily="18" charset="0"/>
                                </a:rPr>
                                <m:t>𝑖</m:t>
                              </m:r>
                            </m:e>
                          </m:mr>
                        </m:m>
                      </m:e>
                    </m:d>
                    <m:d>
                      <m:dPr>
                        <m:begChr m:val="["/>
                        <m:endChr m:val="]"/>
                        <m:ctrlPr>
                          <a:rPr lang="it-IT" i="1">
                            <a:latin typeface="Cambria Math" panose="02040503050406030204" pitchFamily="18" charset="0"/>
                          </a:rPr>
                        </m:ctrlPr>
                      </m:dPr>
                      <m:e>
                        <m:m>
                          <m:mPr>
                            <m:mcs>
                              <m:mc>
                                <m:mcPr>
                                  <m:count m:val="1"/>
                                  <m:mcJc m:val="center"/>
                                </m:mcPr>
                              </m:mc>
                            </m:mcs>
                            <m:ctrlPr>
                              <a:rPr lang="it-IT" i="1">
                                <a:latin typeface="Cambria Math" panose="02040503050406030204" pitchFamily="18" charset="0"/>
                              </a:rPr>
                            </m:ctrlPr>
                          </m:mPr>
                          <m:mr>
                            <m:e>
                              <m:f>
                                <m:fPr>
                                  <m:type m:val="skw"/>
                                  <m:ctrlPr>
                                    <a:rPr lang="it-IT" i="1">
                                      <a:latin typeface="Cambria Math" panose="02040503050406030204" pitchFamily="18" charset="0"/>
                                    </a:rPr>
                                  </m:ctrlPr>
                                </m:fPr>
                                <m:num>
                                  <m:r>
                                    <a:rPr lang="it-IT" i="1">
                                      <a:latin typeface="Cambria Math" panose="02040503050406030204" pitchFamily="18" charset="0"/>
                                    </a:rPr>
                                    <m:t>1</m:t>
                                  </m:r>
                                </m:num>
                                <m:den>
                                  <m:rad>
                                    <m:radPr>
                                      <m:degHide m:val="on"/>
                                      <m:ctrlPr>
                                        <a:rPr lang="it-IT" i="1">
                                          <a:latin typeface="Cambria Math" panose="02040503050406030204" pitchFamily="18" charset="0"/>
                                        </a:rPr>
                                      </m:ctrlPr>
                                    </m:radPr>
                                    <m:deg/>
                                    <m:e>
                                      <m:r>
                                        <a:rPr lang="it-IT" i="1">
                                          <a:latin typeface="Cambria Math" panose="02040503050406030204" pitchFamily="18" charset="0"/>
                                        </a:rPr>
                                        <m:t>2</m:t>
                                      </m:r>
                                    </m:e>
                                  </m:rad>
                                </m:den>
                              </m:f>
                            </m:e>
                          </m:mr>
                          <m:mr>
                            <m:e>
                              <m:f>
                                <m:fPr>
                                  <m:type m:val="skw"/>
                                  <m:ctrlPr>
                                    <a:rPr lang="it-IT" i="1">
                                      <a:latin typeface="Cambria Math" panose="02040503050406030204" pitchFamily="18" charset="0"/>
                                    </a:rPr>
                                  </m:ctrlPr>
                                </m:fPr>
                                <m:num>
                                  <m:r>
                                    <a:rPr lang="it-IT" b="0" i="1" smtClean="0">
                                      <a:latin typeface="Cambria Math" panose="02040503050406030204" pitchFamily="18" charset="0"/>
                                    </a:rPr>
                                    <m:t>−</m:t>
                                  </m:r>
                                  <m:r>
                                    <a:rPr lang="it-IT" i="1">
                                      <a:latin typeface="Cambria Math" panose="02040503050406030204" pitchFamily="18" charset="0"/>
                                    </a:rPr>
                                    <m:t>1</m:t>
                                  </m:r>
                                </m:num>
                                <m:den>
                                  <m:rad>
                                    <m:radPr>
                                      <m:degHide m:val="on"/>
                                      <m:ctrlPr>
                                        <a:rPr lang="it-IT" i="1">
                                          <a:latin typeface="Cambria Math" panose="02040503050406030204" pitchFamily="18" charset="0"/>
                                        </a:rPr>
                                      </m:ctrlPr>
                                    </m:radPr>
                                    <m:deg/>
                                    <m:e>
                                      <m:r>
                                        <a:rPr lang="it-IT" i="1">
                                          <a:latin typeface="Cambria Math" panose="02040503050406030204" pitchFamily="18" charset="0"/>
                                        </a:rPr>
                                        <m:t>2</m:t>
                                      </m:r>
                                    </m:e>
                                  </m:rad>
                                </m:den>
                              </m:f>
                            </m:e>
                          </m:mr>
                        </m:m>
                      </m:e>
                    </m:d>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1</m:t>
                        </m:r>
                      </m:num>
                      <m:den>
                        <m:rad>
                          <m:radPr>
                            <m:degHide m:val="on"/>
                            <m:ctrlPr>
                              <a:rPr lang="it-IT" i="1">
                                <a:latin typeface="Cambria Math" panose="02040503050406030204" pitchFamily="18" charset="0"/>
                              </a:rPr>
                            </m:ctrlPr>
                          </m:radPr>
                          <m:deg/>
                          <m:e>
                            <m:r>
                              <a:rPr lang="it-IT" i="1">
                                <a:latin typeface="Cambria Math" panose="02040503050406030204" pitchFamily="18" charset="0"/>
                              </a:rPr>
                              <m:t>2</m:t>
                            </m:r>
                          </m:e>
                        </m:rad>
                      </m:den>
                    </m:f>
                    <m:d>
                      <m:dPr>
                        <m:begChr m:val="["/>
                        <m:endChr m:val="]"/>
                        <m:ctrlPr>
                          <a:rPr lang="it-IT" i="1">
                            <a:latin typeface="Cambria Math" panose="02040503050406030204" pitchFamily="18" charset="0"/>
                          </a:rPr>
                        </m:ctrlPr>
                      </m:dPr>
                      <m:e>
                        <m:m>
                          <m:mPr>
                            <m:mcs>
                              <m:mc>
                                <m:mcPr>
                                  <m:count m:val="1"/>
                                  <m:mcJc m:val="center"/>
                                </m:mcPr>
                              </m:mc>
                            </m:mcs>
                            <m:ctrlPr>
                              <a:rPr lang="it-IT" i="1">
                                <a:latin typeface="Cambria Math" panose="02040503050406030204" pitchFamily="18" charset="0"/>
                              </a:rPr>
                            </m:ctrlPr>
                          </m:mPr>
                          <m:mr>
                            <m:e>
                              <m:r>
                                <m:rPr>
                                  <m:brk m:alnAt="7"/>
                                </m:rPr>
                                <a:rPr lang="it-IT" i="1">
                                  <a:latin typeface="Cambria Math" panose="02040503050406030204" pitchFamily="18" charset="0"/>
                                </a:rPr>
                                <m:t>1</m:t>
                              </m:r>
                            </m:e>
                          </m:mr>
                          <m:mr>
                            <m:e>
                              <m:r>
                                <a:rPr lang="it-IT" i="1">
                                  <a:latin typeface="Cambria Math" panose="02040503050406030204" pitchFamily="18" charset="0"/>
                                </a:rPr>
                                <m:t>−</m:t>
                              </m:r>
                              <m:r>
                                <a:rPr lang="it-IT" b="0" i="1" smtClean="0">
                                  <a:latin typeface="Cambria Math" panose="02040503050406030204" pitchFamily="18" charset="0"/>
                                </a:rPr>
                                <m:t>𝑖</m:t>
                              </m:r>
                            </m:e>
                          </m:mr>
                        </m:m>
                      </m:e>
                    </m:d>
                  </m:oMath>
                </a14:m>
                <a:endParaRPr lang="en-IT"/>
              </a:p>
            </p:txBody>
          </p:sp>
        </mc:Choice>
        <mc:Fallback>
          <p:sp>
            <p:nvSpPr>
              <p:cNvPr id="3" name="Content Placeholder 2">
                <a:extLst>
                  <a:ext uri="{FF2B5EF4-FFF2-40B4-BE49-F238E27FC236}">
                    <a16:creationId xmlns:a16="http://schemas.microsoft.com/office/drawing/2014/main" id="{AD209CD1-C60B-0EE3-17A7-45BEF62363A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Right Arrow 3">
            <a:extLst>
              <a:ext uri="{FF2B5EF4-FFF2-40B4-BE49-F238E27FC236}">
                <a16:creationId xmlns:a16="http://schemas.microsoft.com/office/drawing/2014/main" id="{6752A0F3-ABDF-8714-C4F2-F94B7098631F}"/>
              </a:ext>
            </a:extLst>
          </p:cNvPr>
          <p:cNvSpPr/>
          <p:nvPr/>
        </p:nvSpPr>
        <p:spPr>
          <a:xfrm>
            <a:off x="5157216" y="4462272"/>
            <a:ext cx="1529334" cy="4023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pic>
        <p:nvPicPr>
          <p:cNvPr id="7" name="Picture 6">
            <a:extLst>
              <a:ext uri="{FF2B5EF4-FFF2-40B4-BE49-F238E27FC236}">
                <a16:creationId xmlns:a16="http://schemas.microsoft.com/office/drawing/2014/main" id="{3A78837C-21F2-C39A-5997-146192E07542}"/>
              </a:ext>
            </a:extLst>
          </p:cNvPr>
          <p:cNvPicPr>
            <a:picLocks noChangeAspect="1"/>
          </p:cNvPicPr>
          <p:nvPr/>
        </p:nvPicPr>
        <p:blipFill>
          <a:blip r:embed="rId3"/>
          <a:stretch>
            <a:fillRect/>
          </a:stretch>
        </p:blipFill>
        <p:spPr>
          <a:xfrm>
            <a:off x="1895094" y="2884942"/>
            <a:ext cx="3262122" cy="3544557"/>
          </a:xfrm>
          <a:prstGeom prst="rect">
            <a:avLst/>
          </a:prstGeom>
        </p:spPr>
      </p:pic>
      <p:pic>
        <p:nvPicPr>
          <p:cNvPr id="8" name="Picture 7">
            <a:extLst>
              <a:ext uri="{FF2B5EF4-FFF2-40B4-BE49-F238E27FC236}">
                <a16:creationId xmlns:a16="http://schemas.microsoft.com/office/drawing/2014/main" id="{C6B05C8A-4F59-6319-F0A7-02377B77FE35}"/>
              </a:ext>
            </a:extLst>
          </p:cNvPr>
          <p:cNvPicPr>
            <a:picLocks noChangeAspect="1"/>
          </p:cNvPicPr>
          <p:nvPr/>
        </p:nvPicPr>
        <p:blipFill>
          <a:blip r:embed="rId4"/>
          <a:stretch>
            <a:fillRect/>
          </a:stretch>
        </p:blipFill>
        <p:spPr>
          <a:xfrm>
            <a:off x="6679692" y="2884943"/>
            <a:ext cx="3262122" cy="3544557"/>
          </a:xfrm>
          <a:prstGeom prst="rect">
            <a:avLst/>
          </a:prstGeom>
        </p:spPr>
      </p:pic>
    </p:spTree>
    <p:extLst>
      <p:ext uri="{BB962C8B-B14F-4D97-AF65-F5344CB8AC3E}">
        <p14:creationId xmlns:p14="http://schemas.microsoft.com/office/powerpoint/2010/main" val="4032946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E8379-A82F-F7AA-1411-8589A0DA31F2}"/>
              </a:ext>
            </a:extLst>
          </p:cNvPr>
          <p:cNvSpPr>
            <a:spLocks noGrp="1"/>
          </p:cNvSpPr>
          <p:nvPr>
            <p:ph type="title"/>
          </p:nvPr>
        </p:nvSpPr>
        <p:spPr/>
        <p:txBody>
          <a:bodyPr/>
          <a:lstStyle/>
          <a:p>
            <a:r>
              <a:rPr lang="en-IT"/>
              <a:t>Exercise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EA7D5C4-8C2E-E2A0-BB19-C1D2AF004D02}"/>
                  </a:ext>
                </a:extLst>
              </p:cNvPr>
              <p:cNvSpPr>
                <a:spLocks noGrp="1"/>
              </p:cNvSpPr>
              <p:nvPr>
                <p:ph idx="1"/>
              </p:nvPr>
            </p:nvSpPr>
            <p:spPr/>
            <p:txBody>
              <a:bodyPr/>
              <a:lstStyle/>
              <a:p>
                <a14:m>
                  <m:oMath xmlns:m="http://schemas.openxmlformats.org/officeDocument/2006/math">
                    <m:d>
                      <m:dPr>
                        <m:begChr m:val="|"/>
                        <m:endChr m:val="|"/>
                        <m:ctrlPr>
                          <a:rPr lang="it-IT" i="1" smtClean="0">
                            <a:latin typeface="Cambria Math" panose="02040503050406030204" pitchFamily="18" charset="0"/>
                          </a:rPr>
                        </m:ctrlPr>
                      </m:dPr>
                      <m:e>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r>
                                  <a:rPr lang="it-IT" b="0" i="1" smtClean="0">
                                    <a:latin typeface="Cambria Math" panose="02040503050406030204" pitchFamily="18" charset="0"/>
                                  </a:rPr>
                                  <m:t>′</m:t>
                                </m:r>
                              </m:sup>
                            </m:sSup>
                          </m:e>
                        </m:d>
                        <m:r>
                          <a:rPr lang="it-IT" i="1">
                            <a:latin typeface="Cambria Math" panose="02040503050406030204" pitchFamily="18" charset="0"/>
                          </a:rPr>
                          <m:t>=</m:t>
                        </m:r>
                        <m:r>
                          <a:rPr lang="it-IT" b="0" i="1" smtClean="0">
                            <a:latin typeface="Cambria Math" panose="02040503050406030204" pitchFamily="18" charset="0"/>
                          </a:rPr>
                          <m:t>𝑇</m:t>
                        </m:r>
                      </m:e>
                    </m:d>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sup>
                        </m:sSup>
                        <m:r>
                          <a:rPr lang="it-IT" b="0" i="1" smtClean="0">
                            <a:latin typeface="Cambria Math" panose="02040503050406030204" pitchFamily="18" charset="0"/>
                          </a:rPr>
                          <m:t>′</m:t>
                        </m:r>
                      </m:e>
                    </m:d>
                    <m:r>
                      <a:rPr lang="it-IT" i="1">
                        <a:latin typeface="Cambria Math" panose="02040503050406030204" pitchFamily="18" charset="0"/>
                      </a:rPr>
                      <m:t>=</m:t>
                    </m:r>
                    <m:d>
                      <m:dPr>
                        <m:begChr m:val="["/>
                        <m:endChr m:val="]"/>
                        <m:ctrlPr>
                          <a:rPr lang="it-IT" i="1">
                            <a:latin typeface="Cambria Math" panose="02040503050406030204" pitchFamily="18" charset="0"/>
                          </a:rPr>
                        </m:ctrlPr>
                      </m:dPr>
                      <m:e>
                        <m:m>
                          <m:mPr>
                            <m:mcs>
                              <m:mc>
                                <m:mcPr>
                                  <m:count m:val="2"/>
                                  <m:mcJc m:val="center"/>
                                </m:mcPr>
                              </m:mc>
                            </m:mcs>
                            <m:ctrlPr>
                              <a:rPr lang="it-IT" i="1">
                                <a:latin typeface="Cambria Math" panose="02040503050406030204" pitchFamily="18" charset="0"/>
                              </a:rPr>
                            </m:ctrlPr>
                          </m:mPr>
                          <m:mr>
                            <m:e>
                              <m:r>
                                <m:rPr>
                                  <m:brk m:alnAt="7"/>
                                </m:rPr>
                                <a:rPr lang="it-IT" i="1">
                                  <a:latin typeface="Cambria Math" panose="02040503050406030204" pitchFamily="18" charset="0"/>
                                </a:rPr>
                                <m:t>1</m:t>
                              </m:r>
                            </m:e>
                            <m:e>
                              <m:r>
                                <a:rPr lang="it-IT" i="1">
                                  <a:latin typeface="Cambria Math" panose="02040503050406030204" pitchFamily="18" charset="0"/>
                                </a:rPr>
                                <m:t>0</m:t>
                              </m:r>
                            </m:e>
                          </m:mr>
                          <m:mr>
                            <m:e>
                              <m:r>
                                <a:rPr lang="it-IT" i="1">
                                  <a:latin typeface="Cambria Math" panose="02040503050406030204" pitchFamily="18" charset="0"/>
                                </a:rPr>
                                <m:t>0</m:t>
                              </m:r>
                            </m:e>
                            <m:e>
                              <m:sSup>
                                <m:sSupPr>
                                  <m:ctrlPr>
                                    <a:rPr lang="it-IT" i="1" smtClean="0">
                                      <a:latin typeface="Cambria Math" panose="02040503050406030204" pitchFamily="18" charset="0"/>
                                    </a:rPr>
                                  </m:ctrlPr>
                                </m:sSupPr>
                                <m:e>
                                  <m:r>
                                    <a:rPr lang="it-IT" b="0" i="1" smtClean="0">
                                      <a:latin typeface="Cambria Math" panose="02040503050406030204" pitchFamily="18" charset="0"/>
                                    </a:rPr>
                                    <m:t>𝑒</m:t>
                                  </m:r>
                                </m:e>
                                <m:sup>
                                  <m:r>
                                    <a:rPr lang="it-IT" b="0" i="1" smtClean="0">
                                      <a:latin typeface="Cambria Math" panose="02040503050406030204" pitchFamily="18" charset="0"/>
                                    </a:rPr>
                                    <m:t>𝑖</m:t>
                                  </m:r>
                                  <m:f>
                                    <m:fPr>
                                      <m:type m:val="skw"/>
                                      <m:ctrlPr>
                                        <a:rPr lang="it-IT" b="0" i="1" smtClean="0">
                                          <a:latin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𝜋</m:t>
                                      </m:r>
                                    </m:num>
                                    <m:den>
                                      <m:r>
                                        <a:rPr lang="it-IT" b="0" i="1" smtClean="0">
                                          <a:latin typeface="Cambria Math" panose="02040503050406030204" pitchFamily="18" charset="0"/>
                                        </a:rPr>
                                        <m:t>4</m:t>
                                      </m:r>
                                    </m:den>
                                  </m:f>
                                </m:sup>
                              </m:sSup>
                            </m:e>
                          </m:mr>
                        </m:m>
                      </m:e>
                    </m:d>
                    <m:f>
                      <m:fPr>
                        <m:ctrlPr>
                          <a:rPr lang="it-IT" i="1">
                            <a:latin typeface="Cambria Math" panose="02040503050406030204" pitchFamily="18" charset="0"/>
                          </a:rPr>
                        </m:ctrlPr>
                      </m:fPr>
                      <m:num>
                        <m:r>
                          <a:rPr lang="it-IT" i="1">
                            <a:latin typeface="Cambria Math" panose="02040503050406030204" pitchFamily="18" charset="0"/>
                          </a:rPr>
                          <m:t>1</m:t>
                        </m:r>
                      </m:num>
                      <m:den>
                        <m:rad>
                          <m:radPr>
                            <m:degHide m:val="on"/>
                            <m:ctrlPr>
                              <a:rPr lang="it-IT" i="1">
                                <a:latin typeface="Cambria Math" panose="02040503050406030204" pitchFamily="18" charset="0"/>
                              </a:rPr>
                            </m:ctrlPr>
                          </m:radPr>
                          <m:deg/>
                          <m:e>
                            <m:r>
                              <a:rPr lang="it-IT" i="1">
                                <a:latin typeface="Cambria Math" panose="02040503050406030204" pitchFamily="18" charset="0"/>
                              </a:rPr>
                              <m:t>2</m:t>
                            </m:r>
                          </m:e>
                        </m:rad>
                      </m:den>
                    </m:f>
                    <m:d>
                      <m:dPr>
                        <m:begChr m:val="["/>
                        <m:endChr m:val="]"/>
                        <m:ctrlPr>
                          <a:rPr lang="it-IT" i="1">
                            <a:latin typeface="Cambria Math" panose="02040503050406030204" pitchFamily="18" charset="0"/>
                          </a:rPr>
                        </m:ctrlPr>
                      </m:dPr>
                      <m:e>
                        <m:m>
                          <m:mPr>
                            <m:mcs>
                              <m:mc>
                                <m:mcPr>
                                  <m:count m:val="1"/>
                                  <m:mcJc m:val="center"/>
                                </m:mcPr>
                              </m:mc>
                            </m:mcs>
                            <m:ctrlPr>
                              <a:rPr lang="it-IT" i="1">
                                <a:latin typeface="Cambria Math" panose="02040503050406030204" pitchFamily="18" charset="0"/>
                              </a:rPr>
                            </m:ctrlPr>
                          </m:mPr>
                          <m:mr>
                            <m:e>
                              <m:r>
                                <m:rPr>
                                  <m:brk m:alnAt="7"/>
                                </m:rPr>
                                <a:rPr lang="it-IT" i="1">
                                  <a:latin typeface="Cambria Math" panose="02040503050406030204" pitchFamily="18" charset="0"/>
                                </a:rPr>
                                <m:t>1</m:t>
                              </m:r>
                            </m:e>
                          </m:mr>
                          <m:mr>
                            <m:e>
                              <m:r>
                                <a:rPr lang="it-IT" i="1">
                                  <a:latin typeface="Cambria Math" panose="02040503050406030204" pitchFamily="18" charset="0"/>
                                </a:rPr>
                                <m:t>−</m:t>
                              </m:r>
                              <m:r>
                                <a:rPr lang="it-IT" i="1">
                                  <a:latin typeface="Cambria Math" panose="02040503050406030204" pitchFamily="18" charset="0"/>
                                </a:rPr>
                                <m:t>𝑖</m:t>
                              </m:r>
                            </m:e>
                          </m:mr>
                        </m:m>
                      </m:e>
                    </m:d>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1</m:t>
                        </m:r>
                      </m:num>
                      <m:den>
                        <m:rad>
                          <m:radPr>
                            <m:degHide m:val="on"/>
                            <m:ctrlPr>
                              <a:rPr lang="it-IT" i="1">
                                <a:latin typeface="Cambria Math" panose="02040503050406030204" pitchFamily="18" charset="0"/>
                              </a:rPr>
                            </m:ctrlPr>
                          </m:radPr>
                          <m:deg/>
                          <m:e>
                            <m:r>
                              <a:rPr lang="it-IT" i="1">
                                <a:latin typeface="Cambria Math" panose="02040503050406030204" pitchFamily="18" charset="0"/>
                              </a:rPr>
                              <m:t>2</m:t>
                            </m:r>
                          </m:e>
                        </m:rad>
                      </m:den>
                    </m:f>
                    <m:d>
                      <m:dPr>
                        <m:begChr m:val="["/>
                        <m:endChr m:val="]"/>
                        <m:ctrlPr>
                          <a:rPr lang="it-IT" i="1">
                            <a:latin typeface="Cambria Math" panose="02040503050406030204" pitchFamily="18" charset="0"/>
                          </a:rPr>
                        </m:ctrlPr>
                      </m:dPr>
                      <m:e>
                        <m:m>
                          <m:mPr>
                            <m:mcs>
                              <m:mc>
                                <m:mcPr>
                                  <m:count m:val="1"/>
                                  <m:mcJc m:val="center"/>
                                </m:mcPr>
                              </m:mc>
                            </m:mcs>
                            <m:ctrlPr>
                              <a:rPr lang="it-IT" i="1">
                                <a:latin typeface="Cambria Math" panose="02040503050406030204" pitchFamily="18" charset="0"/>
                              </a:rPr>
                            </m:ctrlPr>
                          </m:mPr>
                          <m:mr>
                            <m:e>
                              <m:r>
                                <m:rPr>
                                  <m:brk m:alnAt="7"/>
                                </m:rPr>
                                <a:rPr lang="it-IT" i="1">
                                  <a:latin typeface="Cambria Math" panose="02040503050406030204" pitchFamily="18" charset="0"/>
                                </a:rPr>
                                <m:t>1</m:t>
                              </m:r>
                            </m:e>
                          </m:mr>
                          <m:mr>
                            <m:e>
                              <m:sSup>
                                <m:sSupPr>
                                  <m:ctrlPr>
                                    <a:rPr lang="it-IT" i="1">
                                      <a:latin typeface="Cambria Math" panose="02040503050406030204" pitchFamily="18" charset="0"/>
                                    </a:rPr>
                                  </m:ctrlPr>
                                </m:sSupPr>
                                <m:e>
                                  <m:r>
                                    <a:rPr lang="it-IT" i="1">
                                      <a:latin typeface="Cambria Math" panose="02040503050406030204" pitchFamily="18" charset="0"/>
                                    </a:rPr>
                                    <m:t>𝑒</m:t>
                                  </m:r>
                                </m:e>
                                <m:sup>
                                  <m:r>
                                    <a:rPr lang="it-IT" b="0" i="1" smtClean="0">
                                      <a:latin typeface="Cambria Math" panose="02040503050406030204" pitchFamily="18" charset="0"/>
                                    </a:rPr>
                                    <m:t>−</m:t>
                                  </m:r>
                                  <m:r>
                                    <a:rPr lang="it-IT" i="1">
                                      <a:latin typeface="Cambria Math" panose="02040503050406030204" pitchFamily="18" charset="0"/>
                                    </a:rPr>
                                    <m:t>𝑖</m:t>
                                  </m:r>
                                  <m:f>
                                    <m:fPr>
                                      <m:type m:val="skw"/>
                                      <m:ctrlPr>
                                        <a:rPr lang="it-IT" i="1">
                                          <a:latin typeface="Cambria Math" panose="02040503050406030204" pitchFamily="18" charset="0"/>
                                        </a:rPr>
                                      </m:ctrlPr>
                                    </m:fPr>
                                    <m:num>
                                      <m:r>
                                        <a:rPr lang="it-IT" i="1">
                                          <a:latin typeface="Cambria Math" panose="02040503050406030204" pitchFamily="18" charset="0"/>
                                          <a:ea typeface="Cambria Math" panose="02040503050406030204" pitchFamily="18" charset="0"/>
                                        </a:rPr>
                                        <m:t>𝜋</m:t>
                                      </m:r>
                                    </m:num>
                                    <m:den>
                                      <m:r>
                                        <a:rPr lang="it-IT" i="1">
                                          <a:latin typeface="Cambria Math" panose="02040503050406030204" pitchFamily="18" charset="0"/>
                                        </a:rPr>
                                        <m:t>4</m:t>
                                      </m:r>
                                    </m:den>
                                  </m:f>
                                </m:sup>
                              </m:sSup>
                            </m:e>
                          </m:mr>
                        </m:m>
                      </m:e>
                    </m:d>
                  </m:oMath>
                </a14:m>
                <a:endParaRPr lang="en-IT"/>
              </a:p>
            </p:txBody>
          </p:sp>
        </mc:Choice>
        <mc:Fallback>
          <p:sp>
            <p:nvSpPr>
              <p:cNvPr id="3" name="Content Placeholder 2">
                <a:extLst>
                  <a:ext uri="{FF2B5EF4-FFF2-40B4-BE49-F238E27FC236}">
                    <a16:creationId xmlns:a16="http://schemas.microsoft.com/office/drawing/2014/main" id="{4EA7D5C4-8C2E-E2A0-BB19-C1D2AF004D02}"/>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5" name="Right Arrow 4">
            <a:extLst>
              <a:ext uri="{FF2B5EF4-FFF2-40B4-BE49-F238E27FC236}">
                <a16:creationId xmlns:a16="http://schemas.microsoft.com/office/drawing/2014/main" id="{C61CF1F7-9909-D5AB-AC91-6D17D4FC66B2}"/>
              </a:ext>
            </a:extLst>
          </p:cNvPr>
          <p:cNvSpPr/>
          <p:nvPr/>
        </p:nvSpPr>
        <p:spPr>
          <a:xfrm>
            <a:off x="5157216" y="4462272"/>
            <a:ext cx="1529334" cy="4023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pic>
        <p:nvPicPr>
          <p:cNvPr id="8" name="Picture 7">
            <a:extLst>
              <a:ext uri="{FF2B5EF4-FFF2-40B4-BE49-F238E27FC236}">
                <a16:creationId xmlns:a16="http://schemas.microsoft.com/office/drawing/2014/main" id="{E3F400C4-06CC-BFE4-A491-14E2B624F059}"/>
              </a:ext>
            </a:extLst>
          </p:cNvPr>
          <p:cNvPicPr>
            <a:picLocks noChangeAspect="1"/>
          </p:cNvPicPr>
          <p:nvPr/>
        </p:nvPicPr>
        <p:blipFill>
          <a:blip r:embed="rId3"/>
          <a:stretch>
            <a:fillRect/>
          </a:stretch>
        </p:blipFill>
        <p:spPr>
          <a:xfrm>
            <a:off x="1895094" y="2891161"/>
            <a:ext cx="3262122" cy="3544557"/>
          </a:xfrm>
          <a:prstGeom prst="rect">
            <a:avLst/>
          </a:prstGeom>
        </p:spPr>
      </p:pic>
      <p:pic>
        <p:nvPicPr>
          <p:cNvPr id="9" name="Picture 8">
            <a:extLst>
              <a:ext uri="{FF2B5EF4-FFF2-40B4-BE49-F238E27FC236}">
                <a16:creationId xmlns:a16="http://schemas.microsoft.com/office/drawing/2014/main" id="{9405CC98-2068-3B35-FE5A-6C31E6B3664F}"/>
              </a:ext>
            </a:extLst>
          </p:cNvPr>
          <p:cNvPicPr>
            <a:picLocks noChangeAspect="1"/>
          </p:cNvPicPr>
          <p:nvPr/>
        </p:nvPicPr>
        <p:blipFill>
          <a:blip r:embed="rId4"/>
          <a:stretch>
            <a:fillRect/>
          </a:stretch>
        </p:blipFill>
        <p:spPr>
          <a:xfrm>
            <a:off x="6686550" y="2891160"/>
            <a:ext cx="3262122" cy="3544557"/>
          </a:xfrm>
          <a:prstGeom prst="rect">
            <a:avLst/>
          </a:prstGeom>
        </p:spPr>
      </p:pic>
    </p:spTree>
    <p:extLst>
      <p:ext uri="{BB962C8B-B14F-4D97-AF65-F5344CB8AC3E}">
        <p14:creationId xmlns:p14="http://schemas.microsoft.com/office/powerpoint/2010/main" val="4137998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4161B-84AD-3D09-0E47-8FE9681EB138}"/>
              </a:ext>
            </a:extLst>
          </p:cNvPr>
          <p:cNvSpPr>
            <a:spLocks noGrp="1"/>
          </p:cNvSpPr>
          <p:nvPr>
            <p:ph type="title"/>
          </p:nvPr>
        </p:nvSpPr>
        <p:spPr/>
        <p:txBody>
          <a:bodyPr/>
          <a:lstStyle/>
          <a:p>
            <a:r>
              <a:rPr lang="en-IT"/>
              <a:t>Exercise: Alternative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54B3BD-20A7-87DE-A61F-F9989EAB8BBA}"/>
                  </a:ext>
                </a:extLst>
              </p:cNvPr>
              <p:cNvSpPr>
                <a:spLocks noGrp="1"/>
              </p:cNvSpPr>
              <p:nvPr>
                <p:ph idx="1"/>
              </p:nvPr>
            </p:nvSpPr>
            <p:spPr>
              <a:xfrm>
                <a:off x="306859" y="3568200"/>
                <a:ext cx="11578281" cy="2774719"/>
              </a:xfrm>
            </p:spPr>
            <p:txBody>
              <a:bodyPr/>
              <a:lstStyle/>
              <a:p>
                <a:r>
                  <a:rPr lang="en-IT"/>
                  <a:t>Alternatively, we can apply all gates in a single iteration:</a:t>
                </a:r>
              </a:p>
              <a:p>
                <a14:m>
                  <m:oMath xmlns:m="http://schemas.openxmlformats.org/officeDocument/2006/math">
                    <m:d>
                      <m:dPr>
                        <m:begChr m:val="|"/>
                        <m:endChr m:val="|"/>
                        <m:ctrlPr>
                          <a:rPr lang="it-IT" i="1">
                            <a:latin typeface="Cambria Math" panose="02040503050406030204" pitchFamily="18" charset="0"/>
                          </a:rPr>
                        </m:ctrlPr>
                      </m:dPr>
                      <m:e>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sup>
                            </m:sSup>
                          </m:e>
                        </m:d>
                        <m:r>
                          <a:rPr lang="it-IT" i="1">
                            <a:latin typeface="Cambria Math" panose="02040503050406030204" pitchFamily="18" charset="0"/>
                          </a:rPr>
                          <m:t>=</m:t>
                        </m:r>
                        <m:r>
                          <a:rPr lang="it-IT" i="1">
                            <a:latin typeface="Cambria Math" panose="02040503050406030204" pitchFamily="18" charset="0"/>
                          </a:rPr>
                          <m:t>𝑇</m:t>
                        </m:r>
                        <m:r>
                          <a:rPr lang="it-IT" b="0" i="1" smtClean="0">
                            <a:latin typeface="Cambria Math" panose="02040503050406030204" pitchFamily="18" charset="0"/>
                          </a:rPr>
                          <m:t>|</m:t>
                        </m:r>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sup>
                            </m:sSup>
                          </m:e>
                        </m:d>
                        <m:r>
                          <a:rPr lang="it-IT" b="0" i="1" smtClean="0">
                            <a:latin typeface="Cambria Math" panose="02040503050406030204" pitchFamily="18" charset="0"/>
                          </a:rPr>
                          <m:t>=</m:t>
                        </m:r>
                        <m:r>
                          <a:rPr lang="it-IT" b="0" i="1" smtClean="0">
                            <a:latin typeface="Cambria Math" panose="02040503050406030204" pitchFamily="18" charset="0"/>
                          </a:rPr>
                          <m:t>𝑇</m:t>
                        </m:r>
                        <m:d>
                          <m:dPr>
                            <m:ctrlPr>
                              <a:rPr lang="it-IT" b="0" i="1" smtClean="0">
                                <a:latin typeface="Cambria Math" panose="02040503050406030204" pitchFamily="18" charset="0"/>
                              </a:rPr>
                            </m:ctrlPr>
                          </m:dPr>
                          <m:e>
                            <m:r>
                              <a:rPr lang="it-IT" b="0" i="1" smtClean="0">
                                <a:latin typeface="Cambria Math" panose="02040503050406030204" pitchFamily="18" charset="0"/>
                              </a:rPr>
                              <m:t>𝑆</m:t>
                            </m:r>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b="0" i="1" smtClean="0">
                                        <a:latin typeface="Cambria Math" panose="02040503050406030204" pitchFamily="18" charset="0"/>
                                      </a:rPr>
                                      <m:t>|</m:t>
                                    </m:r>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sup>
                                </m:sSup>
                              </m:e>
                            </m:d>
                          </m:e>
                        </m:d>
                        <m:r>
                          <a:rPr lang="it-IT" b="0" i="1" smtClean="0">
                            <a:latin typeface="Cambria Math" panose="02040503050406030204" pitchFamily="18" charset="0"/>
                          </a:rPr>
                          <m:t>=</m:t>
                        </m:r>
                        <m:r>
                          <a:rPr lang="it-IT" b="0" i="1" smtClean="0">
                            <a:latin typeface="Cambria Math" panose="02040503050406030204" pitchFamily="18" charset="0"/>
                          </a:rPr>
                          <m:t>𝑇𝑆</m:t>
                        </m:r>
                        <m:r>
                          <a:rPr lang="it-IT" b="0" i="1" smtClean="0">
                            <a:latin typeface="Cambria Math" panose="02040503050406030204" pitchFamily="18" charset="0"/>
                          </a:rPr>
                          <m:t>(</m:t>
                        </m:r>
                        <m:r>
                          <a:rPr lang="it-IT" b="0" i="1" smtClean="0">
                            <a:latin typeface="Cambria Math" panose="02040503050406030204" pitchFamily="18" charset="0"/>
                          </a:rPr>
                          <m:t>𝑍</m:t>
                        </m:r>
                        <m:d>
                          <m:dPr>
                            <m:begChr m:val=""/>
                            <m:endChr m:val="⟩"/>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b="0" i="1" smtClean="0">
                                    <a:latin typeface="Cambria Math" panose="02040503050406030204" pitchFamily="18" charset="0"/>
                                  </a:rPr>
                                  <m:t>|</m:t>
                                </m:r>
                                <m:r>
                                  <a:rPr lang="it-IT" i="1">
                                    <a:latin typeface="Cambria Math" panose="02040503050406030204" pitchFamily="18" charset="0"/>
                                    <a:ea typeface="Cambria Math" panose="02040503050406030204" pitchFamily="18" charset="0"/>
                                  </a:rPr>
                                  <m:t>𝜓</m:t>
                                </m:r>
                              </m:e>
                              <m:sup>
                                <m:r>
                                  <a:rPr lang="it-IT" i="1">
                                    <a:latin typeface="Cambria Math" panose="02040503050406030204" pitchFamily="18" charset="0"/>
                                  </a:rPr>
                                  <m:t>′</m:t>
                                </m:r>
                              </m:sup>
                            </m:sSup>
                          </m:e>
                        </m:d>
                        <m:r>
                          <a:rPr lang="it-IT" b="0" i="1" smtClean="0">
                            <a:latin typeface="Cambria Math" panose="02040503050406030204" pitchFamily="18" charset="0"/>
                          </a:rPr>
                          <m:t>)=</m:t>
                        </m:r>
                        <m:r>
                          <a:rPr lang="it-IT" b="0" i="1" smtClean="0">
                            <a:latin typeface="Cambria Math" panose="02040503050406030204" pitchFamily="18" charset="0"/>
                          </a:rPr>
                          <m:t>𝑇𝑆𝑍</m:t>
                        </m:r>
                        <m:r>
                          <a:rPr lang="it-IT" b="0" i="1" smtClean="0">
                            <a:latin typeface="Cambria Math" panose="02040503050406030204" pitchFamily="18" charset="0"/>
                          </a:rPr>
                          <m:t>(</m:t>
                        </m:r>
                        <m:r>
                          <a:rPr lang="it-IT" b="0" i="1" smtClean="0">
                            <a:latin typeface="Cambria Math" panose="02040503050406030204" pitchFamily="18" charset="0"/>
                          </a:rPr>
                          <m:t>𝐻</m:t>
                        </m:r>
                      </m:e>
                    </m:d>
                    <m:d>
                      <m:dPr>
                        <m:begChr m:val=""/>
                        <m:endChr m:val="⟩"/>
                        <m:ctrlPr>
                          <a:rPr lang="it-IT" i="1" smtClean="0">
                            <a:latin typeface="Cambria Math" panose="02040503050406030204" pitchFamily="18" charset="0"/>
                          </a:rPr>
                        </m:ctrlPr>
                      </m:dPr>
                      <m:e>
                        <m:r>
                          <a:rPr lang="it-IT" b="0" i="1" smtClean="0">
                            <a:latin typeface="Cambria Math" panose="02040503050406030204" pitchFamily="18" charset="0"/>
                          </a:rPr>
                          <m:t>0</m:t>
                        </m:r>
                      </m:e>
                    </m:d>
                    <m:r>
                      <a:rPr lang="it-IT" b="0" i="1" smtClean="0">
                        <a:latin typeface="Cambria Math" panose="02040503050406030204" pitchFamily="18" charset="0"/>
                      </a:rPr>
                      <m:t>)</m:t>
                    </m:r>
                    <m:r>
                      <a:rPr lang="it-IT" b="0" i="0" smtClean="0">
                        <a:latin typeface="Cambria Math" panose="02040503050406030204" pitchFamily="18" charset="0"/>
                      </a:rPr>
                      <m:t>=</m:t>
                    </m:r>
                    <m:d>
                      <m:dPr>
                        <m:begChr m:val=""/>
                        <m:endChr m:val="⟩"/>
                        <m:ctrlPr>
                          <a:rPr lang="it-IT" i="1" smtClean="0">
                            <a:solidFill>
                              <a:srgbClr val="FF0000"/>
                            </a:solidFill>
                            <a:latin typeface="Cambria Math" panose="02040503050406030204" pitchFamily="18" charset="0"/>
                          </a:rPr>
                        </m:ctrlPr>
                      </m:dPr>
                      <m:e>
                        <m:r>
                          <a:rPr lang="it-IT" b="0" i="1">
                            <a:solidFill>
                              <a:srgbClr val="FF0000"/>
                            </a:solidFill>
                            <a:latin typeface="Cambria Math" panose="02040503050406030204" pitchFamily="18" charset="0"/>
                          </a:rPr>
                          <m:t>𝑇𝑆𝑍𝐻</m:t>
                        </m:r>
                        <m:r>
                          <a:rPr lang="it-IT" b="0" i="1">
                            <a:solidFill>
                              <a:srgbClr val="FF0000"/>
                            </a:solidFill>
                            <a:latin typeface="Cambria Math" panose="02040503050406030204" pitchFamily="18" charset="0"/>
                          </a:rPr>
                          <m:t>|0</m:t>
                        </m:r>
                      </m:e>
                    </m:d>
                  </m:oMath>
                </a14:m>
                <a:endParaRPr lang="en-IT"/>
              </a:p>
              <a:p>
                <a14:m>
                  <m:oMath xmlns:m="http://schemas.openxmlformats.org/officeDocument/2006/math">
                    <m:r>
                      <a:rPr lang="it-IT" sz="2400" b="0" i="1" smtClean="0">
                        <a:latin typeface="Cambria Math" panose="02040503050406030204" pitchFamily="18" charset="0"/>
                      </a:rPr>
                      <m:t>𝑇𝑆𝑍𝐻</m:t>
                    </m:r>
                    <m:r>
                      <a:rPr lang="it-IT" sz="2400" b="0" i="1" smtClean="0">
                        <a:latin typeface="Cambria Math" panose="02040503050406030204" pitchFamily="18" charset="0"/>
                      </a:rPr>
                      <m:t>=</m:t>
                    </m:r>
                    <m:d>
                      <m:dPr>
                        <m:begChr m:val="["/>
                        <m:endChr m:val="]"/>
                        <m:ctrlPr>
                          <a:rPr lang="it-IT" sz="2400" i="1">
                            <a:latin typeface="Cambria Math" panose="02040503050406030204" pitchFamily="18" charset="0"/>
                          </a:rPr>
                        </m:ctrlPr>
                      </m:dPr>
                      <m:e>
                        <m:m>
                          <m:mPr>
                            <m:mcs>
                              <m:mc>
                                <m:mcPr>
                                  <m:count m:val="2"/>
                                  <m:mcJc m:val="center"/>
                                </m:mcPr>
                              </m:mc>
                            </m:mcs>
                            <m:ctrlPr>
                              <a:rPr lang="it-IT" sz="2400" i="1">
                                <a:latin typeface="Cambria Math" panose="02040503050406030204" pitchFamily="18" charset="0"/>
                              </a:rPr>
                            </m:ctrlPr>
                          </m:mPr>
                          <m:mr>
                            <m:e>
                              <m:r>
                                <m:rPr>
                                  <m:brk m:alnAt="7"/>
                                </m:rPr>
                                <a:rPr lang="it-IT" sz="2400" i="1">
                                  <a:latin typeface="Cambria Math" panose="02040503050406030204" pitchFamily="18" charset="0"/>
                                </a:rPr>
                                <m:t>1</m:t>
                              </m:r>
                            </m:e>
                            <m:e>
                              <m:r>
                                <a:rPr lang="it-IT" sz="2400" i="1">
                                  <a:latin typeface="Cambria Math" panose="02040503050406030204" pitchFamily="18" charset="0"/>
                                </a:rPr>
                                <m:t>0</m:t>
                              </m:r>
                            </m:e>
                          </m:mr>
                          <m:mr>
                            <m:e>
                              <m:r>
                                <a:rPr lang="it-IT" sz="2400" i="1">
                                  <a:latin typeface="Cambria Math" panose="02040503050406030204" pitchFamily="18" charset="0"/>
                                </a:rPr>
                                <m:t>0</m:t>
                              </m:r>
                            </m:e>
                            <m:e>
                              <m:sSup>
                                <m:sSupPr>
                                  <m:ctrlPr>
                                    <a:rPr lang="it-IT" sz="2400" i="1">
                                      <a:latin typeface="Cambria Math" panose="02040503050406030204" pitchFamily="18" charset="0"/>
                                    </a:rPr>
                                  </m:ctrlPr>
                                </m:sSupPr>
                                <m:e>
                                  <m:r>
                                    <a:rPr lang="it-IT" sz="2400" i="1">
                                      <a:latin typeface="Cambria Math" panose="02040503050406030204" pitchFamily="18" charset="0"/>
                                    </a:rPr>
                                    <m:t>𝑒</m:t>
                                  </m:r>
                                </m:e>
                                <m:sup>
                                  <m:r>
                                    <a:rPr lang="it-IT" sz="2400" i="1">
                                      <a:latin typeface="Cambria Math" panose="02040503050406030204" pitchFamily="18" charset="0"/>
                                    </a:rPr>
                                    <m:t>𝑖</m:t>
                                  </m:r>
                                  <m:r>
                                    <a:rPr lang="it-IT" sz="2400" i="1">
                                      <a:latin typeface="Cambria Math" panose="02040503050406030204" pitchFamily="18" charset="0"/>
                                      <a:ea typeface="Cambria Math" panose="02040503050406030204" pitchFamily="18" charset="0"/>
                                    </a:rPr>
                                    <m:t>𝜋</m:t>
                                  </m:r>
                                  <m:r>
                                    <a:rPr lang="it-IT" sz="2400" i="1">
                                      <a:latin typeface="Cambria Math" panose="02040503050406030204" pitchFamily="18" charset="0"/>
                                      <a:ea typeface="Cambria Math" panose="02040503050406030204" pitchFamily="18" charset="0"/>
                                    </a:rPr>
                                    <m:t>/4</m:t>
                                  </m:r>
                                </m:sup>
                              </m:sSup>
                            </m:e>
                          </m:mr>
                        </m:m>
                      </m:e>
                    </m:d>
                  </m:oMath>
                </a14:m>
                <a:r>
                  <a:rPr lang="en-IT" sz="2400"/>
                  <a:t>*</a:t>
                </a:r>
                <a:r>
                  <a:rPr lang="it-IT" sz="2400"/>
                  <a:t> </a:t>
                </a:r>
                <a14:m>
                  <m:oMath xmlns:m="http://schemas.openxmlformats.org/officeDocument/2006/math">
                    <m:d>
                      <m:dPr>
                        <m:begChr m:val="["/>
                        <m:endChr m:val="]"/>
                        <m:ctrlPr>
                          <a:rPr lang="it-IT" sz="2400" i="1">
                            <a:latin typeface="Cambria Math" panose="02040503050406030204" pitchFamily="18" charset="0"/>
                          </a:rPr>
                        </m:ctrlPr>
                      </m:dPr>
                      <m:e>
                        <m:m>
                          <m:mPr>
                            <m:mcs>
                              <m:mc>
                                <m:mcPr>
                                  <m:count m:val="2"/>
                                  <m:mcJc m:val="center"/>
                                </m:mcPr>
                              </m:mc>
                            </m:mcs>
                            <m:ctrlPr>
                              <a:rPr lang="it-IT" sz="2400" i="1">
                                <a:latin typeface="Cambria Math" panose="02040503050406030204" pitchFamily="18" charset="0"/>
                              </a:rPr>
                            </m:ctrlPr>
                          </m:mPr>
                          <m:mr>
                            <m:e>
                              <m:r>
                                <m:rPr>
                                  <m:brk m:alnAt="7"/>
                                </m:rPr>
                                <a:rPr lang="it-IT" sz="2400" i="1">
                                  <a:latin typeface="Cambria Math" panose="02040503050406030204" pitchFamily="18" charset="0"/>
                                </a:rPr>
                                <m:t>1</m:t>
                              </m:r>
                            </m:e>
                            <m:e>
                              <m:r>
                                <a:rPr lang="it-IT" sz="2400" i="1">
                                  <a:latin typeface="Cambria Math" panose="02040503050406030204" pitchFamily="18" charset="0"/>
                                </a:rPr>
                                <m:t>0</m:t>
                              </m:r>
                            </m:e>
                          </m:mr>
                          <m:mr>
                            <m:e>
                              <m:r>
                                <a:rPr lang="it-IT" sz="2400" i="1">
                                  <a:latin typeface="Cambria Math" panose="02040503050406030204" pitchFamily="18" charset="0"/>
                                </a:rPr>
                                <m:t>0</m:t>
                              </m:r>
                            </m:e>
                            <m:e>
                              <m:r>
                                <a:rPr lang="it-IT" sz="2400" b="0" i="1" smtClean="0">
                                  <a:latin typeface="Cambria Math" panose="02040503050406030204" pitchFamily="18" charset="0"/>
                                </a:rPr>
                                <m:t>𝑖</m:t>
                              </m:r>
                            </m:e>
                          </m:mr>
                        </m:m>
                      </m:e>
                    </m:d>
                  </m:oMath>
                </a14:m>
                <a:r>
                  <a:rPr lang="en-IT" sz="2400"/>
                  <a:t>*</a:t>
                </a:r>
                <a:r>
                  <a:rPr lang="it-IT" sz="2400"/>
                  <a:t> </a:t>
                </a:r>
                <a14:m>
                  <m:oMath xmlns:m="http://schemas.openxmlformats.org/officeDocument/2006/math">
                    <m:d>
                      <m:dPr>
                        <m:begChr m:val="["/>
                        <m:endChr m:val="]"/>
                        <m:ctrlPr>
                          <a:rPr lang="it-IT" sz="2400" i="1">
                            <a:latin typeface="Cambria Math" panose="02040503050406030204" pitchFamily="18" charset="0"/>
                          </a:rPr>
                        </m:ctrlPr>
                      </m:dPr>
                      <m:e>
                        <m:m>
                          <m:mPr>
                            <m:mcs>
                              <m:mc>
                                <m:mcPr>
                                  <m:count m:val="2"/>
                                  <m:mcJc m:val="center"/>
                                </m:mcPr>
                              </m:mc>
                            </m:mcs>
                            <m:ctrlPr>
                              <a:rPr lang="it-IT" sz="2400" i="1">
                                <a:latin typeface="Cambria Math" panose="02040503050406030204" pitchFamily="18" charset="0"/>
                              </a:rPr>
                            </m:ctrlPr>
                          </m:mPr>
                          <m:mr>
                            <m:e>
                              <m:r>
                                <m:rPr>
                                  <m:brk m:alnAt="7"/>
                                </m:rPr>
                                <a:rPr lang="it-IT" sz="2400" i="1">
                                  <a:latin typeface="Cambria Math" panose="02040503050406030204" pitchFamily="18" charset="0"/>
                                </a:rPr>
                                <m:t>1</m:t>
                              </m:r>
                            </m:e>
                            <m:e>
                              <m:r>
                                <a:rPr lang="it-IT" sz="2400" i="1">
                                  <a:latin typeface="Cambria Math" panose="02040503050406030204" pitchFamily="18" charset="0"/>
                                </a:rPr>
                                <m:t>0</m:t>
                              </m:r>
                            </m:e>
                          </m:mr>
                          <m:mr>
                            <m:e>
                              <m:r>
                                <a:rPr lang="it-IT" sz="2400" i="1">
                                  <a:latin typeface="Cambria Math" panose="02040503050406030204" pitchFamily="18" charset="0"/>
                                </a:rPr>
                                <m:t>0</m:t>
                              </m:r>
                            </m:e>
                            <m:e>
                              <m:r>
                                <a:rPr lang="it-IT" sz="2400" b="0" i="1" smtClean="0">
                                  <a:latin typeface="Cambria Math" panose="02040503050406030204" pitchFamily="18" charset="0"/>
                                </a:rPr>
                                <m:t>−1</m:t>
                              </m:r>
                            </m:e>
                          </m:mr>
                        </m:m>
                      </m:e>
                    </m:d>
                  </m:oMath>
                </a14:m>
                <a:r>
                  <a:rPr lang="en-IT" sz="2400"/>
                  <a:t>*</a:t>
                </a:r>
                <a:r>
                  <a:rPr lang="it-IT" sz="2400"/>
                  <a:t> </a:t>
                </a:r>
                <a14:m>
                  <m:oMath xmlns:m="http://schemas.openxmlformats.org/officeDocument/2006/math">
                    <m:box>
                      <m:boxPr>
                        <m:ctrlPr>
                          <a:rPr lang="it-IT" sz="2400" i="1" smtClean="0">
                            <a:latin typeface="Cambria Math" panose="02040503050406030204" pitchFamily="18" charset="0"/>
                          </a:rPr>
                        </m:ctrlPr>
                      </m:boxPr>
                      <m:e>
                        <m:argPr>
                          <m:argSz m:val="-1"/>
                        </m:argPr>
                        <m:f>
                          <m:fPr>
                            <m:ctrlPr>
                              <a:rPr lang="it-IT" sz="2400" i="1" smtClean="0">
                                <a:latin typeface="Cambria Math" panose="02040503050406030204" pitchFamily="18" charset="0"/>
                              </a:rPr>
                            </m:ctrlPr>
                          </m:fPr>
                          <m:num>
                            <m:r>
                              <a:rPr lang="it-IT" sz="2400" b="0" i="1" smtClean="0">
                                <a:latin typeface="Cambria Math" panose="02040503050406030204" pitchFamily="18" charset="0"/>
                              </a:rPr>
                              <m:t>1</m:t>
                            </m:r>
                          </m:num>
                          <m:den>
                            <m:rad>
                              <m:radPr>
                                <m:degHide m:val="on"/>
                                <m:ctrlPr>
                                  <a:rPr lang="it-IT" sz="2400" i="1" smtClean="0">
                                    <a:latin typeface="Cambria Math" panose="02040503050406030204" pitchFamily="18" charset="0"/>
                                  </a:rPr>
                                </m:ctrlPr>
                              </m:radPr>
                              <m:deg/>
                              <m:e>
                                <m:r>
                                  <a:rPr lang="it-IT" sz="2400" b="0" i="1" smtClean="0">
                                    <a:latin typeface="Cambria Math" panose="02040503050406030204" pitchFamily="18" charset="0"/>
                                  </a:rPr>
                                  <m:t>2</m:t>
                                </m:r>
                              </m:e>
                            </m:rad>
                          </m:den>
                        </m:f>
                      </m:e>
                    </m:box>
                    <m:d>
                      <m:dPr>
                        <m:begChr m:val="["/>
                        <m:endChr m:val="]"/>
                        <m:ctrlPr>
                          <a:rPr lang="it-IT" sz="2400" i="1">
                            <a:latin typeface="Cambria Math" panose="02040503050406030204" pitchFamily="18" charset="0"/>
                          </a:rPr>
                        </m:ctrlPr>
                      </m:dPr>
                      <m:e>
                        <m:m>
                          <m:mPr>
                            <m:mcs>
                              <m:mc>
                                <m:mcPr>
                                  <m:count m:val="2"/>
                                  <m:mcJc m:val="center"/>
                                </m:mcPr>
                              </m:mc>
                            </m:mcs>
                            <m:ctrlPr>
                              <a:rPr lang="it-IT" sz="2400" i="1">
                                <a:latin typeface="Cambria Math" panose="02040503050406030204" pitchFamily="18" charset="0"/>
                              </a:rPr>
                            </m:ctrlPr>
                          </m:mPr>
                          <m:mr>
                            <m:e>
                              <m:r>
                                <m:rPr>
                                  <m:brk m:alnAt="7"/>
                                </m:rPr>
                                <a:rPr lang="it-IT" sz="2400" i="1">
                                  <a:latin typeface="Cambria Math" panose="02040503050406030204" pitchFamily="18" charset="0"/>
                                </a:rPr>
                                <m:t>1</m:t>
                              </m:r>
                            </m:e>
                            <m:e>
                              <m:r>
                                <a:rPr lang="it-IT" sz="2400" b="0" i="1" smtClean="0">
                                  <a:latin typeface="Cambria Math" panose="02040503050406030204" pitchFamily="18" charset="0"/>
                                </a:rPr>
                                <m:t>1</m:t>
                              </m:r>
                            </m:e>
                          </m:mr>
                          <m:mr>
                            <m:e>
                              <m:r>
                                <a:rPr lang="it-IT" sz="2400" b="0" i="1" smtClean="0">
                                  <a:latin typeface="Cambria Math" panose="02040503050406030204" pitchFamily="18" charset="0"/>
                                </a:rPr>
                                <m:t>1</m:t>
                              </m:r>
                            </m:e>
                            <m:e>
                              <m:r>
                                <a:rPr lang="it-IT" sz="2400" b="0" i="1" smtClean="0">
                                  <a:latin typeface="Cambria Math" panose="02040503050406030204" pitchFamily="18" charset="0"/>
                                </a:rPr>
                                <m:t>−1</m:t>
                              </m:r>
                            </m:e>
                          </m:mr>
                        </m:m>
                      </m:e>
                    </m:d>
                    <m:r>
                      <a:rPr lang="it-IT" sz="2400" b="0" i="1" smtClean="0">
                        <a:latin typeface="Cambria Math" panose="02040503050406030204" pitchFamily="18" charset="0"/>
                        <a:ea typeface="Cambria Math" panose="02040503050406030204" pitchFamily="18" charset="0"/>
                      </a:rPr>
                      <m:t>=</m:t>
                    </m:r>
                    <m:f>
                      <m:fPr>
                        <m:ctrlPr>
                          <a:rPr lang="it-IT" sz="2400" i="1">
                            <a:latin typeface="Cambria Math" panose="02040503050406030204" pitchFamily="18" charset="0"/>
                          </a:rPr>
                        </m:ctrlPr>
                      </m:fPr>
                      <m:num>
                        <m:r>
                          <a:rPr lang="it-IT" sz="2400" i="1">
                            <a:latin typeface="Cambria Math" panose="02040503050406030204" pitchFamily="18" charset="0"/>
                          </a:rPr>
                          <m:t>1</m:t>
                        </m:r>
                      </m:num>
                      <m:den>
                        <m:rad>
                          <m:radPr>
                            <m:degHide m:val="on"/>
                            <m:ctrlPr>
                              <a:rPr lang="it-IT" sz="2400" i="1">
                                <a:latin typeface="Cambria Math" panose="02040503050406030204" pitchFamily="18" charset="0"/>
                              </a:rPr>
                            </m:ctrlPr>
                          </m:radPr>
                          <m:deg/>
                          <m:e>
                            <m:r>
                              <a:rPr lang="it-IT" sz="2400" i="1">
                                <a:latin typeface="Cambria Math" panose="02040503050406030204" pitchFamily="18" charset="0"/>
                              </a:rPr>
                              <m:t>2</m:t>
                            </m:r>
                          </m:e>
                        </m:rad>
                      </m:den>
                    </m:f>
                    <m:d>
                      <m:dPr>
                        <m:begChr m:val="["/>
                        <m:endChr m:val="]"/>
                        <m:ctrlPr>
                          <a:rPr lang="it-IT" sz="2400" i="1">
                            <a:latin typeface="Cambria Math" panose="02040503050406030204" pitchFamily="18" charset="0"/>
                          </a:rPr>
                        </m:ctrlPr>
                      </m:dPr>
                      <m:e>
                        <m:m>
                          <m:mPr>
                            <m:mcs>
                              <m:mc>
                                <m:mcPr>
                                  <m:count m:val="2"/>
                                  <m:mcJc m:val="center"/>
                                </m:mcPr>
                              </m:mc>
                            </m:mcs>
                            <m:ctrlPr>
                              <a:rPr lang="it-IT" sz="2400" i="1">
                                <a:latin typeface="Cambria Math" panose="02040503050406030204" pitchFamily="18" charset="0"/>
                              </a:rPr>
                            </m:ctrlPr>
                          </m:mPr>
                          <m:mr>
                            <m:e>
                              <m:r>
                                <m:rPr>
                                  <m:brk m:alnAt="7"/>
                                </m:rPr>
                                <a:rPr lang="it-IT" sz="2400" i="1">
                                  <a:latin typeface="Cambria Math" panose="02040503050406030204" pitchFamily="18" charset="0"/>
                                </a:rPr>
                                <m:t>1</m:t>
                              </m:r>
                            </m:e>
                            <m:e>
                              <m:r>
                                <a:rPr lang="it-IT" sz="2400" b="0" i="1" smtClean="0">
                                  <a:latin typeface="Cambria Math" panose="02040503050406030204" pitchFamily="18" charset="0"/>
                                </a:rPr>
                                <m:t>1</m:t>
                              </m:r>
                            </m:e>
                          </m:mr>
                          <m:mr>
                            <m:e>
                              <m:sSup>
                                <m:sSupPr>
                                  <m:ctrlPr>
                                    <a:rPr lang="it-IT" sz="2400" i="1">
                                      <a:latin typeface="Cambria Math" panose="02040503050406030204" pitchFamily="18" charset="0"/>
                                    </a:rPr>
                                  </m:ctrlPr>
                                </m:sSupPr>
                                <m:e>
                                  <m:r>
                                    <a:rPr lang="it-IT" sz="2400" i="1">
                                      <a:latin typeface="Cambria Math" panose="02040503050406030204" pitchFamily="18" charset="0"/>
                                    </a:rPr>
                                    <m:t>𝑒</m:t>
                                  </m:r>
                                </m:e>
                                <m:sup>
                                  <m:r>
                                    <a:rPr lang="it-IT" sz="2400" i="1">
                                      <a:latin typeface="Cambria Math" panose="02040503050406030204" pitchFamily="18" charset="0"/>
                                    </a:rPr>
                                    <m:t>−</m:t>
                                  </m:r>
                                  <m:r>
                                    <a:rPr lang="it-IT" sz="2400" i="1">
                                      <a:latin typeface="Cambria Math" panose="02040503050406030204" pitchFamily="18" charset="0"/>
                                    </a:rPr>
                                    <m:t>𝑖</m:t>
                                  </m:r>
                                  <m:r>
                                    <a:rPr lang="it-IT" sz="2400" i="1">
                                      <a:latin typeface="Cambria Math" panose="02040503050406030204" pitchFamily="18" charset="0"/>
                                      <a:ea typeface="Cambria Math" panose="02040503050406030204" pitchFamily="18" charset="0"/>
                                    </a:rPr>
                                    <m:t>𝜋</m:t>
                                  </m:r>
                                  <m:r>
                                    <a:rPr lang="it-IT" sz="2400" i="1">
                                      <a:latin typeface="Cambria Math" panose="02040503050406030204" pitchFamily="18" charset="0"/>
                                      <a:ea typeface="Cambria Math" panose="02040503050406030204" pitchFamily="18" charset="0"/>
                                    </a:rPr>
                                    <m:t>/4</m:t>
                                  </m:r>
                                </m:sup>
                              </m:sSup>
                            </m:e>
                            <m:e>
                              <m:r>
                                <a:rPr lang="it-IT" sz="2400" b="0" i="1" smtClean="0">
                                  <a:latin typeface="Cambria Math" panose="02040503050406030204" pitchFamily="18" charset="0"/>
                                </a:rPr>
                                <m:t>−</m:t>
                              </m:r>
                              <m:sSup>
                                <m:sSupPr>
                                  <m:ctrlPr>
                                    <a:rPr lang="it-IT" sz="2400" i="1">
                                      <a:latin typeface="Cambria Math" panose="02040503050406030204" pitchFamily="18" charset="0"/>
                                    </a:rPr>
                                  </m:ctrlPr>
                                </m:sSupPr>
                                <m:e>
                                  <m:r>
                                    <a:rPr lang="it-IT" sz="2400" i="1">
                                      <a:latin typeface="Cambria Math" panose="02040503050406030204" pitchFamily="18" charset="0"/>
                                    </a:rPr>
                                    <m:t>𝑒</m:t>
                                  </m:r>
                                </m:e>
                                <m:sup>
                                  <m:r>
                                    <a:rPr lang="it-IT" sz="2400" b="0" i="1" smtClean="0">
                                      <a:latin typeface="Cambria Math" panose="02040503050406030204" pitchFamily="18" charset="0"/>
                                    </a:rPr>
                                    <m:t>−</m:t>
                                  </m:r>
                                  <m:r>
                                    <a:rPr lang="it-IT" sz="2400" i="1">
                                      <a:latin typeface="Cambria Math" panose="02040503050406030204" pitchFamily="18" charset="0"/>
                                    </a:rPr>
                                    <m:t>𝑖</m:t>
                                  </m:r>
                                  <m:r>
                                    <a:rPr lang="it-IT" sz="2400" i="1">
                                      <a:latin typeface="Cambria Math" panose="02040503050406030204" pitchFamily="18" charset="0"/>
                                      <a:ea typeface="Cambria Math" panose="02040503050406030204" pitchFamily="18" charset="0"/>
                                    </a:rPr>
                                    <m:t>𝜋</m:t>
                                  </m:r>
                                  <m:r>
                                    <a:rPr lang="it-IT" sz="2400" i="1">
                                      <a:latin typeface="Cambria Math" panose="02040503050406030204" pitchFamily="18" charset="0"/>
                                      <a:ea typeface="Cambria Math" panose="02040503050406030204" pitchFamily="18" charset="0"/>
                                    </a:rPr>
                                    <m:t>/4</m:t>
                                  </m:r>
                                </m:sup>
                              </m:sSup>
                            </m:e>
                          </m:mr>
                        </m:m>
                      </m:e>
                    </m:d>
                  </m:oMath>
                </a14:m>
                <a:endParaRPr lang="en-IT" sz="2400"/>
              </a:p>
              <a:p>
                <a14:m>
                  <m:oMath xmlns:m="http://schemas.openxmlformats.org/officeDocument/2006/math">
                    <m:d>
                      <m:dPr>
                        <m:begChr m:val=""/>
                        <m:endChr m:val="⟩"/>
                        <m:ctrlPr>
                          <a:rPr lang="it-IT" sz="2400" i="1">
                            <a:latin typeface="Cambria Math" panose="02040503050406030204" pitchFamily="18" charset="0"/>
                          </a:rPr>
                        </m:ctrlPr>
                      </m:dPr>
                      <m:e>
                        <m:sSup>
                          <m:sSupPr>
                            <m:ctrlPr>
                              <a:rPr lang="it-IT" sz="2400" i="1">
                                <a:latin typeface="Cambria Math" panose="02040503050406030204" pitchFamily="18" charset="0"/>
                              </a:rPr>
                            </m:ctrlPr>
                          </m:sSupPr>
                          <m:e>
                            <m:r>
                              <a:rPr lang="it-IT" sz="2400" b="0" i="1" smtClean="0">
                                <a:latin typeface="Cambria Math" panose="02040503050406030204" pitchFamily="18" charset="0"/>
                              </a:rPr>
                              <m:t>|</m:t>
                            </m:r>
                            <m:r>
                              <a:rPr lang="it-IT" sz="2400" i="1">
                                <a:latin typeface="Cambria Math" panose="02040503050406030204" pitchFamily="18" charset="0"/>
                                <a:ea typeface="Cambria Math" panose="02040503050406030204" pitchFamily="18" charset="0"/>
                              </a:rPr>
                              <m:t>𝜓</m:t>
                            </m:r>
                          </m:e>
                          <m:sup>
                            <m:r>
                              <a:rPr lang="it-IT" sz="2400" i="1">
                                <a:latin typeface="Cambria Math" panose="02040503050406030204" pitchFamily="18" charset="0"/>
                              </a:rPr>
                              <m:t>′′′′</m:t>
                            </m:r>
                          </m:sup>
                        </m:sSup>
                      </m:e>
                    </m:d>
                    <m:r>
                      <a:rPr lang="it-IT" sz="2400" b="0" i="1" smtClean="0">
                        <a:latin typeface="Cambria Math" panose="02040503050406030204" pitchFamily="18" charset="0"/>
                      </a:rPr>
                      <m:t>=</m:t>
                    </m:r>
                    <m:f>
                      <m:fPr>
                        <m:ctrlPr>
                          <a:rPr lang="it-IT" sz="2400" i="1">
                            <a:latin typeface="Cambria Math" panose="02040503050406030204" pitchFamily="18" charset="0"/>
                          </a:rPr>
                        </m:ctrlPr>
                      </m:fPr>
                      <m:num>
                        <m:r>
                          <a:rPr lang="it-IT" sz="2400" i="1">
                            <a:latin typeface="Cambria Math" panose="02040503050406030204" pitchFamily="18" charset="0"/>
                          </a:rPr>
                          <m:t>1</m:t>
                        </m:r>
                      </m:num>
                      <m:den>
                        <m:rad>
                          <m:radPr>
                            <m:degHide m:val="on"/>
                            <m:ctrlPr>
                              <a:rPr lang="it-IT" sz="2400" i="1">
                                <a:latin typeface="Cambria Math" panose="02040503050406030204" pitchFamily="18" charset="0"/>
                              </a:rPr>
                            </m:ctrlPr>
                          </m:radPr>
                          <m:deg/>
                          <m:e>
                            <m:r>
                              <a:rPr lang="it-IT" sz="2400" i="1">
                                <a:latin typeface="Cambria Math" panose="02040503050406030204" pitchFamily="18" charset="0"/>
                              </a:rPr>
                              <m:t>2</m:t>
                            </m:r>
                          </m:e>
                        </m:rad>
                      </m:den>
                    </m:f>
                    <m:d>
                      <m:dPr>
                        <m:begChr m:val="["/>
                        <m:endChr m:val="]"/>
                        <m:ctrlPr>
                          <a:rPr lang="it-IT" sz="2400" i="1">
                            <a:latin typeface="Cambria Math" panose="02040503050406030204" pitchFamily="18" charset="0"/>
                          </a:rPr>
                        </m:ctrlPr>
                      </m:dPr>
                      <m:e>
                        <m:m>
                          <m:mPr>
                            <m:mcs>
                              <m:mc>
                                <m:mcPr>
                                  <m:count m:val="2"/>
                                  <m:mcJc m:val="center"/>
                                </m:mcPr>
                              </m:mc>
                            </m:mcs>
                            <m:ctrlPr>
                              <a:rPr lang="it-IT" sz="2400" i="1">
                                <a:latin typeface="Cambria Math" panose="02040503050406030204" pitchFamily="18" charset="0"/>
                              </a:rPr>
                            </m:ctrlPr>
                          </m:mPr>
                          <m:mr>
                            <m:e>
                              <m:r>
                                <m:rPr>
                                  <m:brk m:alnAt="7"/>
                                </m:rPr>
                                <a:rPr lang="it-IT" sz="2400" i="1">
                                  <a:latin typeface="Cambria Math" panose="02040503050406030204" pitchFamily="18" charset="0"/>
                                </a:rPr>
                                <m:t>1</m:t>
                              </m:r>
                            </m:e>
                            <m:e>
                              <m:r>
                                <a:rPr lang="it-IT" sz="2400" i="1">
                                  <a:latin typeface="Cambria Math" panose="02040503050406030204" pitchFamily="18" charset="0"/>
                                </a:rPr>
                                <m:t>1</m:t>
                              </m:r>
                            </m:e>
                          </m:mr>
                          <m:mr>
                            <m:e>
                              <m:sSup>
                                <m:sSupPr>
                                  <m:ctrlPr>
                                    <a:rPr lang="it-IT" sz="2400" i="1">
                                      <a:latin typeface="Cambria Math" panose="02040503050406030204" pitchFamily="18" charset="0"/>
                                    </a:rPr>
                                  </m:ctrlPr>
                                </m:sSupPr>
                                <m:e>
                                  <m:r>
                                    <a:rPr lang="it-IT" sz="2400" i="1">
                                      <a:latin typeface="Cambria Math" panose="02040503050406030204" pitchFamily="18" charset="0"/>
                                    </a:rPr>
                                    <m:t>𝑒</m:t>
                                  </m:r>
                                </m:e>
                                <m:sup>
                                  <m:r>
                                    <a:rPr lang="it-IT" sz="2400" i="1">
                                      <a:latin typeface="Cambria Math" panose="02040503050406030204" pitchFamily="18" charset="0"/>
                                    </a:rPr>
                                    <m:t>−</m:t>
                                  </m:r>
                                  <m:r>
                                    <a:rPr lang="it-IT" sz="2400" i="1">
                                      <a:latin typeface="Cambria Math" panose="02040503050406030204" pitchFamily="18" charset="0"/>
                                    </a:rPr>
                                    <m:t>𝑖</m:t>
                                  </m:r>
                                  <m:r>
                                    <a:rPr lang="it-IT" sz="2400" i="1">
                                      <a:latin typeface="Cambria Math" panose="02040503050406030204" pitchFamily="18" charset="0"/>
                                      <a:ea typeface="Cambria Math" panose="02040503050406030204" pitchFamily="18" charset="0"/>
                                    </a:rPr>
                                    <m:t>𝜋</m:t>
                                  </m:r>
                                  <m:r>
                                    <a:rPr lang="it-IT" sz="2400" i="1">
                                      <a:latin typeface="Cambria Math" panose="02040503050406030204" pitchFamily="18" charset="0"/>
                                      <a:ea typeface="Cambria Math" panose="02040503050406030204" pitchFamily="18" charset="0"/>
                                    </a:rPr>
                                    <m:t>/4</m:t>
                                  </m:r>
                                </m:sup>
                              </m:sSup>
                            </m:e>
                            <m:e>
                              <m:r>
                                <a:rPr lang="it-IT" sz="2400" i="1">
                                  <a:latin typeface="Cambria Math" panose="02040503050406030204" pitchFamily="18" charset="0"/>
                                </a:rPr>
                                <m:t>−</m:t>
                              </m:r>
                              <m:sSup>
                                <m:sSupPr>
                                  <m:ctrlPr>
                                    <a:rPr lang="it-IT" sz="2400" i="1">
                                      <a:latin typeface="Cambria Math" panose="02040503050406030204" pitchFamily="18" charset="0"/>
                                    </a:rPr>
                                  </m:ctrlPr>
                                </m:sSupPr>
                                <m:e>
                                  <m:r>
                                    <a:rPr lang="it-IT" sz="2400" i="1">
                                      <a:latin typeface="Cambria Math" panose="02040503050406030204" pitchFamily="18" charset="0"/>
                                    </a:rPr>
                                    <m:t>𝑒</m:t>
                                  </m:r>
                                </m:e>
                                <m:sup>
                                  <m:r>
                                    <a:rPr lang="it-IT" sz="2400" i="1">
                                      <a:latin typeface="Cambria Math" panose="02040503050406030204" pitchFamily="18" charset="0"/>
                                    </a:rPr>
                                    <m:t>−</m:t>
                                  </m:r>
                                  <m:r>
                                    <a:rPr lang="it-IT" sz="2400" i="1">
                                      <a:latin typeface="Cambria Math" panose="02040503050406030204" pitchFamily="18" charset="0"/>
                                    </a:rPr>
                                    <m:t>𝑖</m:t>
                                  </m:r>
                                  <m:r>
                                    <a:rPr lang="it-IT" sz="2400" i="1">
                                      <a:latin typeface="Cambria Math" panose="02040503050406030204" pitchFamily="18" charset="0"/>
                                      <a:ea typeface="Cambria Math" panose="02040503050406030204" pitchFamily="18" charset="0"/>
                                    </a:rPr>
                                    <m:t>𝜋</m:t>
                                  </m:r>
                                  <m:r>
                                    <a:rPr lang="it-IT" sz="2400" i="1">
                                      <a:latin typeface="Cambria Math" panose="02040503050406030204" pitchFamily="18" charset="0"/>
                                      <a:ea typeface="Cambria Math" panose="02040503050406030204" pitchFamily="18" charset="0"/>
                                    </a:rPr>
                                    <m:t>/4</m:t>
                                  </m:r>
                                </m:sup>
                              </m:sSup>
                            </m:e>
                          </m:mr>
                        </m:m>
                      </m:e>
                    </m:d>
                    <m:d>
                      <m:dPr>
                        <m:begChr m:val="["/>
                        <m:endChr m:val="]"/>
                        <m:ctrlPr>
                          <a:rPr lang="it-IT" sz="2400" i="1" smtClean="0">
                            <a:latin typeface="Cambria Math" panose="02040503050406030204" pitchFamily="18" charset="0"/>
                            <a:ea typeface="Cambria Math" panose="02040503050406030204" pitchFamily="18" charset="0"/>
                          </a:rPr>
                        </m:ctrlPr>
                      </m:dPr>
                      <m:e>
                        <m:m>
                          <m:mPr>
                            <m:mcs>
                              <m:mc>
                                <m:mcPr>
                                  <m:count m:val="1"/>
                                  <m:mcJc m:val="center"/>
                                </m:mcPr>
                              </m:mc>
                            </m:mcs>
                            <m:ctrlPr>
                              <a:rPr lang="it-IT" sz="2400" i="1" smtClean="0">
                                <a:latin typeface="Cambria Math" panose="02040503050406030204" pitchFamily="18" charset="0"/>
                                <a:ea typeface="Cambria Math" panose="02040503050406030204" pitchFamily="18" charset="0"/>
                              </a:rPr>
                            </m:ctrlPr>
                          </m:mPr>
                          <m:mr>
                            <m:e>
                              <m:r>
                                <m:rPr>
                                  <m:brk m:alnAt="7"/>
                                </m:rPr>
                                <a:rPr lang="it-IT" sz="2400" b="0" i="1" smtClean="0">
                                  <a:latin typeface="Cambria Math" panose="02040503050406030204" pitchFamily="18" charset="0"/>
                                  <a:ea typeface="Cambria Math" panose="02040503050406030204" pitchFamily="18" charset="0"/>
                                </a:rPr>
                                <m:t>1</m:t>
                              </m:r>
                            </m:e>
                          </m:mr>
                          <m:mr>
                            <m:e>
                              <m:r>
                                <a:rPr lang="it-IT" sz="2400" b="0" i="1" smtClean="0">
                                  <a:latin typeface="Cambria Math" panose="02040503050406030204" pitchFamily="18" charset="0"/>
                                  <a:ea typeface="Cambria Math" panose="02040503050406030204" pitchFamily="18" charset="0"/>
                                </a:rPr>
                                <m:t>0</m:t>
                              </m:r>
                            </m:e>
                          </m:mr>
                        </m:m>
                      </m:e>
                    </m:d>
                    <m:r>
                      <a:rPr lang="it-IT" sz="2400" b="0" i="1" smtClean="0">
                        <a:latin typeface="Cambria Math" panose="02040503050406030204" pitchFamily="18" charset="0"/>
                        <a:ea typeface="Cambria Math" panose="02040503050406030204" pitchFamily="18" charset="0"/>
                      </a:rPr>
                      <m:t>=</m:t>
                    </m:r>
                    <m:f>
                      <m:fPr>
                        <m:ctrlPr>
                          <a:rPr lang="it-IT" sz="2400" i="1">
                            <a:latin typeface="Cambria Math" panose="02040503050406030204" pitchFamily="18" charset="0"/>
                          </a:rPr>
                        </m:ctrlPr>
                      </m:fPr>
                      <m:num>
                        <m:r>
                          <a:rPr lang="it-IT" sz="2400" i="1">
                            <a:latin typeface="Cambria Math" panose="02040503050406030204" pitchFamily="18" charset="0"/>
                          </a:rPr>
                          <m:t>1</m:t>
                        </m:r>
                      </m:num>
                      <m:den>
                        <m:rad>
                          <m:radPr>
                            <m:degHide m:val="on"/>
                            <m:ctrlPr>
                              <a:rPr lang="it-IT" sz="2400" i="1">
                                <a:latin typeface="Cambria Math" panose="02040503050406030204" pitchFamily="18" charset="0"/>
                              </a:rPr>
                            </m:ctrlPr>
                          </m:radPr>
                          <m:deg/>
                          <m:e>
                            <m:r>
                              <a:rPr lang="it-IT" sz="2400" i="1">
                                <a:latin typeface="Cambria Math" panose="02040503050406030204" pitchFamily="18" charset="0"/>
                              </a:rPr>
                              <m:t>2</m:t>
                            </m:r>
                          </m:e>
                        </m:rad>
                      </m:den>
                    </m:f>
                    <m:d>
                      <m:dPr>
                        <m:begChr m:val="["/>
                        <m:endChr m:val="]"/>
                        <m:ctrlPr>
                          <a:rPr lang="it-IT" sz="2400" i="1" smtClean="0">
                            <a:latin typeface="Cambria Math" panose="02040503050406030204" pitchFamily="18" charset="0"/>
                          </a:rPr>
                        </m:ctrlPr>
                      </m:dPr>
                      <m:e>
                        <m:m>
                          <m:mPr>
                            <m:mcs>
                              <m:mc>
                                <m:mcPr>
                                  <m:count m:val="1"/>
                                  <m:mcJc m:val="center"/>
                                </m:mcPr>
                              </m:mc>
                            </m:mcs>
                            <m:ctrlPr>
                              <a:rPr lang="it-IT" sz="2400" i="1" smtClean="0">
                                <a:latin typeface="Cambria Math" panose="02040503050406030204" pitchFamily="18" charset="0"/>
                              </a:rPr>
                            </m:ctrlPr>
                          </m:mPr>
                          <m:mr>
                            <m:e>
                              <m:r>
                                <m:rPr>
                                  <m:brk m:alnAt="7"/>
                                </m:rPr>
                                <a:rPr lang="it-IT" sz="2400" b="0" i="1" smtClean="0">
                                  <a:latin typeface="Cambria Math" panose="02040503050406030204" pitchFamily="18" charset="0"/>
                                </a:rPr>
                                <m:t>1</m:t>
                              </m:r>
                            </m:e>
                          </m:mr>
                          <m:mr>
                            <m:e>
                              <m:sSup>
                                <m:sSupPr>
                                  <m:ctrlPr>
                                    <a:rPr lang="it-IT" sz="2400" i="1">
                                      <a:latin typeface="Cambria Math" panose="02040503050406030204" pitchFamily="18" charset="0"/>
                                    </a:rPr>
                                  </m:ctrlPr>
                                </m:sSupPr>
                                <m:e>
                                  <m:r>
                                    <a:rPr lang="it-IT" sz="2400" i="1">
                                      <a:latin typeface="Cambria Math" panose="02040503050406030204" pitchFamily="18" charset="0"/>
                                    </a:rPr>
                                    <m:t>𝑒</m:t>
                                  </m:r>
                                </m:e>
                                <m:sup>
                                  <m:r>
                                    <a:rPr lang="it-IT" sz="2400" i="1">
                                      <a:latin typeface="Cambria Math" panose="02040503050406030204" pitchFamily="18" charset="0"/>
                                    </a:rPr>
                                    <m:t>−</m:t>
                                  </m:r>
                                  <m:r>
                                    <a:rPr lang="it-IT" sz="2400" i="1">
                                      <a:latin typeface="Cambria Math" panose="02040503050406030204" pitchFamily="18" charset="0"/>
                                    </a:rPr>
                                    <m:t>𝑖</m:t>
                                  </m:r>
                                  <m:r>
                                    <a:rPr lang="it-IT" sz="2400" i="1">
                                      <a:latin typeface="Cambria Math" panose="02040503050406030204" pitchFamily="18" charset="0"/>
                                      <a:ea typeface="Cambria Math" panose="02040503050406030204" pitchFamily="18" charset="0"/>
                                    </a:rPr>
                                    <m:t>𝜋</m:t>
                                  </m:r>
                                  <m:r>
                                    <a:rPr lang="it-IT" sz="2400" i="1">
                                      <a:latin typeface="Cambria Math" panose="02040503050406030204" pitchFamily="18" charset="0"/>
                                      <a:ea typeface="Cambria Math" panose="02040503050406030204" pitchFamily="18" charset="0"/>
                                    </a:rPr>
                                    <m:t>/4</m:t>
                                  </m:r>
                                </m:sup>
                              </m:sSup>
                            </m:e>
                          </m:mr>
                        </m:m>
                      </m:e>
                    </m:d>
                  </m:oMath>
                </a14:m>
                <a:endParaRPr lang="en-IT" sz="2400"/>
              </a:p>
            </p:txBody>
          </p:sp>
        </mc:Choice>
        <mc:Fallback>
          <p:sp>
            <p:nvSpPr>
              <p:cNvPr id="3" name="Content Placeholder 2">
                <a:extLst>
                  <a:ext uri="{FF2B5EF4-FFF2-40B4-BE49-F238E27FC236}">
                    <a16:creationId xmlns:a16="http://schemas.microsoft.com/office/drawing/2014/main" id="{1D54B3BD-20A7-87DE-A61F-F9989EAB8BBA}"/>
                  </a:ext>
                </a:extLst>
              </p:cNvPr>
              <p:cNvSpPr>
                <a:spLocks noGrp="1" noRot="1" noChangeAspect="1" noMove="1" noResize="1" noEditPoints="1" noAdjustHandles="1" noChangeArrowheads="1" noChangeShapeType="1" noTextEdit="1"/>
              </p:cNvSpPr>
              <p:nvPr>
                <p:ph idx="1"/>
              </p:nvPr>
            </p:nvSpPr>
            <p:spPr>
              <a:xfrm>
                <a:off x="306859" y="3568200"/>
                <a:ext cx="11578281" cy="2774719"/>
              </a:xfrm>
              <a:blipFill>
                <a:blip r:embed="rId2"/>
                <a:stretch>
                  <a:fillRect l="-947" t="-350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F7F94247-83E0-7C80-A742-60ACAD9789CE}"/>
              </a:ext>
            </a:extLst>
          </p:cNvPr>
          <p:cNvGrpSpPr/>
          <p:nvPr/>
        </p:nvGrpSpPr>
        <p:grpSpPr>
          <a:xfrm>
            <a:off x="1102334" y="2032526"/>
            <a:ext cx="9335094" cy="1396474"/>
            <a:chOff x="1223520" y="2533952"/>
            <a:chExt cx="9335094" cy="1396474"/>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5B9C632-483E-33A7-56F4-2B35314FF3FD}"/>
                    </a:ext>
                  </a:extLst>
                </p:cNvPr>
                <p:cNvSpPr txBox="1"/>
                <p:nvPr/>
              </p:nvSpPr>
              <p:spPr>
                <a:xfrm>
                  <a:off x="1223520" y="2908307"/>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|0⟩</m:t>
                        </m:r>
                      </m:oMath>
                    </m:oMathPara>
                  </a14:m>
                  <a:endParaRPr lang="en-IT" sz="2000"/>
                </a:p>
              </p:txBody>
            </p:sp>
          </mc:Choice>
          <mc:Fallback>
            <p:sp>
              <p:nvSpPr>
                <p:cNvPr id="5" name="TextBox 4">
                  <a:extLst>
                    <a:ext uri="{FF2B5EF4-FFF2-40B4-BE49-F238E27FC236}">
                      <a16:creationId xmlns:a16="http://schemas.microsoft.com/office/drawing/2014/main" id="{95B9C632-483E-33A7-56F4-2B35314FF3FD}"/>
                    </a:ext>
                  </a:extLst>
                </p:cNvPr>
                <p:cNvSpPr txBox="1">
                  <a:spLocks noRot="1" noChangeAspect="1" noMove="1" noResize="1" noEditPoints="1" noAdjustHandles="1" noChangeArrowheads="1" noChangeShapeType="1" noTextEdit="1"/>
                </p:cNvSpPr>
                <p:nvPr/>
              </p:nvSpPr>
              <p:spPr>
                <a:xfrm>
                  <a:off x="1223520" y="2908307"/>
                  <a:ext cx="283225" cy="307777"/>
                </a:xfrm>
                <a:prstGeom prst="rect">
                  <a:avLst/>
                </a:prstGeom>
                <a:blipFill>
                  <a:blip r:embed="rId3"/>
                  <a:stretch>
                    <a:fillRect l="-43478" r="-52174" b="-34000"/>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F6691390-B868-08D1-24A0-C65395943DDA}"/>
                </a:ext>
              </a:extLst>
            </p:cNvPr>
            <p:cNvCxnSpPr>
              <a:cxnSpLocks/>
              <a:stCxn id="5" idx="3"/>
              <a:endCxn id="8" idx="1"/>
            </p:cNvCxnSpPr>
            <p:nvPr/>
          </p:nvCxnSpPr>
          <p:spPr>
            <a:xfrm flipV="1">
              <a:off x="1506745" y="3047569"/>
              <a:ext cx="6628415" cy="146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C9DED1E-D9CF-F13C-1343-AF1F57F11D98}"/>
                </a:ext>
              </a:extLst>
            </p:cNvPr>
            <p:cNvSpPr/>
            <p:nvPr/>
          </p:nvSpPr>
          <p:spPr>
            <a:xfrm>
              <a:off x="2042293" y="2626408"/>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H</a:t>
              </a:r>
            </a:p>
            <a:p>
              <a:pPr algn="ctr"/>
              <a:endParaRPr lang="it-IT"/>
            </a:p>
          </p:txBody>
        </p:sp>
        <p:pic>
          <p:nvPicPr>
            <p:cNvPr id="8" name="Picture 7">
              <a:extLst>
                <a:ext uri="{FF2B5EF4-FFF2-40B4-BE49-F238E27FC236}">
                  <a16:creationId xmlns:a16="http://schemas.microsoft.com/office/drawing/2014/main" id="{4BD72434-86D6-A572-48C7-60C5F850E767}"/>
                </a:ext>
              </a:extLst>
            </p:cNvPr>
            <p:cNvPicPr>
              <a:picLocks noChangeAspect="1"/>
            </p:cNvPicPr>
            <p:nvPr/>
          </p:nvPicPr>
          <p:blipFill>
            <a:blip r:embed="rId4"/>
            <a:stretch>
              <a:fillRect/>
            </a:stretch>
          </p:blipFill>
          <p:spPr>
            <a:xfrm>
              <a:off x="8135160" y="2533952"/>
              <a:ext cx="1743909" cy="1027234"/>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75DDF5D-9A3E-D72F-9634-EFCC6CDA1FB9}"/>
                    </a:ext>
                  </a:extLst>
                </p:cNvPr>
                <p:cNvSpPr txBox="1"/>
                <p:nvPr/>
              </p:nvSpPr>
              <p:spPr>
                <a:xfrm>
                  <a:off x="3191227" y="3622649"/>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9" name="TextBox 8">
                  <a:extLst>
                    <a:ext uri="{FF2B5EF4-FFF2-40B4-BE49-F238E27FC236}">
                      <a16:creationId xmlns:a16="http://schemas.microsoft.com/office/drawing/2014/main" id="{275DDF5D-9A3E-D72F-9634-EFCC6CDA1FB9}"/>
                    </a:ext>
                  </a:extLst>
                </p:cNvPr>
                <p:cNvSpPr txBox="1">
                  <a:spLocks noRot="1" noChangeAspect="1" noMove="1" noResize="1" noEditPoints="1" noAdjustHandles="1" noChangeArrowheads="1" noChangeShapeType="1" noTextEdit="1"/>
                </p:cNvSpPr>
                <p:nvPr/>
              </p:nvSpPr>
              <p:spPr>
                <a:xfrm>
                  <a:off x="3191227" y="3622649"/>
                  <a:ext cx="283225" cy="307777"/>
                </a:xfrm>
                <a:prstGeom prst="rect">
                  <a:avLst/>
                </a:prstGeom>
                <a:blipFill>
                  <a:blip r:embed="rId5"/>
                  <a:stretch>
                    <a:fillRect l="-43478" r="-100000" b="-3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BEB9E5BF-0027-3188-3251-2E6DEB150A9A}"/>
                    </a:ext>
                  </a:extLst>
                </p:cNvPr>
                <p:cNvSpPr txBox="1"/>
                <p:nvPr/>
              </p:nvSpPr>
              <p:spPr>
                <a:xfrm>
                  <a:off x="4881951" y="3597798"/>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10" name="TextBox 9">
                  <a:extLst>
                    <a:ext uri="{FF2B5EF4-FFF2-40B4-BE49-F238E27FC236}">
                      <a16:creationId xmlns:a16="http://schemas.microsoft.com/office/drawing/2014/main" id="{BEB9E5BF-0027-3188-3251-2E6DEB150A9A}"/>
                    </a:ext>
                  </a:extLst>
                </p:cNvPr>
                <p:cNvSpPr txBox="1">
                  <a:spLocks noRot="1" noChangeAspect="1" noMove="1" noResize="1" noEditPoints="1" noAdjustHandles="1" noChangeArrowheads="1" noChangeShapeType="1" noTextEdit="1"/>
                </p:cNvSpPr>
                <p:nvPr/>
              </p:nvSpPr>
              <p:spPr>
                <a:xfrm>
                  <a:off x="4881951" y="3597798"/>
                  <a:ext cx="283225" cy="307777"/>
                </a:xfrm>
                <a:prstGeom prst="rect">
                  <a:avLst/>
                </a:prstGeom>
                <a:blipFill>
                  <a:blip r:embed="rId6"/>
                  <a:stretch>
                    <a:fillRect l="-43478" r="-123913" b="-3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54702AB-869D-9AC3-2A42-6DED4B151E15}"/>
                    </a:ext>
                  </a:extLst>
                </p:cNvPr>
                <p:cNvSpPr txBox="1"/>
                <p:nvPr/>
              </p:nvSpPr>
              <p:spPr>
                <a:xfrm>
                  <a:off x="6599188" y="3595361"/>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11" name="TextBox 10">
                  <a:extLst>
                    <a:ext uri="{FF2B5EF4-FFF2-40B4-BE49-F238E27FC236}">
                      <a16:creationId xmlns:a16="http://schemas.microsoft.com/office/drawing/2014/main" id="{254702AB-869D-9AC3-2A42-6DED4B151E15}"/>
                    </a:ext>
                  </a:extLst>
                </p:cNvPr>
                <p:cNvSpPr txBox="1">
                  <a:spLocks noRot="1" noChangeAspect="1" noMove="1" noResize="1" noEditPoints="1" noAdjustHandles="1" noChangeArrowheads="1" noChangeShapeType="1" noTextEdit="1"/>
                </p:cNvSpPr>
                <p:nvPr/>
              </p:nvSpPr>
              <p:spPr>
                <a:xfrm>
                  <a:off x="6599188" y="3595361"/>
                  <a:ext cx="283225" cy="307777"/>
                </a:xfrm>
                <a:prstGeom prst="rect">
                  <a:avLst/>
                </a:prstGeom>
                <a:blipFill>
                  <a:blip r:embed="rId7"/>
                  <a:stretch>
                    <a:fillRect l="-43478" r="-147826" b="-3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1BD3B67-F54F-F2D5-2343-9CD1D0E2036F}"/>
                    </a:ext>
                  </a:extLst>
                </p:cNvPr>
                <p:cNvSpPr txBox="1"/>
                <p:nvPr/>
              </p:nvSpPr>
              <p:spPr>
                <a:xfrm>
                  <a:off x="8316425" y="3578442"/>
                  <a:ext cx="2832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12" name="TextBox 11">
                  <a:extLst>
                    <a:ext uri="{FF2B5EF4-FFF2-40B4-BE49-F238E27FC236}">
                      <a16:creationId xmlns:a16="http://schemas.microsoft.com/office/drawing/2014/main" id="{51BD3B67-F54F-F2D5-2343-9CD1D0E2036F}"/>
                    </a:ext>
                  </a:extLst>
                </p:cNvPr>
                <p:cNvSpPr txBox="1">
                  <a:spLocks noRot="1" noChangeAspect="1" noMove="1" noResize="1" noEditPoints="1" noAdjustHandles="1" noChangeArrowheads="1" noChangeShapeType="1" noTextEdit="1"/>
                </p:cNvSpPr>
                <p:nvPr/>
              </p:nvSpPr>
              <p:spPr>
                <a:xfrm>
                  <a:off x="8316425" y="3578442"/>
                  <a:ext cx="283225" cy="307777"/>
                </a:xfrm>
                <a:prstGeom prst="rect">
                  <a:avLst/>
                </a:prstGeom>
                <a:blipFill>
                  <a:blip r:embed="rId8"/>
                  <a:stretch>
                    <a:fillRect l="-40426" r="-168085" b="-34000"/>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BFE9A3A6-A851-4A65-1202-C4EE303DBB38}"/>
                </a:ext>
              </a:extLst>
            </p:cNvPr>
            <p:cNvSpPr/>
            <p:nvPr/>
          </p:nvSpPr>
          <p:spPr>
            <a:xfrm>
              <a:off x="3756521" y="2626408"/>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Z</a:t>
              </a:r>
            </a:p>
            <a:p>
              <a:pPr algn="ctr"/>
              <a:endParaRPr lang="it-IT"/>
            </a:p>
          </p:txBody>
        </p:sp>
        <p:sp>
          <p:nvSpPr>
            <p:cNvPr id="14" name="Rectangle 13">
              <a:extLst>
                <a:ext uri="{FF2B5EF4-FFF2-40B4-BE49-F238E27FC236}">
                  <a16:creationId xmlns:a16="http://schemas.microsoft.com/office/drawing/2014/main" id="{A489F430-0E41-3651-FEE5-DB73242DCE1D}"/>
                </a:ext>
              </a:extLst>
            </p:cNvPr>
            <p:cNvSpPr/>
            <p:nvPr/>
          </p:nvSpPr>
          <p:spPr>
            <a:xfrm>
              <a:off x="5470749" y="2626192"/>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S</a:t>
              </a:r>
            </a:p>
            <a:p>
              <a:pPr algn="ctr"/>
              <a:endParaRPr lang="it-IT"/>
            </a:p>
          </p:txBody>
        </p:sp>
        <p:sp>
          <p:nvSpPr>
            <p:cNvPr id="15" name="Rectangle 14">
              <a:extLst>
                <a:ext uri="{FF2B5EF4-FFF2-40B4-BE49-F238E27FC236}">
                  <a16:creationId xmlns:a16="http://schemas.microsoft.com/office/drawing/2014/main" id="{711B3B01-C268-F222-2FE0-0D4EC44B85EE}"/>
                </a:ext>
              </a:extLst>
            </p:cNvPr>
            <p:cNvSpPr/>
            <p:nvPr/>
          </p:nvSpPr>
          <p:spPr>
            <a:xfrm>
              <a:off x="7184977" y="2599013"/>
              <a:ext cx="1005748" cy="89799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a:solidFill>
                  <a:schemeClr val="tx1"/>
                </a:solidFill>
              </a:endParaRPr>
            </a:p>
            <a:p>
              <a:pPr algn="ctr"/>
              <a:endParaRPr lang="it-IT" sz="800">
                <a:solidFill>
                  <a:schemeClr val="tx1"/>
                </a:solidFill>
              </a:endParaRPr>
            </a:p>
            <a:p>
              <a:pPr algn="ctr"/>
              <a:r>
                <a:rPr lang="it-IT" sz="2800" i="1">
                  <a:solidFill>
                    <a:schemeClr val="tx1"/>
                  </a:solidFill>
                </a:rPr>
                <a:t>T</a:t>
              </a:r>
            </a:p>
            <a:p>
              <a:pPr algn="ctr"/>
              <a:endParaRPr lang="it-IT"/>
            </a:p>
          </p:txBody>
        </p:sp>
        <p:cxnSp>
          <p:nvCxnSpPr>
            <p:cNvPr id="16" name="Straight Connector 15">
              <a:extLst>
                <a:ext uri="{FF2B5EF4-FFF2-40B4-BE49-F238E27FC236}">
                  <a16:creationId xmlns:a16="http://schemas.microsoft.com/office/drawing/2014/main" id="{5EF11FB8-3C94-5ED8-1DE8-BE2C0DA8BFF6}"/>
                </a:ext>
              </a:extLst>
            </p:cNvPr>
            <p:cNvCxnSpPr>
              <a:cxnSpLocks/>
            </p:cNvCxnSpPr>
            <p:nvPr/>
          </p:nvCxnSpPr>
          <p:spPr>
            <a:xfrm>
              <a:off x="3390495" y="2608936"/>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7118554-C287-35E5-C502-269957E0743C}"/>
                </a:ext>
              </a:extLst>
            </p:cNvPr>
            <p:cNvCxnSpPr>
              <a:cxnSpLocks/>
            </p:cNvCxnSpPr>
            <p:nvPr/>
          </p:nvCxnSpPr>
          <p:spPr>
            <a:xfrm>
              <a:off x="5123170" y="2626192"/>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2C1A5F76-10B5-7947-E132-8A38E637B626}"/>
                </a:ext>
              </a:extLst>
            </p:cNvPr>
            <p:cNvCxnSpPr>
              <a:cxnSpLocks/>
            </p:cNvCxnSpPr>
            <p:nvPr/>
          </p:nvCxnSpPr>
          <p:spPr>
            <a:xfrm>
              <a:off x="6844218" y="2608936"/>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78AE2C38-3BCA-732B-D9F1-505F3BEFEDB0}"/>
                </a:ext>
              </a:extLst>
            </p:cNvPr>
            <p:cNvCxnSpPr>
              <a:cxnSpLocks/>
            </p:cNvCxnSpPr>
            <p:nvPr/>
          </p:nvCxnSpPr>
          <p:spPr>
            <a:xfrm>
              <a:off x="9879069" y="3054882"/>
              <a:ext cx="679545" cy="0"/>
            </a:xfrm>
            <a:prstGeom prst="line">
              <a:avLst/>
            </a:prstGeom>
            <a:ln w="28575">
              <a:prstDash val="solid"/>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2A157703-EE5E-3EE5-3EC3-784CFAD265A2}"/>
                </a:ext>
              </a:extLst>
            </p:cNvPr>
            <p:cNvCxnSpPr>
              <a:cxnSpLocks/>
            </p:cNvCxnSpPr>
            <p:nvPr/>
          </p:nvCxnSpPr>
          <p:spPr>
            <a:xfrm>
              <a:off x="8549933" y="2607113"/>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3163A6B6-E1A6-53C9-28FE-702021CA965B}"/>
                </a:ext>
              </a:extLst>
            </p:cNvPr>
            <p:cNvCxnSpPr>
              <a:cxnSpLocks/>
            </p:cNvCxnSpPr>
            <p:nvPr/>
          </p:nvCxnSpPr>
          <p:spPr>
            <a:xfrm>
              <a:off x="10192991" y="2578757"/>
              <a:ext cx="1" cy="952250"/>
            </a:xfrm>
            <a:prstGeom prst="line">
              <a:avLst/>
            </a:prstGeom>
            <a:ln w="28575">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95998556-8CFF-D46A-D8C4-CA1D3CB072A2}"/>
                    </a:ext>
                  </a:extLst>
                </p:cNvPr>
                <p:cNvSpPr txBox="1"/>
                <p:nvPr/>
              </p:nvSpPr>
              <p:spPr>
                <a:xfrm>
                  <a:off x="9972422" y="3529808"/>
                  <a:ext cx="283225" cy="32060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m:t>
                        </m:r>
                        <m:sSup>
                          <m:sSupPr>
                            <m:ctrlPr>
                              <a:rPr lang="it-IT" sz="2000" b="0" i="1" smtClean="0">
                                <a:latin typeface="Cambria Math" panose="02040503050406030204" pitchFamily="18" charset="0"/>
                              </a:rPr>
                            </m:ctrlPr>
                          </m:sSupPr>
                          <m:e>
                            <m:r>
                              <a:rPr lang="it-IT" sz="2000" b="0" i="1" smtClean="0">
                                <a:latin typeface="Cambria Math" panose="02040503050406030204" pitchFamily="18" charset="0"/>
                                <a:ea typeface="Cambria Math" panose="02040503050406030204" pitchFamily="18" charset="0"/>
                              </a:rPr>
                              <m:t>𝜓</m:t>
                            </m:r>
                          </m:e>
                          <m:sup>
                            <m:r>
                              <a:rPr lang="it-IT" sz="2000" b="0" i="1" smtClean="0">
                                <a:latin typeface="Cambria Math" panose="02040503050406030204" pitchFamily="18" charset="0"/>
                              </a:rPr>
                              <m:t>(</m:t>
                            </m:r>
                            <m:r>
                              <a:rPr lang="it-IT" sz="2000" b="0" i="1" smtClean="0">
                                <a:latin typeface="Cambria Math" panose="02040503050406030204" pitchFamily="18" charset="0"/>
                              </a:rPr>
                              <m:t>𝑝𝑚</m:t>
                            </m:r>
                            <m:r>
                              <a:rPr lang="it-IT" sz="2000" b="0" i="1" smtClean="0">
                                <a:latin typeface="Cambria Math" panose="02040503050406030204" pitchFamily="18" charset="0"/>
                              </a:rPr>
                              <m:t>)</m:t>
                            </m:r>
                          </m:sup>
                        </m:sSup>
                        <m:r>
                          <a:rPr lang="it-IT" sz="2000" b="0" i="1" smtClean="0">
                            <a:latin typeface="Cambria Math" panose="02040503050406030204" pitchFamily="18" charset="0"/>
                          </a:rPr>
                          <m:t>⟩</m:t>
                        </m:r>
                      </m:oMath>
                    </m:oMathPara>
                  </a14:m>
                  <a:endParaRPr lang="en-IT" sz="2000"/>
                </a:p>
              </p:txBody>
            </p:sp>
          </mc:Choice>
          <mc:Fallback>
            <p:sp>
              <p:nvSpPr>
                <p:cNvPr id="22" name="TextBox 21">
                  <a:extLst>
                    <a:ext uri="{FF2B5EF4-FFF2-40B4-BE49-F238E27FC236}">
                      <a16:creationId xmlns:a16="http://schemas.microsoft.com/office/drawing/2014/main" id="{95998556-8CFF-D46A-D8C4-CA1D3CB072A2}"/>
                    </a:ext>
                  </a:extLst>
                </p:cNvPr>
                <p:cNvSpPr txBox="1">
                  <a:spLocks noRot="1" noChangeAspect="1" noMove="1" noResize="1" noEditPoints="1" noAdjustHandles="1" noChangeArrowheads="1" noChangeShapeType="1" noTextEdit="1"/>
                </p:cNvSpPr>
                <p:nvPr/>
              </p:nvSpPr>
              <p:spPr>
                <a:xfrm>
                  <a:off x="9972422" y="3529808"/>
                  <a:ext cx="283225" cy="320601"/>
                </a:xfrm>
                <a:prstGeom prst="rect">
                  <a:avLst/>
                </a:prstGeom>
                <a:blipFill>
                  <a:blip r:embed="rId9"/>
                  <a:stretch>
                    <a:fillRect l="-41304" t="-7692" r="-236957" b="-32692"/>
                  </a:stretch>
                </a:blipFill>
              </p:spPr>
              <p:txBody>
                <a:bodyPr/>
                <a:lstStyle/>
                <a:p>
                  <a:r>
                    <a:rPr lang="en-US">
                      <a:noFill/>
                    </a:rPr>
                    <a:t> </a:t>
                  </a:r>
                </a:p>
              </p:txBody>
            </p:sp>
          </mc:Fallback>
        </mc:AlternateContent>
      </p:grpSp>
    </p:spTree>
    <p:extLst>
      <p:ext uri="{BB962C8B-B14F-4D97-AF65-F5344CB8AC3E}">
        <p14:creationId xmlns:p14="http://schemas.microsoft.com/office/powerpoint/2010/main" val="1651681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B502C-6F8B-D7F9-606F-8A6DB023A175}"/>
              </a:ext>
            </a:extLst>
          </p:cNvPr>
          <p:cNvSpPr>
            <a:spLocks noGrp="1"/>
          </p:cNvSpPr>
          <p:nvPr>
            <p:ph type="title"/>
          </p:nvPr>
        </p:nvSpPr>
        <p:spPr/>
        <p:txBody>
          <a:bodyPr/>
          <a:lstStyle/>
          <a:p>
            <a:r>
              <a:rPr lang="en-IT"/>
              <a:t>Exercise, measurement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57A9982-B106-CA27-E7E9-F5BD9BE58890}"/>
                  </a:ext>
                </a:extLst>
              </p:cNvPr>
              <p:cNvSpPr>
                <a:spLocks noGrp="1"/>
              </p:cNvSpPr>
              <p:nvPr>
                <p:ph idx="1"/>
              </p:nvPr>
            </p:nvSpPr>
            <p:spPr>
              <a:xfrm>
                <a:off x="308921" y="1825625"/>
                <a:ext cx="11578281" cy="652399"/>
              </a:xfrm>
            </p:spPr>
            <p:txBody>
              <a:bodyPr/>
              <a:lstStyle/>
              <a:p>
                <a14:m>
                  <m:oMath xmlns:m="http://schemas.openxmlformats.org/officeDocument/2006/math">
                    <m:d>
                      <m:dPr>
                        <m:begChr m:val=""/>
                        <m:endChr m:val="⟩"/>
                        <m:ctrlPr>
                          <a:rPr lang="it-IT" sz="2400" i="1" smtClean="0">
                            <a:latin typeface="Cambria Math" panose="02040503050406030204" pitchFamily="18" charset="0"/>
                          </a:rPr>
                        </m:ctrlPr>
                      </m:dPr>
                      <m:e>
                        <m:sSup>
                          <m:sSupPr>
                            <m:ctrlPr>
                              <a:rPr lang="it-IT" sz="2400" i="1">
                                <a:latin typeface="Cambria Math" panose="02040503050406030204" pitchFamily="18" charset="0"/>
                              </a:rPr>
                            </m:ctrlPr>
                          </m:sSupPr>
                          <m:e>
                            <m:r>
                              <a:rPr lang="it-IT" sz="2400" b="0" i="1" smtClean="0">
                                <a:latin typeface="Cambria Math" panose="02040503050406030204" pitchFamily="18" charset="0"/>
                              </a:rPr>
                              <m:t>|</m:t>
                            </m:r>
                            <m:r>
                              <a:rPr lang="it-IT" sz="2400" i="1">
                                <a:latin typeface="Cambria Math" panose="02040503050406030204" pitchFamily="18" charset="0"/>
                                <a:ea typeface="Cambria Math" panose="02040503050406030204" pitchFamily="18" charset="0"/>
                              </a:rPr>
                              <m:t>𝜓</m:t>
                            </m:r>
                          </m:e>
                          <m:sup>
                            <m:r>
                              <a:rPr lang="it-IT" sz="2400" i="1">
                                <a:latin typeface="Cambria Math" panose="02040503050406030204" pitchFamily="18" charset="0"/>
                                <a:ea typeface="Cambria Math" panose="02040503050406030204" pitchFamily="18" charset="0"/>
                              </a:rPr>
                              <m:t>(</m:t>
                            </m:r>
                            <m:r>
                              <a:rPr lang="it-IT" sz="2400" i="1">
                                <a:latin typeface="Cambria Math" panose="02040503050406030204" pitchFamily="18" charset="0"/>
                                <a:ea typeface="Cambria Math" panose="02040503050406030204" pitchFamily="18" charset="0"/>
                              </a:rPr>
                              <m:t>𝑝𝑚</m:t>
                            </m:r>
                            <m:r>
                              <a:rPr lang="it-IT" sz="2400" i="1">
                                <a:latin typeface="Cambria Math" panose="02040503050406030204" pitchFamily="18" charset="0"/>
                                <a:ea typeface="Cambria Math" panose="02040503050406030204" pitchFamily="18" charset="0"/>
                              </a:rPr>
                              <m:t>)</m:t>
                            </m:r>
                          </m:sup>
                        </m:sSup>
                      </m:e>
                    </m:d>
                    <m:r>
                      <a:rPr lang="it-IT" sz="2400" b="0" i="1" smtClean="0">
                        <a:latin typeface="Cambria Math" panose="02040503050406030204" pitchFamily="18" charset="0"/>
                        <a:ea typeface="Cambria Math" panose="02040503050406030204" pitchFamily="18" charset="0"/>
                      </a:rPr>
                      <m:t>= ?</m:t>
                    </m:r>
                  </m:oMath>
                </a14:m>
                <a:r>
                  <a:rPr lang="en-IT" sz="2400"/>
                  <a:t> </a:t>
                </a:r>
              </a:p>
            </p:txBody>
          </p:sp>
        </mc:Choice>
        <mc:Fallback>
          <p:sp>
            <p:nvSpPr>
              <p:cNvPr id="3" name="Content Placeholder 2">
                <a:extLst>
                  <a:ext uri="{FF2B5EF4-FFF2-40B4-BE49-F238E27FC236}">
                    <a16:creationId xmlns:a16="http://schemas.microsoft.com/office/drawing/2014/main" id="{357A9982-B106-CA27-E7E9-F5BD9BE58890}"/>
                  </a:ext>
                </a:extLst>
              </p:cNvPr>
              <p:cNvSpPr>
                <a:spLocks noGrp="1" noRot="1" noChangeAspect="1" noMove="1" noResize="1" noEditPoints="1" noAdjustHandles="1" noChangeArrowheads="1" noChangeShapeType="1" noTextEdit="1"/>
              </p:cNvSpPr>
              <p:nvPr>
                <p:ph idx="1"/>
              </p:nvPr>
            </p:nvSpPr>
            <p:spPr>
              <a:xfrm>
                <a:off x="308921" y="1825625"/>
                <a:ext cx="11578281" cy="652399"/>
              </a:xfr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38B8CFF-4ED5-42AD-976A-5B29284BC490}"/>
                  </a:ext>
                </a:extLst>
              </p:cNvPr>
              <p:cNvSpPr txBox="1">
                <a:spLocks/>
              </p:cNvSpPr>
              <p:nvPr/>
            </p:nvSpPr>
            <p:spPr>
              <a:xfrm>
                <a:off x="306859" y="2460278"/>
                <a:ext cx="11578281" cy="652399"/>
              </a:xfrm>
              <a:prstGeom prst="rect">
                <a:avLst/>
              </a:prstGeom>
            </p:spPr>
            <p:txBody>
              <a:bodyPr vert="horz" lIns="91440" tIns="45720" rIns="91440" bIns="45720" rtlCol="0">
                <a:normAutofit fontScale="85000"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rgbClr val="0F406B"/>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rgbClr val="0F406B"/>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rgbClr val="0F406B"/>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d>
                      <m:dPr>
                        <m:begChr m:val=""/>
                        <m:endChr m:val="⟩"/>
                        <m:ctrlPr>
                          <a:rPr lang="it-IT" sz="2400" i="1" smtClean="0">
                            <a:latin typeface="Cambria Math" panose="02040503050406030204" pitchFamily="18" charset="0"/>
                          </a:rPr>
                        </m:ctrlPr>
                      </m:dPr>
                      <m:e>
                        <m:sSup>
                          <m:sSupPr>
                            <m:ctrlPr>
                              <a:rPr lang="it-IT" sz="2400" i="1">
                                <a:latin typeface="Cambria Math" panose="02040503050406030204" pitchFamily="18" charset="0"/>
                              </a:rPr>
                            </m:ctrlPr>
                          </m:sSupPr>
                          <m:e>
                            <m:r>
                              <a:rPr lang="it-IT" sz="2400" i="1" smtClean="0">
                                <a:latin typeface="Cambria Math" panose="02040503050406030204" pitchFamily="18" charset="0"/>
                              </a:rPr>
                              <m:t>|</m:t>
                            </m:r>
                            <m:r>
                              <a:rPr lang="it-IT" sz="2400" i="1">
                                <a:latin typeface="Cambria Math" panose="02040503050406030204" pitchFamily="18" charset="0"/>
                                <a:ea typeface="Cambria Math" panose="02040503050406030204" pitchFamily="18" charset="0"/>
                              </a:rPr>
                              <m:t>𝜓</m:t>
                            </m:r>
                          </m:e>
                          <m:sup>
                            <m:r>
                              <a:rPr lang="it-IT" sz="2400" b="0" i="1" smtClean="0">
                                <a:latin typeface="Cambria Math" panose="02040503050406030204" pitchFamily="18" charset="0"/>
                                <a:ea typeface="Cambria Math" panose="02040503050406030204" pitchFamily="18" charset="0"/>
                              </a:rPr>
                              <m:t>′′′′</m:t>
                            </m:r>
                          </m:sup>
                        </m:sSup>
                      </m:e>
                    </m:d>
                    <m:r>
                      <a:rPr lang="it-IT" sz="2400" i="1" smtClean="0">
                        <a:latin typeface="Cambria Math" panose="02040503050406030204" pitchFamily="18" charset="0"/>
                        <a:ea typeface="Cambria Math" panose="02040503050406030204" pitchFamily="18" charset="0"/>
                      </a:rPr>
                      <m:t>=</m:t>
                    </m:r>
                    <m:f>
                      <m:fPr>
                        <m:ctrlPr>
                          <a:rPr lang="it-IT" sz="2400" i="1">
                            <a:latin typeface="Cambria Math" panose="02040503050406030204" pitchFamily="18" charset="0"/>
                          </a:rPr>
                        </m:ctrlPr>
                      </m:fPr>
                      <m:num>
                        <m:r>
                          <a:rPr lang="it-IT" sz="2400" i="1">
                            <a:latin typeface="Cambria Math" panose="02040503050406030204" pitchFamily="18" charset="0"/>
                          </a:rPr>
                          <m:t>1</m:t>
                        </m:r>
                      </m:num>
                      <m:den>
                        <m:rad>
                          <m:radPr>
                            <m:degHide m:val="on"/>
                            <m:ctrlPr>
                              <a:rPr lang="it-IT" sz="2400" i="1">
                                <a:latin typeface="Cambria Math" panose="02040503050406030204" pitchFamily="18" charset="0"/>
                              </a:rPr>
                            </m:ctrlPr>
                          </m:radPr>
                          <m:deg/>
                          <m:e>
                            <m:r>
                              <a:rPr lang="it-IT" sz="2400" i="1">
                                <a:latin typeface="Cambria Math" panose="02040503050406030204" pitchFamily="18" charset="0"/>
                              </a:rPr>
                              <m:t>2</m:t>
                            </m:r>
                          </m:e>
                        </m:rad>
                      </m:den>
                    </m:f>
                    <m:d>
                      <m:dPr>
                        <m:begChr m:val="["/>
                        <m:endChr m:val="]"/>
                        <m:ctrlPr>
                          <a:rPr lang="it-IT" sz="2400" i="1">
                            <a:latin typeface="Cambria Math" panose="02040503050406030204" pitchFamily="18" charset="0"/>
                          </a:rPr>
                        </m:ctrlPr>
                      </m:dPr>
                      <m:e>
                        <m:m>
                          <m:mPr>
                            <m:mcs>
                              <m:mc>
                                <m:mcPr>
                                  <m:count m:val="1"/>
                                  <m:mcJc m:val="center"/>
                                </m:mcPr>
                              </m:mc>
                            </m:mcs>
                            <m:ctrlPr>
                              <a:rPr lang="it-IT" sz="2400" i="1" smtClean="0">
                                <a:latin typeface="Cambria Math" panose="02040503050406030204" pitchFamily="18" charset="0"/>
                              </a:rPr>
                            </m:ctrlPr>
                          </m:mPr>
                          <m:mr>
                            <m:e>
                              <m:r>
                                <m:rPr>
                                  <m:brk m:alnAt="7"/>
                                </m:rPr>
                                <a:rPr lang="it-IT" sz="2400" i="1">
                                  <a:latin typeface="Cambria Math" panose="02040503050406030204" pitchFamily="18" charset="0"/>
                                </a:rPr>
                                <m:t>1</m:t>
                              </m:r>
                            </m:e>
                          </m:mr>
                          <m:mr>
                            <m:e>
                              <m:sSup>
                                <m:sSupPr>
                                  <m:ctrlPr>
                                    <a:rPr lang="it-IT" sz="2400" i="1" smtClean="0">
                                      <a:latin typeface="Cambria Math" panose="02040503050406030204" pitchFamily="18" charset="0"/>
                                    </a:rPr>
                                  </m:ctrlPr>
                                </m:sSupPr>
                                <m:e>
                                  <m:r>
                                    <a:rPr lang="it-IT" sz="2400" b="0" i="1" smtClean="0">
                                      <a:latin typeface="Cambria Math" panose="02040503050406030204" pitchFamily="18" charset="0"/>
                                    </a:rPr>
                                    <m:t>𝑒</m:t>
                                  </m:r>
                                </m:e>
                                <m:sup>
                                  <m:r>
                                    <a:rPr lang="it-IT" sz="2400" b="0" i="1" smtClean="0">
                                      <a:latin typeface="Cambria Math" panose="02040503050406030204" pitchFamily="18" charset="0"/>
                                    </a:rPr>
                                    <m:t>−</m:t>
                                  </m:r>
                                  <m:f>
                                    <m:fPr>
                                      <m:type m:val="skw"/>
                                      <m:ctrlPr>
                                        <a:rPr lang="it-IT" sz="2400" b="0" i="1" smtClean="0">
                                          <a:latin typeface="Cambria Math" panose="02040503050406030204" pitchFamily="18" charset="0"/>
                                        </a:rPr>
                                      </m:ctrlPr>
                                    </m:fPr>
                                    <m:num>
                                      <m:r>
                                        <a:rPr lang="it-IT" sz="2400" b="0" i="1" smtClean="0">
                                          <a:latin typeface="Cambria Math" panose="02040503050406030204" pitchFamily="18" charset="0"/>
                                        </a:rPr>
                                        <m:t>𝑖</m:t>
                                      </m:r>
                                      <m:r>
                                        <a:rPr lang="it-IT" sz="2400" b="0" i="1" smtClean="0">
                                          <a:latin typeface="Cambria Math" panose="02040503050406030204" pitchFamily="18" charset="0"/>
                                          <a:ea typeface="Cambria Math" panose="02040503050406030204" pitchFamily="18" charset="0"/>
                                        </a:rPr>
                                        <m:t>𝜋</m:t>
                                      </m:r>
                                    </m:num>
                                    <m:den>
                                      <m:r>
                                        <a:rPr lang="it-IT" sz="2400" b="0" i="1" smtClean="0">
                                          <a:latin typeface="Cambria Math" panose="02040503050406030204" pitchFamily="18" charset="0"/>
                                        </a:rPr>
                                        <m:t>4</m:t>
                                      </m:r>
                                    </m:den>
                                  </m:f>
                                </m:sup>
                              </m:sSup>
                            </m:e>
                          </m:mr>
                        </m:m>
                      </m:e>
                    </m:d>
                    <m:r>
                      <a:rPr lang="it-IT" sz="2400" b="0" i="1" smtClean="0">
                        <a:latin typeface="Cambria Math" panose="02040503050406030204" pitchFamily="18" charset="0"/>
                      </a:rPr>
                      <m:t>=</m:t>
                    </m:r>
                    <m:f>
                      <m:fPr>
                        <m:ctrlPr>
                          <a:rPr lang="it-IT" sz="2400" b="0" i="1" smtClean="0">
                            <a:latin typeface="Cambria Math" panose="02040503050406030204" pitchFamily="18" charset="0"/>
                          </a:rPr>
                        </m:ctrlPr>
                      </m:fPr>
                      <m:num>
                        <m:r>
                          <a:rPr lang="it-IT" sz="2400" b="0" i="1" smtClean="0">
                            <a:latin typeface="Cambria Math" panose="02040503050406030204" pitchFamily="18" charset="0"/>
                          </a:rPr>
                          <m:t>1</m:t>
                        </m:r>
                      </m:num>
                      <m:den>
                        <m:rad>
                          <m:radPr>
                            <m:degHide m:val="on"/>
                            <m:ctrlPr>
                              <a:rPr lang="it-IT" sz="2400" b="0" i="1" smtClean="0">
                                <a:latin typeface="Cambria Math" panose="02040503050406030204" pitchFamily="18" charset="0"/>
                              </a:rPr>
                            </m:ctrlPr>
                          </m:radPr>
                          <m:deg/>
                          <m:e>
                            <m:r>
                              <a:rPr lang="it-IT" sz="2400" b="0" i="1" smtClean="0">
                                <a:latin typeface="Cambria Math" panose="02040503050406030204" pitchFamily="18" charset="0"/>
                              </a:rPr>
                              <m:t>2</m:t>
                            </m:r>
                          </m:e>
                        </m:rad>
                      </m:den>
                    </m:f>
                    <m:r>
                      <a:rPr lang="it-IT" sz="2400" b="0" i="1" smtClean="0">
                        <a:latin typeface="Cambria Math" panose="02040503050406030204" pitchFamily="18" charset="0"/>
                      </a:rPr>
                      <m:t>|</m:t>
                    </m:r>
                    <m:d>
                      <m:dPr>
                        <m:begChr m:val=""/>
                        <m:endChr m:val="⟩"/>
                        <m:ctrlPr>
                          <a:rPr lang="it-IT" sz="2400" b="0" i="1" smtClean="0">
                            <a:latin typeface="Cambria Math" panose="02040503050406030204" pitchFamily="18" charset="0"/>
                          </a:rPr>
                        </m:ctrlPr>
                      </m:dPr>
                      <m:e>
                        <m:r>
                          <a:rPr lang="it-IT" sz="2400" b="0" i="1" smtClean="0">
                            <a:latin typeface="Cambria Math" panose="02040503050406030204" pitchFamily="18" charset="0"/>
                          </a:rPr>
                          <m:t>0</m:t>
                        </m:r>
                      </m:e>
                    </m:d>
                    <m:r>
                      <a:rPr lang="it-IT" sz="2400" b="0" i="1" smtClean="0">
                        <a:latin typeface="Cambria Math" panose="02040503050406030204" pitchFamily="18" charset="0"/>
                      </a:rPr>
                      <m:t>+</m:t>
                    </m:r>
                    <m:f>
                      <m:fPr>
                        <m:ctrlPr>
                          <a:rPr lang="it-IT" sz="2400" i="1">
                            <a:latin typeface="Cambria Math" panose="02040503050406030204" pitchFamily="18" charset="0"/>
                          </a:rPr>
                        </m:ctrlPr>
                      </m:fPr>
                      <m:num>
                        <m:sSup>
                          <m:sSupPr>
                            <m:ctrlPr>
                              <a:rPr lang="it-IT" sz="2400" i="1">
                                <a:latin typeface="Cambria Math" panose="02040503050406030204" pitchFamily="18" charset="0"/>
                              </a:rPr>
                            </m:ctrlPr>
                          </m:sSupPr>
                          <m:e>
                            <m:r>
                              <a:rPr lang="it-IT" sz="2400" i="1">
                                <a:latin typeface="Cambria Math" panose="02040503050406030204" pitchFamily="18" charset="0"/>
                              </a:rPr>
                              <m:t>𝑒</m:t>
                            </m:r>
                          </m:e>
                          <m:sup>
                            <m:r>
                              <a:rPr lang="it-IT" sz="2400" i="1">
                                <a:latin typeface="Cambria Math" panose="02040503050406030204" pitchFamily="18" charset="0"/>
                              </a:rPr>
                              <m:t>−</m:t>
                            </m:r>
                            <m:f>
                              <m:fPr>
                                <m:type m:val="skw"/>
                                <m:ctrlPr>
                                  <a:rPr lang="it-IT" sz="2400" i="1">
                                    <a:latin typeface="Cambria Math" panose="02040503050406030204" pitchFamily="18" charset="0"/>
                                  </a:rPr>
                                </m:ctrlPr>
                              </m:fPr>
                              <m:num>
                                <m:r>
                                  <a:rPr lang="it-IT" sz="2400" i="1">
                                    <a:latin typeface="Cambria Math" panose="02040503050406030204" pitchFamily="18" charset="0"/>
                                  </a:rPr>
                                  <m:t>𝑖</m:t>
                                </m:r>
                                <m:r>
                                  <a:rPr lang="it-IT" sz="2400" i="1">
                                    <a:latin typeface="Cambria Math" panose="02040503050406030204" pitchFamily="18" charset="0"/>
                                    <a:ea typeface="Cambria Math" panose="02040503050406030204" pitchFamily="18" charset="0"/>
                                  </a:rPr>
                                  <m:t>𝜋</m:t>
                                </m:r>
                              </m:num>
                              <m:den>
                                <m:r>
                                  <a:rPr lang="it-IT" sz="2400" i="1">
                                    <a:latin typeface="Cambria Math" panose="02040503050406030204" pitchFamily="18" charset="0"/>
                                  </a:rPr>
                                  <m:t>4</m:t>
                                </m:r>
                              </m:den>
                            </m:f>
                          </m:sup>
                        </m:sSup>
                      </m:num>
                      <m:den>
                        <m:rad>
                          <m:radPr>
                            <m:degHide m:val="on"/>
                            <m:ctrlPr>
                              <a:rPr lang="it-IT" sz="2400" i="1">
                                <a:latin typeface="Cambria Math" panose="02040503050406030204" pitchFamily="18" charset="0"/>
                              </a:rPr>
                            </m:ctrlPr>
                          </m:radPr>
                          <m:deg/>
                          <m:e>
                            <m:r>
                              <a:rPr lang="it-IT" sz="2400" i="1">
                                <a:latin typeface="Cambria Math" panose="02040503050406030204" pitchFamily="18" charset="0"/>
                              </a:rPr>
                              <m:t>2</m:t>
                            </m:r>
                          </m:e>
                        </m:rad>
                      </m:den>
                    </m:f>
                    <m:r>
                      <a:rPr lang="it-IT" sz="2400" i="1">
                        <a:latin typeface="Cambria Math" panose="02040503050406030204" pitchFamily="18" charset="0"/>
                      </a:rPr>
                      <m:t>|</m:t>
                    </m:r>
                    <m:d>
                      <m:dPr>
                        <m:begChr m:val=""/>
                        <m:endChr m:val="⟩"/>
                        <m:ctrlPr>
                          <a:rPr lang="it-IT" sz="2400" i="1">
                            <a:latin typeface="Cambria Math" panose="02040503050406030204" pitchFamily="18" charset="0"/>
                          </a:rPr>
                        </m:ctrlPr>
                      </m:dPr>
                      <m:e>
                        <m:r>
                          <a:rPr lang="it-IT" sz="2400" b="0" i="1" smtClean="0">
                            <a:latin typeface="Cambria Math" panose="02040503050406030204" pitchFamily="18" charset="0"/>
                          </a:rPr>
                          <m:t>1</m:t>
                        </m:r>
                      </m:e>
                    </m:d>
                  </m:oMath>
                </a14:m>
                <a:endParaRPr lang="en-IT" sz="2400"/>
              </a:p>
            </p:txBody>
          </p:sp>
        </mc:Choice>
        <mc:Fallback>
          <p:sp>
            <p:nvSpPr>
              <p:cNvPr id="4" name="Content Placeholder 2">
                <a:extLst>
                  <a:ext uri="{FF2B5EF4-FFF2-40B4-BE49-F238E27FC236}">
                    <a16:creationId xmlns:a16="http://schemas.microsoft.com/office/drawing/2014/main" id="{D38B8CFF-4ED5-42AD-976A-5B29284BC490}"/>
                  </a:ext>
                </a:extLst>
              </p:cNvPr>
              <p:cNvSpPr txBox="1">
                <a:spLocks noRot="1" noChangeAspect="1" noMove="1" noResize="1" noEditPoints="1" noAdjustHandles="1" noChangeArrowheads="1" noChangeShapeType="1" noTextEdit="1"/>
              </p:cNvSpPr>
              <p:nvPr/>
            </p:nvSpPr>
            <p:spPr>
              <a:xfrm>
                <a:off x="306859" y="2460278"/>
                <a:ext cx="11578281" cy="6523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0FDB2FA6-D943-43A3-68E7-EC668607D89D}"/>
                  </a:ext>
                </a:extLst>
              </p:cNvPr>
              <p:cNvSpPr txBox="1">
                <a:spLocks/>
              </p:cNvSpPr>
              <p:nvPr/>
            </p:nvSpPr>
            <p:spPr>
              <a:xfrm>
                <a:off x="306859" y="3130423"/>
                <a:ext cx="11578281" cy="831784"/>
              </a:xfrm>
              <a:prstGeom prst="rect">
                <a:avLst/>
              </a:prstGeom>
            </p:spPr>
            <p:txBody>
              <a:bodyPr vert="horz" lIns="91440" tIns="45720" rIns="91440" bIns="45720" rtlCol="0">
                <a:normAutofit fontScale="85000"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rgbClr val="0F406B"/>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rgbClr val="0F406B"/>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rgbClr val="0F406B"/>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p>
                      <m:sSupPr>
                        <m:ctrlPr>
                          <a:rPr lang="en-IT" sz="2400" i="1" smtClean="0">
                            <a:latin typeface="Cambria Math" panose="02040503050406030204" pitchFamily="18" charset="0"/>
                          </a:rPr>
                        </m:ctrlPr>
                      </m:sSupPr>
                      <m:e>
                        <m:r>
                          <a:rPr lang="it-IT" sz="2400" b="0" i="1" smtClean="0">
                            <a:latin typeface="Cambria Math" panose="02040503050406030204" pitchFamily="18" charset="0"/>
                          </a:rPr>
                          <m:t>𝑝</m:t>
                        </m:r>
                        <m:d>
                          <m:dPr>
                            <m:ctrlPr>
                              <a:rPr lang="it-IT" sz="2400" b="0" i="1" smtClean="0">
                                <a:latin typeface="Cambria Math" panose="02040503050406030204" pitchFamily="18" charset="0"/>
                              </a:rPr>
                            </m:ctrlPr>
                          </m:dPr>
                          <m:e>
                            <m:r>
                              <a:rPr lang="it-IT" sz="2400" b="0" i="1" smtClean="0">
                                <a:latin typeface="Cambria Math" panose="02040503050406030204" pitchFamily="18" charset="0"/>
                              </a:rPr>
                              <m:t>0</m:t>
                            </m:r>
                          </m:e>
                        </m:d>
                        <m:r>
                          <a:rPr lang="it-IT" sz="2400" b="0" i="1" smtClean="0">
                            <a:latin typeface="Cambria Math" panose="02040503050406030204" pitchFamily="18" charset="0"/>
                          </a:rPr>
                          <m:t>=</m:t>
                        </m:r>
                        <m:d>
                          <m:dPr>
                            <m:begChr m:val="‖"/>
                            <m:endChr m:val="‖"/>
                            <m:ctrlPr>
                              <a:rPr lang="en-IT" sz="2400" i="1">
                                <a:latin typeface="Cambria Math" panose="02040503050406030204" pitchFamily="18" charset="0"/>
                              </a:rPr>
                            </m:ctrlPr>
                          </m:dPr>
                          <m:e>
                            <m:f>
                              <m:fPr>
                                <m:ctrlPr>
                                  <a:rPr lang="it-IT" sz="2400" i="1">
                                    <a:latin typeface="Cambria Math" panose="02040503050406030204" pitchFamily="18" charset="0"/>
                                  </a:rPr>
                                </m:ctrlPr>
                              </m:fPr>
                              <m:num>
                                <m:r>
                                  <a:rPr lang="it-IT" sz="2400" i="1">
                                    <a:latin typeface="Cambria Math" panose="02040503050406030204" pitchFamily="18" charset="0"/>
                                  </a:rPr>
                                  <m:t>1</m:t>
                                </m:r>
                              </m:num>
                              <m:den>
                                <m:rad>
                                  <m:radPr>
                                    <m:degHide m:val="on"/>
                                    <m:ctrlPr>
                                      <a:rPr lang="it-IT" sz="2400" i="1">
                                        <a:latin typeface="Cambria Math" panose="02040503050406030204" pitchFamily="18" charset="0"/>
                                      </a:rPr>
                                    </m:ctrlPr>
                                  </m:radPr>
                                  <m:deg/>
                                  <m:e>
                                    <m:r>
                                      <a:rPr lang="it-IT" sz="2400" i="1">
                                        <a:latin typeface="Cambria Math" panose="02040503050406030204" pitchFamily="18" charset="0"/>
                                      </a:rPr>
                                      <m:t>2</m:t>
                                    </m:r>
                                  </m:e>
                                </m:rad>
                              </m:den>
                            </m:f>
                          </m:e>
                        </m:d>
                      </m:e>
                      <m:sup>
                        <m:r>
                          <a:rPr lang="it-IT" sz="2400" b="0" i="1" smtClean="0">
                            <a:latin typeface="Cambria Math" panose="02040503050406030204" pitchFamily="18" charset="0"/>
                          </a:rPr>
                          <m:t>2</m:t>
                        </m:r>
                      </m:sup>
                    </m:sSup>
                    <m:r>
                      <a:rPr lang="it-IT" sz="2400" b="0" i="1" smtClean="0">
                        <a:latin typeface="Cambria Math" panose="02040503050406030204" pitchFamily="18" charset="0"/>
                      </a:rPr>
                      <m:t>= </m:t>
                    </m:r>
                    <m:f>
                      <m:fPr>
                        <m:ctrlPr>
                          <a:rPr lang="it-IT" sz="2400" b="0" i="1" smtClean="0">
                            <a:latin typeface="Cambria Math" panose="02040503050406030204" pitchFamily="18" charset="0"/>
                          </a:rPr>
                        </m:ctrlPr>
                      </m:fPr>
                      <m:num>
                        <m:r>
                          <a:rPr lang="it-IT" sz="2400" b="0" i="1" smtClean="0">
                            <a:latin typeface="Cambria Math" panose="02040503050406030204" pitchFamily="18" charset="0"/>
                          </a:rPr>
                          <m:t>1</m:t>
                        </m:r>
                      </m:num>
                      <m:den>
                        <m:r>
                          <a:rPr lang="it-IT" sz="2400" b="0" i="1" smtClean="0">
                            <a:latin typeface="Cambria Math" panose="02040503050406030204" pitchFamily="18" charset="0"/>
                          </a:rPr>
                          <m:t>2</m:t>
                        </m:r>
                      </m:den>
                    </m:f>
                    <m:r>
                      <a:rPr lang="it-IT" sz="2400" b="0" i="1" smtClean="0">
                        <a:latin typeface="Cambria Math" panose="02040503050406030204" pitchFamily="18" charset="0"/>
                      </a:rPr>
                      <m:t>,</m:t>
                    </m:r>
                    <m:sSup>
                      <m:sSupPr>
                        <m:ctrlPr>
                          <a:rPr lang="en-IT" sz="2400" i="1">
                            <a:latin typeface="Cambria Math" panose="02040503050406030204" pitchFamily="18" charset="0"/>
                          </a:rPr>
                        </m:ctrlPr>
                      </m:sSupPr>
                      <m:e>
                        <m:r>
                          <a:rPr lang="it-IT" sz="2400" b="0" i="1" smtClean="0">
                            <a:latin typeface="Cambria Math" panose="02040503050406030204" pitchFamily="18" charset="0"/>
                          </a:rPr>
                          <m:t>       </m:t>
                        </m:r>
                        <m:r>
                          <a:rPr lang="it-IT" sz="2400" i="1">
                            <a:latin typeface="Cambria Math" panose="02040503050406030204" pitchFamily="18" charset="0"/>
                          </a:rPr>
                          <m:t>𝑝</m:t>
                        </m:r>
                        <m:d>
                          <m:dPr>
                            <m:ctrlPr>
                              <a:rPr lang="it-IT" sz="2400" i="1">
                                <a:latin typeface="Cambria Math" panose="02040503050406030204" pitchFamily="18" charset="0"/>
                              </a:rPr>
                            </m:ctrlPr>
                          </m:dPr>
                          <m:e>
                            <m:r>
                              <a:rPr lang="it-IT" sz="2400" b="0" i="1" smtClean="0">
                                <a:latin typeface="Cambria Math" panose="02040503050406030204" pitchFamily="18" charset="0"/>
                              </a:rPr>
                              <m:t>1</m:t>
                            </m:r>
                          </m:e>
                        </m:d>
                        <m:r>
                          <a:rPr lang="it-IT" sz="2400" i="1">
                            <a:latin typeface="Cambria Math" panose="02040503050406030204" pitchFamily="18" charset="0"/>
                          </a:rPr>
                          <m:t>=</m:t>
                        </m:r>
                        <m:d>
                          <m:dPr>
                            <m:begChr m:val="‖"/>
                            <m:endChr m:val="‖"/>
                            <m:ctrlPr>
                              <a:rPr lang="en-IT" sz="2400" i="1">
                                <a:latin typeface="Cambria Math" panose="02040503050406030204" pitchFamily="18" charset="0"/>
                              </a:rPr>
                            </m:ctrlPr>
                          </m:dPr>
                          <m:e>
                            <m:f>
                              <m:fPr>
                                <m:ctrlPr>
                                  <a:rPr lang="it-IT" sz="2400" i="1">
                                    <a:latin typeface="Cambria Math" panose="02040503050406030204" pitchFamily="18" charset="0"/>
                                  </a:rPr>
                                </m:ctrlPr>
                              </m:fPr>
                              <m:num>
                                <m:sSup>
                                  <m:sSupPr>
                                    <m:ctrlPr>
                                      <a:rPr lang="it-IT" sz="2400" i="1">
                                        <a:latin typeface="Cambria Math" panose="02040503050406030204" pitchFamily="18" charset="0"/>
                                      </a:rPr>
                                    </m:ctrlPr>
                                  </m:sSupPr>
                                  <m:e>
                                    <m:r>
                                      <a:rPr lang="it-IT" sz="2400" i="1">
                                        <a:latin typeface="Cambria Math" panose="02040503050406030204" pitchFamily="18" charset="0"/>
                                      </a:rPr>
                                      <m:t>𝑒</m:t>
                                    </m:r>
                                  </m:e>
                                  <m:sup>
                                    <m:r>
                                      <a:rPr lang="it-IT" sz="2400" i="1">
                                        <a:latin typeface="Cambria Math" panose="02040503050406030204" pitchFamily="18" charset="0"/>
                                      </a:rPr>
                                      <m:t>−</m:t>
                                    </m:r>
                                    <m:f>
                                      <m:fPr>
                                        <m:type m:val="skw"/>
                                        <m:ctrlPr>
                                          <a:rPr lang="it-IT" sz="2400" i="1">
                                            <a:latin typeface="Cambria Math" panose="02040503050406030204" pitchFamily="18" charset="0"/>
                                          </a:rPr>
                                        </m:ctrlPr>
                                      </m:fPr>
                                      <m:num>
                                        <m:r>
                                          <a:rPr lang="it-IT" sz="2400" i="1">
                                            <a:latin typeface="Cambria Math" panose="02040503050406030204" pitchFamily="18" charset="0"/>
                                          </a:rPr>
                                          <m:t>𝑖</m:t>
                                        </m:r>
                                        <m:r>
                                          <a:rPr lang="it-IT" sz="2400" i="1">
                                            <a:latin typeface="Cambria Math" panose="02040503050406030204" pitchFamily="18" charset="0"/>
                                            <a:ea typeface="Cambria Math" panose="02040503050406030204" pitchFamily="18" charset="0"/>
                                          </a:rPr>
                                          <m:t>𝜋</m:t>
                                        </m:r>
                                      </m:num>
                                      <m:den>
                                        <m:r>
                                          <a:rPr lang="it-IT" sz="2400" i="1">
                                            <a:latin typeface="Cambria Math" panose="02040503050406030204" pitchFamily="18" charset="0"/>
                                          </a:rPr>
                                          <m:t>4</m:t>
                                        </m:r>
                                      </m:den>
                                    </m:f>
                                  </m:sup>
                                </m:sSup>
                              </m:num>
                              <m:den>
                                <m:rad>
                                  <m:radPr>
                                    <m:degHide m:val="on"/>
                                    <m:ctrlPr>
                                      <a:rPr lang="it-IT" sz="2400" i="1">
                                        <a:latin typeface="Cambria Math" panose="02040503050406030204" pitchFamily="18" charset="0"/>
                                      </a:rPr>
                                    </m:ctrlPr>
                                  </m:radPr>
                                  <m:deg/>
                                  <m:e>
                                    <m:r>
                                      <a:rPr lang="it-IT" sz="2400" i="1">
                                        <a:latin typeface="Cambria Math" panose="02040503050406030204" pitchFamily="18" charset="0"/>
                                      </a:rPr>
                                      <m:t>2</m:t>
                                    </m:r>
                                  </m:e>
                                </m:rad>
                              </m:den>
                            </m:f>
                          </m:e>
                        </m:d>
                      </m:e>
                      <m:sup>
                        <m:r>
                          <a:rPr lang="it-IT" sz="2400" i="1">
                            <a:latin typeface="Cambria Math" panose="02040503050406030204" pitchFamily="18" charset="0"/>
                          </a:rPr>
                          <m:t>2</m:t>
                        </m:r>
                      </m:sup>
                    </m:sSup>
                    <m:r>
                      <a:rPr lang="it-IT" sz="2400" i="1">
                        <a:latin typeface="Cambria Math" panose="02040503050406030204" pitchFamily="18" charset="0"/>
                      </a:rPr>
                      <m:t>= </m:t>
                    </m:r>
                    <m:f>
                      <m:fPr>
                        <m:ctrlPr>
                          <a:rPr lang="it-IT" sz="2400" i="1">
                            <a:latin typeface="Cambria Math" panose="02040503050406030204" pitchFamily="18" charset="0"/>
                          </a:rPr>
                        </m:ctrlPr>
                      </m:fPr>
                      <m:num>
                        <m:r>
                          <a:rPr lang="it-IT" sz="2400" i="1">
                            <a:latin typeface="Cambria Math" panose="02040503050406030204" pitchFamily="18" charset="0"/>
                          </a:rPr>
                          <m:t>1</m:t>
                        </m:r>
                      </m:num>
                      <m:den>
                        <m:r>
                          <a:rPr lang="it-IT" sz="2400" i="1">
                            <a:latin typeface="Cambria Math" panose="02040503050406030204" pitchFamily="18" charset="0"/>
                          </a:rPr>
                          <m:t>2</m:t>
                        </m:r>
                      </m:den>
                    </m:f>
                  </m:oMath>
                </a14:m>
                <a:endParaRPr lang="en-IT" sz="2400"/>
              </a:p>
            </p:txBody>
          </p:sp>
        </mc:Choice>
        <mc:Fallback>
          <p:sp>
            <p:nvSpPr>
              <p:cNvPr id="5" name="Content Placeholder 2">
                <a:extLst>
                  <a:ext uri="{FF2B5EF4-FFF2-40B4-BE49-F238E27FC236}">
                    <a16:creationId xmlns:a16="http://schemas.microsoft.com/office/drawing/2014/main" id="{0FDB2FA6-D943-43A3-68E7-EC668607D89D}"/>
                  </a:ext>
                </a:extLst>
              </p:cNvPr>
              <p:cNvSpPr txBox="1">
                <a:spLocks noRot="1" noChangeAspect="1" noMove="1" noResize="1" noEditPoints="1" noAdjustHandles="1" noChangeArrowheads="1" noChangeShapeType="1" noTextEdit="1"/>
              </p:cNvSpPr>
              <p:nvPr/>
            </p:nvSpPr>
            <p:spPr>
              <a:xfrm>
                <a:off x="306859" y="3130423"/>
                <a:ext cx="11578281" cy="8317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A347E051-8215-09E0-71E4-B6FFC525D039}"/>
                  </a:ext>
                </a:extLst>
              </p:cNvPr>
              <p:cNvSpPr txBox="1">
                <a:spLocks/>
              </p:cNvSpPr>
              <p:nvPr/>
            </p:nvSpPr>
            <p:spPr>
              <a:xfrm>
                <a:off x="306856" y="3946774"/>
                <a:ext cx="11578281" cy="65239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rgbClr val="0F406B"/>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rgbClr val="0F406B"/>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rgbClr val="0F406B"/>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d>
                      <m:dPr>
                        <m:begChr m:val=""/>
                        <m:endChr m:val="⟩"/>
                        <m:ctrlPr>
                          <a:rPr lang="it-IT" sz="2400" i="1" smtClean="0">
                            <a:latin typeface="Cambria Math" panose="02040503050406030204" pitchFamily="18" charset="0"/>
                          </a:rPr>
                        </m:ctrlPr>
                      </m:dPr>
                      <m:e>
                        <m:sSup>
                          <m:sSupPr>
                            <m:ctrlPr>
                              <a:rPr lang="it-IT" sz="2400" i="1">
                                <a:latin typeface="Cambria Math" panose="02040503050406030204" pitchFamily="18" charset="0"/>
                              </a:rPr>
                            </m:ctrlPr>
                          </m:sSupPr>
                          <m:e>
                            <m:r>
                              <a:rPr lang="it-IT" sz="2400" i="1" smtClean="0">
                                <a:latin typeface="Cambria Math" panose="02040503050406030204" pitchFamily="18" charset="0"/>
                              </a:rPr>
                              <m:t>|</m:t>
                            </m:r>
                            <m:r>
                              <a:rPr lang="it-IT" sz="2400" i="1">
                                <a:latin typeface="Cambria Math" panose="02040503050406030204" pitchFamily="18" charset="0"/>
                                <a:ea typeface="Cambria Math" panose="02040503050406030204" pitchFamily="18" charset="0"/>
                              </a:rPr>
                              <m:t>𝜓</m:t>
                            </m:r>
                          </m:e>
                          <m:sup>
                            <m:r>
                              <a:rPr lang="it-IT" sz="2400" b="0" i="1" smtClean="0">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𝑝𝑚</m:t>
                            </m:r>
                            <m:r>
                              <a:rPr lang="it-IT" sz="2400" b="0" i="1" smtClean="0">
                                <a:latin typeface="Cambria Math" panose="02040503050406030204" pitchFamily="18" charset="0"/>
                                <a:ea typeface="Cambria Math" panose="02040503050406030204" pitchFamily="18" charset="0"/>
                              </a:rPr>
                              <m:t>)</m:t>
                            </m:r>
                          </m:sup>
                        </m:sSup>
                      </m:e>
                    </m:d>
                    <m:r>
                      <a:rPr lang="it-IT" sz="2400" i="1" smtClean="0">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rPr>
                      <m:t>|</m:t>
                    </m:r>
                    <m:d>
                      <m:dPr>
                        <m:begChr m:val=""/>
                        <m:endChr m:val="⟩"/>
                        <m:ctrlPr>
                          <a:rPr lang="it-IT" sz="2400" b="0" i="1" smtClean="0">
                            <a:latin typeface="Cambria Math" panose="02040503050406030204" pitchFamily="18" charset="0"/>
                          </a:rPr>
                        </m:ctrlPr>
                      </m:dPr>
                      <m:e>
                        <m:r>
                          <a:rPr lang="it-IT" sz="2400" b="0" i="1" smtClean="0">
                            <a:latin typeface="Cambria Math" panose="02040503050406030204" pitchFamily="18" charset="0"/>
                          </a:rPr>
                          <m:t>0</m:t>
                        </m:r>
                      </m:e>
                    </m:d>
                  </m:oMath>
                </a14:m>
                <a:r>
                  <a:rPr lang="en-IT" sz="2400"/>
                  <a:t> with 50% probability and </a:t>
                </a:r>
                <a14:m>
                  <m:oMath xmlns:m="http://schemas.openxmlformats.org/officeDocument/2006/math">
                    <m:d>
                      <m:dPr>
                        <m:begChr m:val=""/>
                        <m:endChr m:val="⟩"/>
                        <m:ctrlPr>
                          <a:rPr lang="it-IT" sz="2400" i="1">
                            <a:latin typeface="Cambria Math" panose="02040503050406030204" pitchFamily="18" charset="0"/>
                          </a:rPr>
                        </m:ctrlPr>
                      </m:dPr>
                      <m:e>
                        <m:sSup>
                          <m:sSupPr>
                            <m:ctrlPr>
                              <a:rPr lang="it-IT" sz="2400" i="1">
                                <a:latin typeface="Cambria Math" panose="02040503050406030204" pitchFamily="18" charset="0"/>
                              </a:rPr>
                            </m:ctrlPr>
                          </m:sSupPr>
                          <m:e>
                            <m:r>
                              <a:rPr lang="it-IT" sz="2400" i="1">
                                <a:latin typeface="Cambria Math" panose="02040503050406030204" pitchFamily="18" charset="0"/>
                              </a:rPr>
                              <m:t>|</m:t>
                            </m:r>
                            <m:r>
                              <a:rPr lang="it-IT" sz="2400" i="1">
                                <a:latin typeface="Cambria Math" panose="02040503050406030204" pitchFamily="18" charset="0"/>
                                <a:ea typeface="Cambria Math" panose="02040503050406030204" pitchFamily="18" charset="0"/>
                              </a:rPr>
                              <m:t>𝜓</m:t>
                            </m:r>
                          </m:e>
                          <m:sup>
                            <m:r>
                              <a:rPr lang="it-IT" sz="2400" i="1">
                                <a:latin typeface="Cambria Math" panose="02040503050406030204" pitchFamily="18" charset="0"/>
                                <a:ea typeface="Cambria Math" panose="02040503050406030204" pitchFamily="18" charset="0"/>
                              </a:rPr>
                              <m:t>(</m:t>
                            </m:r>
                            <m:r>
                              <a:rPr lang="it-IT" sz="2400" i="1">
                                <a:latin typeface="Cambria Math" panose="02040503050406030204" pitchFamily="18" charset="0"/>
                                <a:ea typeface="Cambria Math" panose="02040503050406030204" pitchFamily="18" charset="0"/>
                              </a:rPr>
                              <m:t>𝑝𝑚</m:t>
                            </m:r>
                            <m:r>
                              <a:rPr lang="it-IT" sz="2400" i="1">
                                <a:latin typeface="Cambria Math" panose="02040503050406030204" pitchFamily="18" charset="0"/>
                                <a:ea typeface="Cambria Math" panose="02040503050406030204" pitchFamily="18" charset="0"/>
                              </a:rPr>
                              <m:t>)</m:t>
                            </m:r>
                          </m:sup>
                        </m:sSup>
                      </m:e>
                    </m:d>
                    <m:r>
                      <a:rPr lang="it-IT" sz="2400" i="1">
                        <a:latin typeface="Cambria Math" panose="02040503050406030204" pitchFamily="18" charset="0"/>
                        <a:ea typeface="Cambria Math" panose="02040503050406030204" pitchFamily="18" charset="0"/>
                      </a:rPr>
                      <m:t>=</m:t>
                    </m:r>
                    <m:r>
                      <a:rPr lang="it-IT" sz="2400" i="1">
                        <a:latin typeface="Cambria Math" panose="02040503050406030204" pitchFamily="18" charset="0"/>
                      </a:rPr>
                      <m:t>|</m:t>
                    </m:r>
                    <m:d>
                      <m:dPr>
                        <m:begChr m:val=""/>
                        <m:endChr m:val="⟩"/>
                        <m:ctrlPr>
                          <a:rPr lang="it-IT" sz="2400" i="1">
                            <a:latin typeface="Cambria Math" panose="02040503050406030204" pitchFamily="18" charset="0"/>
                          </a:rPr>
                        </m:ctrlPr>
                      </m:dPr>
                      <m:e>
                        <m:r>
                          <a:rPr lang="it-IT" sz="2400" b="0" i="1" smtClean="0">
                            <a:latin typeface="Cambria Math" panose="02040503050406030204" pitchFamily="18" charset="0"/>
                          </a:rPr>
                          <m:t>1</m:t>
                        </m:r>
                      </m:e>
                    </m:d>
                  </m:oMath>
                </a14:m>
                <a:r>
                  <a:rPr lang="en-IT" sz="2400"/>
                  <a:t> with 50% probability. </a:t>
                </a:r>
              </a:p>
            </p:txBody>
          </p:sp>
        </mc:Choice>
        <mc:Fallback>
          <p:sp>
            <p:nvSpPr>
              <p:cNvPr id="6" name="Content Placeholder 2">
                <a:extLst>
                  <a:ext uri="{FF2B5EF4-FFF2-40B4-BE49-F238E27FC236}">
                    <a16:creationId xmlns:a16="http://schemas.microsoft.com/office/drawing/2014/main" id="{A347E051-8215-09E0-71E4-B6FFC525D039}"/>
                  </a:ext>
                </a:extLst>
              </p:cNvPr>
              <p:cNvSpPr txBox="1">
                <a:spLocks noRot="1" noChangeAspect="1" noMove="1" noResize="1" noEditPoints="1" noAdjustHandles="1" noChangeArrowheads="1" noChangeShapeType="1" noTextEdit="1"/>
              </p:cNvSpPr>
              <p:nvPr/>
            </p:nvSpPr>
            <p:spPr>
              <a:xfrm>
                <a:off x="306856" y="3946774"/>
                <a:ext cx="11578281" cy="652399"/>
              </a:xfrm>
              <a:prstGeom prst="rect">
                <a:avLst/>
              </a:prstGeom>
              <a:blipFill>
                <a:blip r:embed="rId5"/>
                <a:stretch>
                  <a:fillRect t="-934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3385CE03-B2E3-0BF1-CEB6-72707993B593}"/>
                  </a:ext>
                </a:extLst>
              </p:cNvPr>
              <p:cNvSpPr txBox="1">
                <a:spLocks/>
              </p:cNvSpPr>
              <p:nvPr/>
            </p:nvSpPr>
            <p:spPr>
              <a:xfrm>
                <a:off x="306856" y="4671685"/>
                <a:ext cx="11360887" cy="652399"/>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rgbClr val="0F406B"/>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rgbClr val="0F406B"/>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rgbClr val="0F406B"/>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rgbClr val="0F406B"/>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T" sz="2400"/>
                  <a:t>Note that the post measurement state </a:t>
                </a:r>
                <a14:m>
                  <m:oMath xmlns:m="http://schemas.openxmlformats.org/officeDocument/2006/math">
                    <m:d>
                      <m:dPr>
                        <m:begChr m:val=""/>
                        <m:endChr m:val="⟩"/>
                        <m:ctrlPr>
                          <a:rPr lang="it-IT" sz="2400" i="1">
                            <a:latin typeface="Cambria Math" panose="02040503050406030204" pitchFamily="18" charset="0"/>
                          </a:rPr>
                        </m:ctrlPr>
                      </m:dPr>
                      <m:e>
                        <m:sSup>
                          <m:sSupPr>
                            <m:ctrlPr>
                              <a:rPr lang="it-IT" sz="2400" i="1">
                                <a:latin typeface="Cambria Math" panose="02040503050406030204" pitchFamily="18" charset="0"/>
                              </a:rPr>
                            </m:ctrlPr>
                          </m:sSupPr>
                          <m:e>
                            <m:r>
                              <a:rPr lang="it-IT" sz="2400" i="1">
                                <a:latin typeface="Cambria Math" panose="02040503050406030204" pitchFamily="18" charset="0"/>
                              </a:rPr>
                              <m:t>|</m:t>
                            </m:r>
                            <m:r>
                              <a:rPr lang="it-IT" sz="2400" i="1">
                                <a:latin typeface="Cambria Math" panose="02040503050406030204" pitchFamily="18" charset="0"/>
                                <a:ea typeface="Cambria Math" panose="02040503050406030204" pitchFamily="18" charset="0"/>
                              </a:rPr>
                              <m:t>𝜓</m:t>
                            </m:r>
                          </m:e>
                          <m:sup>
                            <m:r>
                              <a:rPr lang="it-IT" sz="2400" i="1">
                                <a:latin typeface="Cambria Math" panose="02040503050406030204" pitchFamily="18" charset="0"/>
                                <a:ea typeface="Cambria Math" panose="02040503050406030204" pitchFamily="18" charset="0"/>
                              </a:rPr>
                              <m:t>(</m:t>
                            </m:r>
                            <m:r>
                              <a:rPr lang="it-IT" sz="2400" i="1">
                                <a:latin typeface="Cambria Math" panose="02040503050406030204" pitchFamily="18" charset="0"/>
                                <a:ea typeface="Cambria Math" panose="02040503050406030204" pitchFamily="18" charset="0"/>
                              </a:rPr>
                              <m:t>𝑝𝑚</m:t>
                            </m:r>
                            <m:r>
                              <a:rPr lang="it-IT" sz="2400" i="1">
                                <a:latin typeface="Cambria Math" panose="02040503050406030204" pitchFamily="18" charset="0"/>
                                <a:ea typeface="Cambria Math" panose="02040503050406030204" pitchFamily="18" charset="0"/>
                              </a:rPr>
                              <m:t>)</m:t>
                            </m:r>
                          </m:sup>
                        </m:sSup>
                      </m:e>
                    </m:d>
                    <m:r>
                      <a:rPr lang="it-IT" sz="2400" i="1">
                        <a:latin typeface="Cambria Math" panose="02040503050406030204" pitchFamily="18" charset="0"/>
                        <a:ea typeface="Cambria Math" panose="02040503050406030204" pitchFamily="18" charset="0"/>
                      </a:rPr>
                      <m:t> </m:t>
                    </m:r>
                  </m:oMath>
                </a14:m>
                <a:r>
                  <a:rPr lang="en-IT" sz="2400"/>
                  <a:t>is a CBS state: measuring destroys the previous state! </a:t>
                </a:r>
              </a:p>
            </p:txBody>
          </p:sp>
        </mc:Choice>
        <mc:Fallback>
          <p:sp>
            <p:nvSpPr>
              <p:cNvPr id="7" name="Content Placeholder 2">
                <a:extLst>
                  <a:ext uri="{FF2B5EF4-FFF2-40B4-BE49-F238E27FC236}">
                    <a16:creationId xmlns:a16="http://schemas.microsoft.com/office/drawing/2014/main" id="{3385CE03-B2E3-0BF1-CEB6-72707993B593}"/>
                  </a:ext>
                </a:extLst>
              </p:cNvPr>
              <p:cNvSpPr txBox="1">
                <a:spLocks noRot="1" noChangeAspect="1" noMove="1" noResize="1" noEditPoints="1" noAdjustHandles="1" noChangeArrowheads="1" noChangeShapeType="1" noTextEdit="1"/>
              </p:cNvSpPr>
              <p:nvPr/>
            </p:nvSpPr>
            <p:spPr>
              <a:xfrm>
                <a:off x="306856" y="4671685"/>
                <a:ext cx="11360887" cy="652399"/>
              </a:xfrm>
              <a:prstGeom prst="rect">
                <a:avLst/>
              </a:prstGeom>
              <a:blipFill>
                <a:blip r:embed="rId6"/>
                <a:stretch>
                  <a:fillRect l="-697" t="-9346" b="-42056"/>
                </a:stretch>
              </a:blipFill>
            </p:spPr>
            <p:txBody>
              <a:bodyPr/>
              <a:lstStyle/>
              <a:p>
                <a:r>
                  <a:rPr lang="en-US">
                    <a:noFill/>
                  </a:rPr>
                  <a:t> </a:t>
                </a:r>
              </a:p>
            </p:txBody>
          </p:sp>
        </mc:Fallback>
      </mc:AlternateContent>
    </p:spTree>
    <p:extLst>
      <p:ext uri="{BB962C8B-B14F-4D97-AF65-F5344CB8AC3E}">
        <p14:creationId xmlns:p14="http://schemas.microsoft.com/office/powerpoint/2010/main" val="420060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D0A4-D9BA-C242-9A6A-0928BC5315DA}"/>
              </a:ext>
            </a:extLst>
          </p:cNvPr>
          <p:cNvSpPr>
            <a:spLocks noGrp="1"/>
          </p:cNvSpPr>
          <p:nvPr>
            <p:ph type="title"/>
          </p:nvPr>
        </p:nvSpPr>
        <p:spPr/>
        <p:txBody>
          <a:bodyPr/>
          <a:lstStyle/>
          <a:p>
            <a:r>
              <a:rPr lang="en-IT"/>
              <a:t>Quantum Noise</a:t>
            </a:r>
          </a:p>
        </p:txBody>
      </p:sp>
      <p:graphicFrame>
        <p:nvGraphicFramePr>
          <p:cNvPr id="10" name="Content Placeholder 9">
            <a:extLst>
              <a:ext uri="{FF2B5EF4-FFF2-40B4-BE49-F238E27FC236}">
                <a16:creationId xmlns:a16="http://schemas.microsoft.com/office/drawing/2014/main" id="{6EB40A04-CAE4-A449-993D-968F5588DD8F}"/>
              </a:ext>
            </a:extLst>
          </p:cNvPr>
          <p:cNvGraphicFramePr>
            <a:graphicFrameLocks noGrp="1"/>
          </p:cNvGraphicFramePr>
          <p:nvPr>
            <p:ph idx="1"/>
            <p:extLst>
              <p:ext uri="{D42A27DB-BD31-4B8C-83A1-F6EECF244321}">
                <p14:modId xmlns:p14="http://schemas.microsoft.com/office/powerpoint/2010/main" val="2597963911"/>
              </p:ext>
            </p:extLst>
          </p:nvPr>
        </p:nvGraphicFramePr>
        <p:xfrm>
          <a:off x="308921" y="1825625"/>
          <a:ext cx="1157828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0100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FCC93-6105-B048-AFF2-26BEA63900F6}"/>
              </a:ext>
            </a:extLst>
          </p:cNvPr>
          <p:cNvSpPr>
            <a:spLocks noGrp="1"/>
          </p:cNvSpPr>
          <p:nvPr>
            <p:ph type="title"/>
          </p:nvPr>
        </p:nvSpPr>
        <p:spPr/>
        <p:txBody>
          <a:bodyPr/>
          <a:lstStyle/>
          <a:p>
            <a:r>
              <a:rPr lang="en-IT"/>
              <a:t>NISQ Era</a:t>
            </a:r>
          </a:p>
        </p:txBody>
      </p:sp>
      <p:sp>
        <p:nvSpPr>
          <p:cNvPr id="3" name="Content Placeholder 2">
            <a:extLst>
              <a:ext uri="{FF2B5EF4-FFF2-40B4-BE49-F238E27FC236}">
                <a16:creationId xmlns:a16="http://schemas.microsoft.com/office/drawing/2014/main" id="{88B3A1C8-6D7D-AE41-AAAF-D97FA52EF6BB}"/>
              </a:ext>
            </a:extLst>
          </p:cNvPr>
          <p:cNvSpPr>
            <a:spLocks noGrp="1"/>
          </p:cNvSpPr>
          <p:nvPr>
            <p:ph idx="1"/>
          </p:nvPr>
        </p:nvSpPr>
        <p:spPr>
          <a:xfrm>
            <a:off x="289043" y="1815686"/>
            <a:ext cx="11578281" cy="4351338"/>
          </a:xfrm>
        </p:spPr>
        <p:txBody>
          <a:bodyPr/>
          <a:lstStyle/>
          <a:p>
            <a:r>
              <a:rPr lang="it-IT"/>
              <a:t>In 2018 John </a:t>
            </a:r>
            <a:r>
              <a:rPr lang="it-IT" err="1"/>
              <a:t>Preskill</a:t>
            </a:r>
            <a:r>
              <a:rPr lang="it-IT"/>
              <a:t> </a:t>
            </a:r>
            <a:r>
              <a:rPr lang="it-IT" err="1"/>
              <a:t>wrote</a:t>
            </a:r>
            <a:r>
              <a:rPr lang="it-IT"/>
              <a:t> a </a:t>
            </a:r>
            <a:r>
              <a:rPr lang="it-IT" err="1"/>
              <a:t>paper</a:t>
            </a:r>
            <a:r>
              <a:rPr lang="it-IT"/>
              <a:t> (</a:t>
            </a:r>
            <a:r>
              <a:rPr lang="it-IT" err="1"/>
              <a:t>available</a:t>
            </a:r>
            <a:r>
              <a:rPr lang="it-IT"/>
              <a:t> </a:t>
            </a:r>
            <a:r>
              <a:rPr lang="it-IT">
                <a:hlinkClick r:id="rId2"/>
              </a:rPr>
              <a:t>here</a:t>
            </a:r>
            <a:r>
              <a:rPr lang="it-IT"/>
              <a:t>) </a:t>
            </a:r>
            <a:r>
              <a:rPr lang="it-IT" err="1"/>
              <a:t>where</a:t>
            </a:r>
            <a:r>
              <a:rPr lang="it-IT"/>
              <a:t> he </a:t>
            </a:r>
            <a:r>
              <a:rPr lang="it-IT" err="1"/>
              <a:t>defined</a:t>
            </a:r>
            <a:r>
              <a:rPr lang="it-IT"/>
              <a:t> a new era of quantum </a:t>
            </a:r>
            <a:r>
              <a:rPr lang="it-IT" err="1"/>
              <a:t>computing</a:t>
            </a:r>
            <a:r>
              <a:rPr lang="it-IT"/>
              <a:t> </a:t>
            </a:r>
            <a:r>
              <a:rPr lang="it-IT" err="1"/>
              <a:t>that</a:t>
            </a:r>
            <a:r>
              <a:rPr lang="it-IT"/>
              <a:t> </a:t>
            </a:r>
            <a:r>
              <a:rPr lang="it-IT" err="1"/>
              <a:t>would</a:t>
            </a:r>
            <a:r>
              <a:rPr lang="it-IT"/>
              <a:t> be </a:t>
            </a:r>
            <a:r>
              <a:rPr lang="it-IT" err="1"/>
              <a:t>available</a:t>
            </a:r>
            <a:r>
              <a:rPr lang="it-IT"/>
              <a:t> in the </a:t>
            </a:r>
            <a:r>
              <a:rPr lang="it-IT" err="1"/>
              <a:t>near</a:t>
            </a:r>
            <a:r>
              <a:rPr lang="it-IT"/>
              <a:t> future:</a:t>
            </a:r>
          </a:p>
          <a:p>
            <a:r>
              <a:rPr lang="en-GB" b="1"/>
              <a:t>Noisy Intermediate-Scale Quantum (NISQ) Era</a:t>
            </a:r>
            <a:r>
              <a:rPr lang="en-GB"/>
              <a:t>, where “</a:t>
            </a:r>
            <a:r>
              <a:rPr lang="en-GB" i="1"/>
              <a:t>quantum computers with 50-100 qubits may be able to perform tasks which surpass the capabilities of today's classical digital computers, but noise in quantum gates will limit the size of quantum circuits that can be executed reliably”.</a:t>
            </a:r>
          </a:p>
          <a:p>
            <a:r>
              <a:rPr lang="en-GB"/>
              <a:t>Thanks to the recent advancements of academic research, IBM, Google and other companies, we have now entered the NISQ era.</a:t>
            </a:r>
            <a:endParaRPr lang="en-IT"/>
          </a:p>
        </p:txBody>
      </p:sp>
    </p:spTree>
    <p:extLst>
      <p:ext uri="{BB962C8B-B14F-4D97-AF65-F5344CB8AC3E}">
        <p14:creationId xmlns:p14="http://schemas.microsoft.com/office/powerpoint/2010/main" val="3682560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79D2-83E4-8E4C-994B-D3E06126817B}"/>
              </a:ext>
            </a:extLst>
          </p:cNvPr>
          <p:cNvSpPr>
            <a:spLocks noGrp="1"/>
          </p:cNvSpPr>
          <p:nvPr>
            <p:ph type="title"/>
          </p:nvPr>
        </p:nvSpPr>
        <p:spPr/>
        <p:txBody>
          <a:bodyPr/>
          <a:lstStyle/>
          <a:p>
            <a:r>
              <a:rPr lang="en-IT"/>
              <a:t>Running quantum circuits</a:t>
            </a:r>
          </a:p>
        </p:txBody>
      </p:sp>
      <p:sp>
        <p:nvSpPr>
          <p:cNvPr id="3" name="Content Placeholder 2">
            <a:extLst>
              <a:ext uri="{FF2B5EF4-FFF2-40B4-BE49-F238E27FC236}">
                <a16:creationId xmlns:a16="http://schemas.microsoft.com/office/drawing/2014/main" id="{BB9D8B0F-085D-2747-BB51-D8E23E3C65B0}"/>
              </a:ext>
            </a:extLst>
          </p:cNvPr>
          <p:cNvSpPr>
            <a:spLocks noGrp="1"/>
          </p:cNvSpPr>
          <p:nvPr>
            <p:ph idx="1"/>
          </p:nvPr>
        </p:nvSpPr>
        <p:spPr/>
        <p:txBody>
          <a:bodyPr/>
          <a:lstStyle/>
          <a:p>
            <a:r>
              <a:rPr lang="en-IT"/>
              <a:t>Is it possible to program and run a quantum circuit on a real quantum computer?</a:t>
            </a:r>
          </a:p>
          <a:p>
            <a:r>
              <a:rPr lang="en-IT" b="1"/>
              <a:t>Yes</a:t>
            </a:r>
            <a:r>
              <a:rPr lang="en-IT"/>
              <a:t>, thanks to Qiskit and IBM Quantum Experience! More on this later.</a:t>
            </a:r>
          </a:p>
          <a:p>
            <a:pPr marL="0" indent="0">
              <a:buNone/>
            </a:pPr>
            <a:endParaRPr lang="en-IT"/>
          </a:p>
        </p:txBody>
      </p:sp>
      <p:pic>
        <p:nvPicPr>
          <p:cNvPr id="5" name="Picture 4">
            <a:extLst>
              <a:ext uri="{FF2B5EF4-FFF2-40B4-BE49-F238E27FC236}">
                <a16:creationId xmlns:a16="http://schemas.microsoft.com/office/drawing/2014/main" id="{A1528312-7CF3-FA48-84CF-5449D35D52E5}"/>
              </a:ext>
            </a:extLst>
          </p:cNvPr>
          <p:cNvPicPr>
            <a:picLocks noChangeAspect="1"/>
          </p:cNvPicPr>
          <p:nvPr/>
        </p:nvPicPr>
        <p:blipFill>
          <a:blip r:embed="rId2"/>
          <a:stretch>
            <a:fillRect/>
          </a:stretch>
        </p:blipFill>
        <p:spPr>
          <a:xfrm>
            <a:off x="6096000" y="3298371"/>
            <a:ext cx="2971800" cy="2971800"/>
          </a:xfrm>
          <a:prstGeom prst="rect">
            <a:avLst/>
          </a:prstGeom>
        </p:spPr>
      </p:pic>
      <p:pic>
        <p:nvPicPr>
          <p:cNvPr id="7" name="Picture 6">
            <a:extLst>
              <a:ext uri="{FF2B5EF4-FFF2-40B4-BE49-F238E27FC236}">
                <a16:creationId xmlns:a16="http://schemas.microsoft.com/office/drawing/2014/main" id="{CF5A8BB2-3811-0941-900D-FBD729EB3E44}"/>
              </a:ext>
            </a:extLst>
          </p:cNvPr>
          <p:cNvPicPr>
            <a:picLocks noChangeAspect="1"/>
          </p:cNvPicPr>
          <p:nvPr/>
        </p:nvPicPr>
        <p:blipFill>
          <a:blip r:embed="rId3"/>
          <a:stretch>
            <a:fillRect/>
          </a:stretch>
        </p:blipFill>
        <p:spPr>
          <a:xfrm>
            <a:off x="3154136" y="4390571"/>
            <a:ext cx="2552700" cy="787400"/>
          </a:xfrm>
          <a:prstGeom prst="rect">
            <a:avLst/>
          </a:prstGeom>
        </p:spPr>
      </p:pic>
    </p:spTree>
    <p:extLst>
      <p:ext uri="{BB962C8B-B14F-4D97-AF65-F5344CB8AC3E}">
        <p14:creationId xmlns:p14="http://schemas.microsoft.com/office/powerpoint/2010/main" val="1637851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61A38-A473-32C4-4AF5-810BAD13003C}"/>
              </a:ext>
            </a:extLst>
          </p:cNvPr>
          <p:cNvSpPr>
            <a:spLocks noGrp="1"/>
          </p:cNvSpPr>
          <p:nvPr>
            <p:ph type="title"/>
          </p:nvPr>
        </p:nvSpPr>
        <p:spPr>
          <a:xfrm>
            <a:off x="0" y="3"/>
            <a:ext cx="12192000" cy="1646237"/>
          </a:xfrm>
        </p:spPr>
        <p:txBody>
          <a:bodyPr anchor="ctr">
            <a:normAutofit/>
          </a:bodyPr>
          <a:lstStyle/>
          <a:p>
            <a:r>
              <a:rPr lang="en-IT"/>
              <a:t>Quantum Algorithms</a:t>
            </a:r>
          </a:p>
        </p:txBody>
      </p:sp>
      <p:sp>
        <p:nvSpPr>
          <p:cNvPr id="3" name="Content Placeholder 2">
            <a:extLst>
              <a:ext uri="{FF2B5EF4-FFF2-40B4-BE49-F238E27FC236}">
                <a16:creationId xmlns:a16="http://schemas.microsoft.com/office/drawing/2014/main" id="{62154A93-1652-0AEB-EF5C-8C0A837A2AEA}"/>
              </a:ext>
            </a:extLst>
          </p:cNvPr>
          <p:cNvSpPr>
            <a:spLocks noGrp="1"/>
          </p:cNvSpPr>
          <p:nvPr>
            <p:ph sz="half" idx="1"/>
          </p:nvPr>
        </p:nvSpPr>
        <p:spPr>
          <a:xfrm>
            <a:off x="838200" y="1825625"/>
            <a:ext cx="5181600" cy="4351338"/>
          </a:xfrm>
        </p:spPr>
        <p:txBody>
          <a:bodyPr>
            <a:normAutofit/>
          </a:bodyPr>
          <a:lstStyle/>
          <a:p>
            <a:endParaRPr lang="en-IT"/>
          </a:p>
          <a:p>
            <a:r>
              <a:rPr lang="en-IT"/>
              <a:t>What is the advantage of quantum algorithms?</a:t>
            </a:r>
          </a:p>
          <a:p>
            <a:endParaRPr lang="en-IT"/>
          </a:p>
          <a:p>
            <a:r>
              <a:rPr lang="en-IT"/>
              <a:t>How are quantum algorithms structured?</a:t>
            </a:r>
          </a:p>
        </p:txBody>
      </p:sp>
      <p:pic>
        <p:nvPicPr>
          <p:cNvPr id="4" name="Content Placeholder 3">
            <a:extLst>
              <a:ext uri="{FF2B5EF4-FFF2-40B4-BE49-F238E27FC236}">
                <a16:creationId xmlns:a16="http://schemas.microsoft.com/office/drawing/2014/main" id="{40C1D45B-6DE4-908B-0416-C355CAEAFDAC}"/>
              </a:ext>
            </a:extLst>
          </p:cNvPr>
          <p:cNvPicPr>
            <a:picLocks noGrp="1" noChangeAspect="1"/>
          </p:cNvPicPr>
          <p:nvPr>
            <p:ph sz="half" idx="2"/>
          </p:nvPr>
        </p:nvPicPr>
        <p:blipFill>
          <a:blip r:embed="rId2"/>
          <a:stretch>
            <a:fillRect/>
          </a:stretch>
        </p:blipFill>
        <p:spPr>
          <a:xfrm>
            <a:off x="5740280" y="2483107"/>
            <a:ext cx="6285825" cy="3036373"/>
          </a:xfrm>
        </p:spPr>
      </p:pic>
      <p:sp>
        <p:nvSpPr>
          <p:cNvPr id="5" name="TextBox 4">
            <a:extLst>
              <a:ext uri="{FF2B5EF4-FFF2-40B4-BE49-F238E27FC236}">
                <a16:creationId xmlns:a16="http://schemas.microsoft.com/office/drawing/2014/main" id="{AC808A9E-8C6D-EB66-FE3A-23282CC58467}"/>
              </a:ext>
            </a:extLst>
          </p:cNvPr>
          <p:cNvSpPr txBox="1"/>
          <p:nvPr/>
        </p:nvSpPr>
        <p:spPr>
          <a:xfrm>
            <a:off x="6377609" y="2144553"/>
            <a:ext cx="3285387" cy="338554"/>
          </a:xfrm>
          <a:prstGeom prst="rect">
            <a:avLst/>
          </a:prstGeom>
          <a:noFill/>
        </p:spPr>
        <p:txBody>
          <a:bodyPr wrap="none" rtlCol="0">
            <a:spAutoFit/>
          </a:bodyPr>
          <a:lstStyle/>
          <a:p>
            <a:r>
              <a:rPr lang="en-IT" sz="1600"/>
              <a:t>Shor’s algorithm performances (</a:t>
            </a:r>
            <a:r>
              <a:rPr lang="en-IT" sz="1600">
                <a:hlinkClick r:id="rId3"/>
              </a:rPr>
              <a:t>IBM</a:t>
            </a:r>
            <a:r>
              <a:rPr lang="en-IT" sz="1600"/>
              <a:t>)</a:t>
            </a:r>
          </a:p>
        </p:txBody>
      </p:sp>
    </p:spTree>
    <p:extLst>
      <p:ext uri="{BB962C8B-B14F-4D97-AF65-F5344CB8AC3E}">
        <p14:creationId xmlns:p14="http://schemas.microsoft.com/office/powerpoint/2010/main" val="294519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A01DF4E1-B545-EBA1-8B79-9E6FABFA0509}"/>
              </a:ext>
            </a:extLst>
          </p:cNvPr>
          <p:cNvSpPr/>
          <p:nvPr/>
        </p:nvSpPr>
        <p:spPr>
          <a:xfrm>
            <a:off x="7682845" y="2705493"/>
            <a:ext cx="2366128" cy="3676453"/>
          </a:xfrm>
          <a:custGeom>
            <a:avLst/>
            <a:gdLst>
              <a:gd name="connsiteX0" fmla="*/ 443060 w 2366128"/>
              <a:gd name="connsiteY0" fmla="*/ 3676453 h 3676453"/>
              <a:gd name="connsiteX1" fmla="*/ 1206631 w 2366128"/>
              <a:gd name="connsiteY1" fmla="*/ 3384222 h 3676453"/>
              <a:gd name="connsiteX2" fmla="*/ 1753386 w 2366128"/>
              <a:gd name="connsiteY2" fmla="*/ 3007150 h 3676453"/>
              <a:gd name="connsiteX3" fmla="*/ 2168165 w 2366128"/>
              <a:gd name="connsiteY3" fmla="*/ 2573517 h 3676453"/>
              <a:gd name="connsiteX4" fmla="*/ 2366128 w 2366128"/>
              <a:gd name="connsiteY4" fmla="*/ 2017336 h 3676453"/>
              <a:gd name="connsiteX5" fmla="*/ 2309567 w 2366128"/>
              <a:gd name="connsiteY5" fmla="*/ 1574276 h 3676453"/>
              <a:gd name="connsiteX6" fmla="*/ 2036190 w 2366128"/>
              <a:gd name="connsiteY6" fmla="*/ 1074655 h 3676453"/>
              <a:gd name="connsiteX7" fmla="*/ 1602557 w 2366128"/>
              <a:gd name="connsiteY7" fmla="*/ 659876 h 3676453"/>
              <a:gd name="connsiteX8" fmla="*/ 1187778 w 2366128"/>
              <a:gd name="connsiteY8" fmla="*/ 433633 h 3676453"/>
              <a:gd name="connsiteX9" fmla="*/ 725864 w 2366128"/>
              <a:gd name="connsiteY9" fmla="*/ 216816 h 3676453"/>
              <a:gd name="connsiteX10" fmla="*/ 0 w 2366128"/>
              <a:gd name="connsiteY10" fmla="*/ 0 h 3676453"/>
              <a:gd name="connsiteX11" fmla="*/ 443060 w 2366128"/>
              <a:gd name="connsiteY11" fmla="*/ 3676453 h 3676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66128" h="3676453">
                <a:moveTo>
                  <a:pt x="443060" y="3676453"/>
                </a:moveTo>
                <a:lnTo>
                  <a:pt x="1206631" y="3384222"/>
                </a:lnTo>
                <a:lnTo>
                  <a:pt x="1753386" y="3007150"/>
                </a:lnTo>
                <a:lnTo>
                  <a:pt x="2168165" y="2573517"/>
                </a:lnTo>
                <a:lnTo>
                  <a:pt x="2366128" y="2017336"/>
                </a:lnTo>
                <a:lnTo>
                  <a:pt x="2309567" y="1574276"/>
                </a:lnTo>
                <a:lnTo>
                  <a:pt x="2036190" y="1074655"/>
                </a:lnTo>
                <a:lnTo>
                  <a:pt x="1602557" y="659876"/>
                </a:lnTo>
                <a:lnTo>
                  <a:pt x="1187778" y="433633"/>
                </a:lnTo>
                <a:lnTo>
                  <a:pt x="725864" y="216816"/>
                </a:lnTo>
                <a:lnTo>
                  <a:pt x="0" y="0"/>
                </a:lnTo>
                <a:lnTo>
                  <a:pt x="443060" y="367645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6" name="Freeform 15">
            <a:extLst>
              <a:ext uri="{FF2B5EF4-FFF2-40B4-BE49-F238E27FC236}">
                <a16:creationId xmlns:a16="http://schemas.microsoft.com/office/drawing/2014/main" id="{E93BD780-D4D0-CE9D-67B2-D72143C257D1}"/>
              </a:ext>
            </a:extLst>
          </p:cNvPr>
          <p:cNvSpPr/>
          <p:nvPr/>
        </p:nvSpPr>
        <p:spPr>
          <a:xfrm>
            <a:off x="1828800" y="2498105"/>
            <a:ext cx="4449452" cy="4223209"/>
          </a:xfrm>
          <a:custGeom>
            <a:avLst/>
            <a:gdLst>
              <a:gd name="connsiteX0" fmla="*/ 4100660 w 4449452"/>
              <a:gd name="connsiteY0" fmla="*/ 0 h 4223209"/>
              <a:gd name="connsiteX1" fmla="*/ 3063711 w 4449452"/>
              <a:gd name="connsiteY1" fmla="*/ 65988 h 4223209"/>
              <a:gd name="connsiteX2" fmla="*/ 2318994 w 4449452"/>
              <a:gd name="connsiteY2" fmla="*/ 216817 h 4223209"/>
              <a:gd name="connsiteX3" fmla="*/ 1536569 w 4449452"/>
              <a:gd name="connsiteY3" fmla="*/ 452487 h 4223209"/>
              <a:gd name="connsiteX4" fmla="*/ 1018095 w 4449452"/>
              <a:gd name="connsiteY4" fmla="*/ 707011 h 4223209"/>
              <a:gd name="connsiteX5" fmla="*/ 735291 w 4449452"/>
              <a:gd name="connsiteY5" fmla="*/ 904973 h 4223209"/>
              <a:gd name="connsiteX6" fmla="*/ 509047 w 4449452"/>
              <a:gd name="connsiteY6" fmla="*/ 1074656 h 4223209"/>
              <a:gd name="connsiteX7" fmla="*/ 301658 w 4449452"/>
              <a:gd name="connsiteY7" fmla="*/ 1319753 h 4223209"/>
              <a:gd name="connsiteX8" fmla="*/ 94268 w 4449452"/>
              <a:gd name="connsiteY8" fmla="*/ 1611984 h 4223209"/>
              <a:gd name="connsiteX9" fmla="*/ 9427 w 4449452"/>
              <a:gd name="connsiteY9" fmla="*/ 1885361 h 4223209"/>
              <a:gd name="connsiteX10" fmla="*/ 0 w 4449452"/>
              <a:gd name="connsiteY10" fmla="*/ 2111604 h 4223209"/>
              <a:gd name="connsiteX11" fmla="*/ 9427 w 4449452"/>
              <a:gd name="connsiteY11" fmla="*/ 2328421 h 4223209"/>
              <a:gd name="connsiteX12" fmla="*/ 75414 w 4449452"/>
              <a:gd name="connsiteY12" fmla="*/ 2526384 h 4223209"/>
              <a:gd name="connsiteX13" fmla="*/ 216816 w 4449452"/>
              <a:gd name="connsiteY13" fmla="*/ 2809188 h 4223209"/>
              <a:gd name="connsiteX14" fmla="*/ 395926 w 4449452"/>
              <a:gd name="connsiteY14" fmla="*/ 3035431 h 4223209"/>
              <a:gd name="connsiteX15" fmla="*/ 622169 w 4449452"/>
              <a:gd name="connsiteY15" fmla="*/ 3242821 h 4223209"/>
              <a:gd name="connsiteX16" fmla="*/ 942680 w 4449452"/>
              <a:gd name="connsiteY16" fmla="*/ 3459637 h 4223209"/>
              <a:gd name="connsiteX17" fmla="*/ 1263192 w 4449452"/>
              <a:gd name="connsiteY17" fmla="*/ 3629320 h 4223209"/>
              <a:gd name="connsiteX18" fmla="*/ 1574276 w 4449452"/>
              <a:gd name="connsiteY18" fmla="*/ 3780149 h 4223209"/>
              <a:gd name="connsiteX19" fmla="*/ 1951348 w 4449452"/>
              <a:gd name="connsiteY19" fmla="*/ 3912124 h 4223209"/>
              <a:gd name="connsiteX20" fmla="*/ 2328421 w 4449452"/>
              <a:gd name="connsiteY20" fmla="*/ 4015819 h 4223209"/>
              <a:gd name="connsiteX21" fmla="*/ 2894029 w 4449452"/>
              <a:gd name="connsiteY21" fmla="*/ 4119514 h 4223209"/>
              <a:gd name="connsiteX22" fmla="*/ 3431357 w 4449452"/>
              <a:gd name="connsiteY22" fmla="*/ 4194928 h 4223209"/>
              <a:gd name="connsiteX23" fmla="*/ 3874416 w 4449452"/>
              <a:gd name="connsiteY23" fmla="*/ 4223209 h 4223209"/>
              <a:gd name="connsiteX24" fmla="*/ 4449452 w 4449452"/>
              <a:gd name="connsiteY24" fmla="*/ 4204355 h 4223209"/>
              <a:gd name="connsiteX25" fmla="*/ 4100660 w 4449452"/>
              <a:gd name="connsiteY25" fmla="*/ 0 h 422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49452" h="4223209">
                <a:moveTo>
                  <a:pt x="4100660" y="0"/>
                </a:moveTo>
                <a:lnTo>
                  <a:pt x="3063711" y="65988"/>
                </a:lnTo>
                <a:lnTo>
                  <a:pt x="2318994" y="216817"/>
                </a:lnTo>
                <a:lnTo>
                  <a:pt x="1536569" y="452487"/>
                </a:lnTo>
                <a:lnTo>
                  <a:pt x="1018095" y="707011"/>
                </a:lnTo>
                <a:lnTo>
                  <a:pt x="735291" y="904973"/>
                </a:lnTo>
                <a:lnTo>
                  <a:pt x="509047" y="1074656"/>
                </a:lnTo>
                <a:lnTo>
                  <a:pt x="301658" y="1319753"/>
                </a:lnTo>
                <a:lnTo>
                  <a:pt x="94268" y="1611984"/>
                </a:lnTo>
                <a:lnTo>
                  <a:pt x="9427" y="1885361"/>
                </a:lnTo>
                <a:lnTo>
                  <a:pt x="0" y="2111604"/>
                </a:lnTo>
                <a:lnTo>
                  <a:pt x="9427" y="2328421"/>
                </a:lnTo>
                <a:lnTo>
                  <a:pt x="75414" y="2526384"/>
                </a:lnTo>
                <a:lnTo>
                  <a:pt x="216816" y="2809188"/>
                </a:lnTo>
                <a:lnTo>
                  <a:pt x="395926" y="3035431"/>
                </a:lnTo>
                <a:lnTo>
                  <a:pt x="622169" y="3242821"/>
                </a:lnTo>
                <a:lnTo>
                  <a:pt x="942680" y="3459637"/>
                </a:lnTo>
                <a:lnTo>
                  <a:pt x="1263192" y="3629320"/>
                </a:lnTo>
                <a:lnTo>
                  <a:pt x="1574276" y="3780149"/>
                </a:lnTo>
                <a:lnTo>
                  <a:pt x="1951348" y="3912124"/>
                </a:lnTo>
                <a:lnTo>
                  <a:pt x="2328421" y="4015819"/>
                </a:lnTo>
                <a:lnTo>
                  <a:pt x="2894029" y="4119514"/>
                </a:lnTo>
                <a:lnTo>
                  <a:pt x="3431357" y="4194928"/>
                </a:lnTo>
                <a:lnTo>
                  <a:pt x="3874416" y="4223209"/>
                </a:lnTo>
                <a:lnTo>
                  <a:pt x="4449452" y="4204355"/>
                </a:lnTo>
                <a:lnTo>
                  <a:pt x="410066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5" name="Title 4">
            <a:extLst>
              <a:ext uri="{FF2B5EF4-FFF2-40B4-BE49-F238E27FC236}">
                <a16:creationId xmlns:a16="http://schemas.microsoft.com/office/drawing/2014/main" id="{8633D751-5EDE-B35A-E1B4-D3281FE61966}"/>
              </a:ext>
            </a:extLst>
          </p:cNvPr>
          <p:cNvSpPr>
            <a:spLocks noGrp="1"/>
          </p:cNvSpPr>
          <p:nvPr>
            <p:ph type="title"/>
          </p:nvPr>
        </p:nvSpPr>
        <p:spPr/>
        <p:txBody>
          <a:bodyPr/>
          <a:lstStyle/>
          <a:p>
            <a:r>
              <a:rPr lang="en-IT"/>
              <a:t>Church-Turing Thesis</a:t>
            </a:r>
          </a:p>
        </p:txBody>
      </p:sp>
      <p:sp>
        <p:nvSpPr>
          <p:cNvPr id="7" name="Oval 6">
            <a:extLst>
              <a:ext uri="{FF2B5EF4-FFF2-40B4-BE49-F238E27FC236}">
                <a16:creationId xmlns:a16="http://schemas.microsoft.com/office/drawing/2014/main" id="{7D8AE321-E373-FD30-F369-29B35B9373E7}"/>
              </a:ext>
            </a:extLst>
          </p:cNvPr>
          <p:cNvSpPr/>
          <p:nvPr/>
        </p:nvSpPr>
        <p:spPr>
          <a:xfrm>
            <a:off x="1819373" y="2502054"/>
            <a:ext cx="8226670" cy="4212239"/>
          </a:xfrm>
          <a:prstGeom prst="ellipse">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8" name="TextBox 7">
            <a:extLst>
              <a:ext uri="{FF2B5EF4-FFF2-40B4-BE49-F238E27FC236}">
                <a16:creationId xmlns:a16="http://schemas.microsoft.com/office/drawing/2014/main" id="{E0777FA4-F241-7893-CD00-C710D682115F}"/>
              </a:ext>
            </a:extLst>
          </p:cNvPr>
          <p:cNvSpPr txBox="1"/>
          <p:nvPr/>
        </p:nvSpPr>
        <p:spPr>
          <a:xfrm>
            <a:off x="5056602" y="1856189"/>
            <a:ext cx="1752211" cy="584775"/>
          </a:xfrm>
          <a:prstGeom prst="rect">
            <a:avLst/>
          </a:prstGeom>
          <a:noFill/>
        </p:spPr>
        <p:txBody>
          <a:bodyPr wrap="none" rtlCol="0">
            <a:spAutoFit/>
          </a:bodyPr>
          <a:lstStyle/>
          <a:p>
            <a:r>
              <a:rPr lang="en-IT" sz="3200">
                <a:solidFill>
                  <a:srgbClr val="0F406B"/>
                </a:solidFill>
              </a:rPr>
              <a:t>Problems</a:t>
            </a:r>
          </a:p>
        </p:txBody>
      </p:sp>
      <p:cxnSp>
        <p:nvCxnSpPr>
          <p:cNvPr id="11" name="Straight Connector 10">
            <a:extLst>
              <a:ext uri="{FF2B5EF4-FFF2-40B4-BE49-F238E27FC236}">
                <a16:creationId xmlns:a16="http://schemas.microsoft.com/office/drawing/2014/main" id="{88F5F5F8-EEEF-6211-2B18-68D1E70F160B}"/>
              </a:ext>
            </a:extLst>
          </p:cNvPr>
          <p:cNvCxnSpPr>
            <a:stCxn id="7" idx="0"/>
          </p:cNvCxnSpPr>
          <p:nvPr/>
        </p:nvCxnSpPr>
        <p:spPr>
          <a:xfrm>
            <a:off x="5932708" y="2502054"/>
            <a:ext cx="345544" cy="4212239"/>
          </a:xfrm>
          <a:prstGeom prst="line">
            <a:avLst/>
          </a:prstGeom>
          <a:ln w="57150">
            <a:no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65001F8-3017-E8AA-685C-513D5CCB6241}"/>
              </a:ext>
            </a:extLst>
          </p:cNvPr>
          <p:cNvSpPr txBox="1"/>
          <p:nvPr/>
        </p:nvSpPr>
        <p:spPr>
          <a:xfrm>
            <a:off x="3178093" y="4084711"/>
            <a:ext cx="2336587" cy="461665"/>
          </a:xfrm>
          <a:prstGeom prst="rect">
            <a:avLst/>
          </a:prstGeom>
          <a:noFill/>
        </p:spPr>
        <p:txBody>
          <a:bodyPr wrap="square" rtlCol="0">
            <a:spAutoFit/>
          </a:bodyPr>
          <a:lstStyle/>
          <a:p>
            <a:r>
              <a:rPr lang="en-IT" sz="2400">
                <a:solidFill>
                  <a:srgbClr val="FF0000"/>
                </a:solidFill>
              </a:rPr>
              <a:t>Non computable</a:t>
            </a:r>
          </a:p>
        </p:txBody>
      </p:sp>
      <p:sp>
        <p:nvSpPr>
          <p:cNvPr id="20" name="TextBox 19">
            <a:extLst>
              <a:ext uri="{FF2B5EF4-FFF2-40B4-BE49-F238E27FC236}">
                <a16:creationId xmlns:a16="http://schemas.microsoft.com/office/drawing/2014/main" id="{6027D694-6F89-9B69-DF52-370C30CD2E34}"/>
              </a:ext>
            </a:extLst>
          </p:cNvPr>
          <p:cNvSpPr txBox="1"/>
          <p:nvPr/>
        </p:nvSpPr>
        <p:spPr>
          <a:xfrm>
            <a:off x="7238746" y="2179586"/>
            <a:ext cx="2336587" cy="461665"/>
          </a:xfrm>
          <a:prstGeom prst="rect">
            <a:avLst/>
          </a:prstGeom>
          <a:noFill/>
        </p:spPr>
        <p:txBody>
          <a:bodyPr wrap="square" rtlCol="0">
            <a:spAutoFit/>
          </a:bodyPr>
          <a:lstStyle/>
          <a:p>
            <a:r>
              <a:rPr lang="en-IT" sz="2400">
                <a:solidFill>
                  <a:srgbClr val="FF0000"/>
                </a:solidFill>
              </a:rPr>
              <a:t>Computable</a:t>
            </a:r>
          </a:p>
        </p:txBody>
      </p:sp>
      <p:cxnSp>
        <p:nvCxnSpPr>
          <p:cNvPr id="22" name="Straight Connector 21">
            <a:extLst>
              <a:ext uri="{FF2B5EF4-FFF2-40B4-BE49-F238E27FC236}">
                <a16:creationId xmlns:a16="http://schemas.microsoft.com/office/drawing/2014/main" id="{D585C83B-8EFA-3CC9-29C1-773B5A86C8DC}"/>
              </a:ext>
            </a:extLst>
          </p:cNvPr>
          <p:cNvCxnSpPr/>
          <p:nvPr/>
        </p:nvCxnSpPr>
        <p:spPr>
          <a:xfrm>
            <a:off x="7673419" y="2671796"/>
            <a:ext cx="443059" cy="3719577"/>
          </a:xfrm>
          <a:prstGeom prst="line">
            <a:avLst/>
          </a:prstGeom>
          <a:ln w="57150">
            <a:no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9D21FA0-7E06-DE97-580B-856169EF687E}"/>
              </a:ext>
            </a:extLst>
          </p:cNvPr>
          <p:cNvSpPr txBox="1"/>
          <p:nvPr/>
        </p:nvSpPr>
        <p:spPr>
          <a:xfrm>
            <a:off x="6340945" y="3642384"/>
            <a:ext cx="1046056" cy="830997"/>
          </a:xfrm>
          <a:prstGeom prst="rect">
            <a:avLst/>
          </a:prstGeom>
          <a:noFill/>
        </p:spPr>
        <p:txBody>
          <a:bodyPr wrap="none" rtlCol="0">
            <a:spAutoFit/>
          </a:bodyPr>
          <a:lstStyle/>
          <a:p>
            <a:pPr algn="ctr"/>
            <a:r>
              <a:rPr lang="en-IT" sz="2400">
                <a:solidFill>
                  <a:srgbClr val="0B662E"/>
                </a:solidFill>
              </a:rPr>
              <a:t>“Hard”</a:t>
            </a:r>
          </a:p>
          <a:p>
            <a:pPr algn="ctr"/>
            <a:r>
              <a:rPr lang="en-IT" sz="2400">
                <a:solidFill>
                  <a:srgbClr val="0B662E"/>
                </a:solidFill>
              </a:rPr>
              <a:t>O(2</a:t>
            </a:r>
            <a:r>
              <a:rPr lang="en-IT" sz="2400" baseline="30000">
                <a:solidFill>
                  <a:srgbClr val="0B662E"/>
                </a:solidFill>
              </a:rPr>
              <a:t>N</a:t>
            </a:r>
            <a:r>
              <a:rPr lang="en-IT" sz="2400">
                <a:solidFill>
                  <a:srgbClr val="0B662E"/>
                </a:solidFill>
              </a:rPr>
              <a:t>)</a:t>
            </a:r>
          </a:p>
        </p:txBody>
      </p:sp>
      <p:sp>
        <p:nvSpPr>
          <p:cNvPr id="25" name="TextBox 24">
            <a:extLst>
              <a:ext uri="{FF2B5EF4-FFF2-40B4-BE49-F238E27FC236}">
                <a16:creationId xmlns:a16="http://schemas.microsoft.com/office/drawing/2014/main" id="{7738EBF0-9BB0-D868-09EA-967ACED370DD}"/>
              </a:ext>
            </a:extLst>
          </p:cNvPr>
          <p:cNvSpPr txBox="1"/>
          <p:nvPr/>
        </p:nvSpPr>
        <p:spPr>
          <a:xfrm>
            <a:off x="8378484" y="4015539"/>
            <a:ext cx="997581" cy="830997"/>
          </a:xfrm>
          <a:prstGeom prst="rect">
            <a:avLst/>
          </a:prstGeom>
          <a:noFill/>
        </p:spPr>
        <p:txBody>
          <a:bodyPr wrap="none" rtlCol="0">
            <a:spAutoFit/>
          </a:bodyPr>
          <a:lstStyle/>
          <a:p>
            <a:pPr algn="ctr"/>
            <a:r>
              <a:rPr lang="en-IT" sz="2400">
                <a:solidFill>
                  <a:srgbClr val="0B662E"/>
                </a:solidFill>
              </a:rPr>
              <a:t>“Easy”</a:t>
            </a:r>
          </a:p>
          <a:p>
            <a:pPr algn="ctr"/>
            <a:r>
              <a:rPr lang="en-IT" sz="2400">
                <a:solidFill>
                  <a:srgbClr val="0B662E"/>
                </a:solidFill>
              </a:rPr>
              <a:t>O(N</a:t>
            </a:r>
            <a:r>
              <a:rPr lang="en-IT" sz="2400" baseline="30000">
                <a:solidFill>
                  <a:srgbClr val="0B662E"/>
                </a:solidFill>
              </a:rPr>
              <a:t>k</a:t>
            </a:r>
            <a:r>
              <a:rPr lang="en-IT" sz="2400">
                <a:solidFill>
                  <a:srgbClr val="0B662E"/>
                </a:solidFill>
              </a:rPr>
              <a:t>)</a:t>
            </a:r>
          </a:p>
        </p:txBody>
      </p:sp>
    </p:spTree>
    <p:extLst>
      <p:ext uri="{BB962C8B-B14F-4D97-AF65-F5344CB8AC3E}">
        <p14:creationId xmlns:p14="http://schemas.microsoft.com/office/powerpoint/2010/main" val="354240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par>
                          <p:cTn id="9" fill="hold">
                            <p:stCondLst>
                              <p:cond delay="0"/>
                            </p:stCondLst>
                            <p:childTnLst>
                              <p:par>
                                <p:cTn id="10" presetID="1" presetClass="emph" presetSubtype="2" fill="hold" nodeType="afterEffect">
                                  <p:stCondLst>
                                    <p:cond delay="0"/>
                                  </p:stCondLst>
                                  <p:childTnLst>
                                    <p:animClr clrSpc="rgb" dir="cw">
                                      <p:cBhvr>
                                        <p:cTn id="11" dur="1000" fill="hold"/>
                                        <p:tgtEl>
                                          <p:spTgt spid="16"/>
                                        </p:tgtEl>
                                        <p:attrNameLst>
                                          <p:attrName>fillcolor</p:attrName>
                                        </p:attrNameLst>
                                      </p:cBhvr>
                                      <p:to>
                                        <a:srgbClr val="FFBF00"/>
                                      </p:to>
                                    </p:animClr>
                                    <p:set>
                                      <p:cBhvr>
                                        <p:cTn id="12" dur="1000" fill="hold"/>
                                        <p:tgtEl>
                                          <p:spTgt spid="16"/>
                                        </p:tgtEl>
                                        <p:attrNameLst>
                                          <p:attrName>fill.type</p:attrName>
                                        </p:attrNameLst>
                                      </p:cBhvr>
                                      <p:to>
                                        <p:strVal val="solid"/>
                                      </p:to>
                                    </p:set>
                                    <p:set>
                                      <p:cBhvr>
                                        <p:cTn id="13" dur="1000" fill="hold"/>
                                        <p:tgtEl>
                                          <p:spTgt spid="16"/>
                                        </p:tgtEl>
                                        <p:attrNameLst>
                                          <p:attrName>fill.on</p:attrName>
                                        </p:attrNameLst>
                                      </p:cBhvr>
                                      <p:to>
                                        <p:strVal val="true"/>
                                      </p:to>
                                    </p:se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childTnLst>
                                </p:cTn>
                              </p:par>
                              <p:par>
                                <p:cTn id="20" presetID="1" presetClass="entr" presetSubtype="0" fill="hold" grpId="1" nodeType="with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childTnLst>
                          </p:cTn>
                        </p:par>
                        <p:par>
                          <p:cTn id="28" fill="hold">
                            <p:stCondLst>
                              <p:cond delay="0"/>
                            </p:stCondLst>
                            <p:childTnLst>
                              <p:par>
                                <p:cTn id="29" presetID="1" presetClass="emph" presetSubtype="2" fill="hold" nodeType="afterEffect">
                                  <p:stCondLst>
                                    <p:cond delay="0"/>
                                  </p:stCondLst>
                                  <p:childTnLst>
                                    <p:animClr clrSpc="rgb" dir="cw">
                                      <p:cBhvr>
                                        <p:cTn id="30" dur="1000" fill="hold"/>
                                        <p:tgtEl>
                                          <p:spTgt spid="27"/>
                                        </p:tgtEl>
                                        <p:attrNameLst>
                                          <p:attrName>fillcolor</p:attrName>
                                        </p:attrNameLst>
                                      </p:cBhvr>
                                      <p:to>
                                        <a:srgbClr val="B6EF57"/>
                                      </p:to>
                                    </p:animClr>
                                    <p:set>
                                      <p:cBhvr>
                                        <p:cTn id="31" dur="1000" fill="hold"/>
                                        <p:tgtEl>
                                          <p:spTgt spid="27"/>
                                        </p:tgtEl>
                                        <p:attrNameLst>
                                          <p:attrName>fill.type</p:attrName>
                                        </p:attrNameLst>
                                      </p:cBhvr>
                                      <p:to>
                                        <p:strVal val="solid"/>
                                      </p:to>
                                    </p:set>
                                    <p:set>
                                      <p:cBhvr>
                                        <p:cTn id="32" dur="1000" fill="hold"/>
                                        <p:tgtEl>
                                          <p:spTgt spid="27"/>
                                        </p:tgtEl>
                                        <p:attrNameLst>
                                          <p:attrName>fill.on</p:attrName>
                                        </p:attrNameLst>
                                      </p:cBhvr>
                                      <p:to>
                                        <p:strVal val="true"/>
                                      </p:to>
                                    </p:set>
                                  </p:childTnLst>
                                </p:cTn>
                              </p:par>
                            </p:childTnLst>
                          </p:cTn>
                        </p:par>
                        <p:par>
                          <p:cTn id="33" fill="hold">
                            <p:stCondLst>
                              <p:cond delay="1000"/>
                            </p:stCondLst>
                            <p:childTnLst>
                              <p:par>
                                <p:cTn id="34" presetID="1" presetClass="entr" presetSubtype="0" fill="hold" grpId="0" nodeType="afterEffect">
                                  <p:stCondLst>
                                    <p:cond delay="0"/>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6" grpId="0" animBg="1"/>
      <p:bldP spid="19" grpId="0"/>
      <p:bldP spid="20" grpId="0"/>
      <p:bldP spid="20" grpId="1"/>
      <p:bldP spid="24" grpId="0"/>
      <p:bldP spid="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A01DF4E1-B545-EBA1-8B79-9E6FABFA0509}"/>
              </a:ext>
            </a:extLst>
          </p:cNvPr>
          <p:cNvSpPr/>
          <p:nvPr/>
        </p:nvSpPr>
        <p:spPr>
          <a:xfrm>
            <a:off x="7682845" y="2705493"/>
            <a:ext cx="2366128" cy="3676453"/>
          </a:xfrm>
          <a:custGeom>
            <a:avLst/>
            <a:gdLst>
              <a:gd name="connsiteX0" fmla="*/ 443060 w 2366128"/>
              <a:gd name="connsiteY0" fmla="*/ 3676453 h 3676453"/>
              <a:gd name="connsiteX1" fmla="*/ 1206631 w 2366128"/>
              <a:gd name="connsiteY1" fmla="*/ 3384222 h 3676453"/>
              <a:gd name="connsiteX2" fmla="*/ 1753386 w 2366128"/>
              <a:gd name="connsiteY2" fmla="*/ 3007150 h 3676453"/>
              <a:gd name="connsiteX3" fmla="*/ 2168165 w 2366128"/>
              <a:gd name="connsiteY3" fmla="*/ 2573517 h 3676453"/>
              <a:gd name="connsiteX4" fmla="*/ 2366128 w 2366128"/>
              <a:gd name="connsiteY4" fmla="*/ 2017336 h 3676453"/>
              <a:gd name="connsiteX5" fmla="*/ 2309567 w 2366128"/>
              <a:gd name="connsiteY5" fmla="*/ 1574276 h 3676453"/>
              <a:gd name="connsiteX6" fmla="*/ 2036190 w 2366128"/>
              <a:gd name="connsiteY6" fmla="*/ 1074655 h 3676453"/>
              <a:gd name="connsiteX7" fmla="*/ 1602557 w 2366128"/>
              <a:gd name="connsiteY7" fmla="*/ 659876 h 3676453"/>
              <a:gd name="connsiteX8" fmla="*/ 1187778 w 2366128"/>
              <a:gd name="connsiteY8" fmla="*/ 433633 h 3676453"/>
              <a:gd name="connsiteX9" fmla="*/ 725864 w 2366128"/>
              <a:gd name="connsiteY9" fmla="*/ 216816 h 3676453"/>
              <a:gd name="connsiteX10" fmla="*/ 0 w 2366128"/>
              <a:gd name="connsiteY10" fmla="*/ 0 h 3676453"/>
              <a:gd name="connsiteX11" fmla="*/ 443060 w 2366128"/>
              <a:gd name="connsiteY11" fmla="*/ 3676453 h 3676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66128" h="3676453">
                <a:moveTo>
                  <a:pt x="443060" y="3676453"/>
                </a:moveTo>
                <a:lnTo>
                  <a:pt x="1206631" y="3384222"/>
                </a:lnTo>
                <a:lnTo>
                  <a:pt x="1753386" y="3007150"/>
                </a:lnTo>
                <a:lnTo>
                  <a:pt x="2168165" y="2573517"/>
                </a:lnTo>
                <a:lnTo>
                  <a:pt x="2366128" y="2017336"/>
                </a:lnTo>
                <a:lnTo>
                  <a:pt x="2309567" y="1574276"/>
                </a:lnTo>
                <a:lnTo>
                  <a:pt x="2036190" y="1074655"/>
                </a:lnTo>
                <a:lnTo>
                  <a:pt x="1602557" y="659876"/>
                </a:lnTo>
                <a:lnTo>
                  <a:pt x="1187778" y="433633"/>
                </a:lnTo>
                <a:lnTo>
                  <a:pt x="725864" y="216816"/>
                </a:lnTo>
                <a:lnTo>
                  <a:pt x="0" y="0"/>
                </a:lnTo>
                <a:lnTo>
                  <a:pt x="443060" y="3676453"/>
                </a:lnTo>
                <a:close/>
              </a:path>
            </a:pathLst>
          </a:custGeom>
          <a:solidFill>
            <a:srgbClr val="B6EF57"/>
          </a:solidFill>
          <a:ln>
            <a:solidFill>
              <a:srgbClr val="B6EF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6" name="Freeform 15">
            <a:extLst>
              <a:ext uri="{FF2B5EF4-FFF2-40B4-BE49-F238E27FC236}">
                <a16:creationId xmlns:a16="http://schemas.microsoft.com/office/drawing/2014/main" id="{E93BD780-D4D0-CE9D-67B2-D72143C257D1}"/>
              </a:ext>
            </a:extLst>
          </p:cNvPr>
          <p:cNvSpPr/>
          <p:nvPr/>
        </p:nvSpPr>
        <p:spPr>
          <a:xfrm>
            <a:off x="1828800" y="2498105"/>
            <a:ext cx="4449452" cy="4223209"/>
          </a:xfrm>
          <a:custGeom>
            <a:avLst/>
            <a:gdLst>
              <a:gd name="connsiteX0" fmla="*/ 4100660 w 4449452"/>
              <a:gd name="connsiteY0" fmla="*/ 0 h 4223209"/>
              <a:gd name="connsiteX1" fmla="*/ 3063711 w 4449452"/>
              <a:gd name="connsiteY1" fmla="*/ 65988 h 4223209"/>
              <a:gd name="connsiteX2" fmla="*/ 2318994 w 4449452"/>
              <a:gd name="connsiteY2" fmla="*/ 216817 h 4223209"/>
              <a:gd name="connsiteX3" fmla="*/ 1536569 w 4449452"/>
              <a:gd name="connsiteY3" fmla="*/ 452487 h 4223209"/>
              <a:gd name="connsiteX4" fmla="*/ 1018095 w 4449452"/>
              <a:gd name="connsiteY4" fmla="*/ 707011 h 4223209"/>
              <a:gd name="connsiteX5" fmla="*/ 735291 w 4449452"/>
              <a:gd name="connsiteY5" fmla="*/ 904973 h 4223209"/>
              <a:gd name="connsiteX6" fmla="*/ 509047 w 4449452"/>
              <a:gd name="connsiteY6" fmla="*/ 1074656 h 4223209"/>
              <a:gd name="connsiteX7" fmla="*/ 301658 w 4449452"/>
              <a:gd name="connsiteY7" fmla="*/ 1319753 h 4223209"/>
              <a:gd name="connsiteX8" fmla="*/ 94268 w 4449452"/>
              <a:gd name="connsiteY8" fmla="*/ 1611984 h 4223209"/>
              <a:gd name="connsiteX9" fmla="*/ 9427 w 4449452"/>
              <a:gd name="connsiteY9" fmla="*/ 1885361 h 4223209"/>
              <a:gd name="connsiteX10" fmla="*/ 0 w 4449452"/>
              <a:gd name="connsiteY10" fmla="*/ 2111604 h 4223209"/>
              <a:gd name="connsiteX11" fmla="*/ 9427 w 4449452"/>
              <a:gd name="connsiteY11" fmla="*/ 2328421 h 4223209"/>
              <a:gd name="connsiteX12" fmla="*/ 75414 w 4449452"/>
              <a:gd name="connsiteY12" fmla="*/ 2526384 h 4223209"/>
              <a:gd name="connsiteX13" fmla="*/ 216816 w 4449452"/>
              <a:gd name="connsiteY13" fmla="*/ 2809188 h 4223209"/>
              <a:gd name="connsiteX14" fmla="*/ 395926 w 4449452"/>
              <a:gd name="connsiteY14" fmla="*/ 3035431 h 4223209"/>
              <a:gd name="connsiteX15" fmla="*/ 622169 w 4449452"/>
              <a:gd name="connsiteY15" fmla="*/ 3242821 h 4223209"/>
              <a:gd name="connsiteX16" fmla="*/ 942680 w 4449452"/>
              <a:gd name="connsiteY16" fmla="*/ 3459637 h 4223209"/>
              <a:gd name="connsiteX17" fmla="*/ 1263192 w 4449452"/>
              <a:gd name="connsiteY17" fmla="*/ 3629320 h 4223209"/>
              <a:gd name="connsiteX18" fmla="*/ 1574276 w 4449452"/>
              <a:gd name="connsiteY18" fmla="*/ 3780149 h 4223209"/>
              <a:gd name="connsiteX19" fmla="*/ 1951348 w 4449452"/>
              <a:gd name="connsiteY19" fmla="*/ 3912124 h 4223209"/>
              <a:gd name="connsiteX20" fmla="*/ 2328421 w 4449452"/>
              <a:gd name="connsiteY20" fmla="*/ 4015819 h 4223209"/>
              <a:gd name="connsiteX21" fmla="*/ 2894029 w 4449452"/>
              <a:gd name="connsiteY21" fmla="*/ 4119514 h 4223209"/>
              <a:gd name="connsiteX22" fmla="*/ 3431357 w 4449452"/>
              <a:gd name="connsiteY22" fmla="*/ 4194928 h 4223209"/>
              <a:gd name="connsiteX23" fmla="*/ 3874416 w 4449452"/>
              <a:gd name="connsiteY23" fmla="*/ 4223209 h 4223209"/>
              <a:gd name="connsiteX24" fmla="*/ 4449452 w 4449452"/>
              <a:gd name="connsiteY24" fmla="*/ 4204355 h 4223209"/>
              <a:gd name="connsiteX25" fmla="*/ 4100660 w 4449452"/>
              <a:gd name="connsiteY25" fmla="*/ 0 h 422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49452" h="4223209">
                <a:moveTo>
                  <a:pt x="4100660" y="0"/>
                </a:moveTo>
                <a:lnTo>
                  <a:pt x="3063711" y="65988"/>
                </a:lnTo>
                <a:lnTo>
                  <a:pt x="2318994" y="216817"/>
                </a:lnTo>
                <a:lnTo>
                  <a:pt x="1536569" y="452487"/>
                </a:lnTo>
                <a:lnTo>
                  <a:pt x="1018095" y="707011"/>
                </a:lnTo>
                <a:lnTo>
                  <a:pt x="735291" y="904973"/>
                </a:lnTo>
                <a:lnTo>
                  <a:pt x="509047" y="1074656"/>
                </a:lnTo>
                <a:lnTo>
                  <a:pt x="301658" y="1319753"/>
                </a:lnTo>
                <a:lnTo>
                  <a:pt x="94268" y="1611984"/>
                </a:lnTo>
                <a:lnTo>
                  <a:pt x="9427" y="1885361"/>
                </a:lnTo>
                <a:lnTo>
                  <a:pt x="0" y="2111604"/>
                </a:lnTo>
                <a:lnTo>
                  <a:pt x="9427" y="2328421"/>
                </a:lnTo>
                <a:lnTo>
                  <a:pt x="75414" y="2526384"/>
                </a:lnTo>
                <a:lnTo>
                  <a:pt x="216816" y="2809188"/>
                </a:lnTo>
                <a:lnTo>
                  <a:pt x="395926" y="3035431"/>
                </a:lnTo>
                <a:lnTo>
                  <a:pt x="622169" y="3242821"/>
                </a:lnTo>
                <a:lnTo>
                  <a:pt x="942680" y="3459637"/>
                </a:lnTo>
                <a:lnTo>
                  <a:pt x="1263192" y="3629320"/>
                </a:lnTo>
                <a:lnTo>
                  <a:pt x="1574276" y="3780149"/>
                </a:lnTo>
                <a:lnTo>
                  <a:pt x="1951348" y="3912124"/>
                </a:lnTo>
                <a:lnTo>
                  <a:pt x="2328421" y="4015819"/>
                </a:lnTo>
                <a:lnTo>
                  <a:pt x="2894029" y="4119514"/>
                </a:lnTo>
                <a:lnTo>
                  <a:pt x="3431357" y="4194928"/>
                </a:lnTo>
                <a:lnTo>
                  <a:pt x="3874416" y="4223209"/>
                </a:lnTo>
                <a:lnTo>
                  <a:pt x="4449452" y="4204355"/>
                </a:lnTo>
                <a:lnTo>
                  <a:pt x="4100660" y="0"/>
                </a:lnTo>
                <a:close/>
              </a:path>
            </a:pathLst>
          </a:custGeom>
          <a:solidFill>
            <a:srgbClr val="FFB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5" name="Title 4">
            <a:extLst>
              <a:ext uri="{FF2B5EF4-FFF2-40B4-BE49-F238E27FC236}">
                <a16:creationId xmlns:a16="http://schemas.microsoft.com/office/drawing/2014/main" id="{8633D751-5EDE-B35A-E1B4-D3281FE61966}"/>
              </a:ext>
            </a:extLst>
          </p:cNvPr>
          <p:cNvSpPr>
            <a:spLocks noGrp="1"/>
          </p:cNvSpPr>
          <p:nvPr>
            <p:ph type="title"/>
          </p:nvPr>
        </p:nvSpPr>
        <p:spPr/>
        <p:txBody>
          <a:bodyPr/>
          <a:lstStyle/>
          <a:p>
            <a:r>
              <a:rPr lang="en-IT"/>
              <a:t>Church-Turing Thesis</a:t>
            </a:r>
          </a:p>
        </p:txBody>
      </p:sp>
      <p:sp>
        <p:nvSpPr>
          <p:cNvPr id="7" name="Oval 6">
            <a:extLst>
              <a:ext uri="{FF2B5EF4-FFF2-40B4-BE49-F238E27FC236}">
                <a16:creationId xmlns:a16="http://schemas.microsoft.com/office/drawing/2014/main" id="{7D8AE321-E373-FD30-F369-29B35B9373E7}"/>
              </a:ext>
            </a:extLst>
          </p:cNvPr>
          <p:cNvSpPr/>
          <p:nvPr/>
        </p:nvSpPr>
        <p:spPr>
          <a:xfrm>
            <a:off x="1819373" y="2502054"/>
            <a:ext cx="8226670" cy="4212239"/>
          </a:xfrm>
          <a:prstGeom prst="ellipse">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8" name="TextBox 7">
            <a:extLst>
              <a:ext uri="{FF2B5EF4-FFF2-40B4-BE49-F238E27FC236}">
                <a16:creationId xmlns:a16="http://schemas.microsoft.com/office/drawing/2014/main" id="{E0777FA4-F241-7893-CD00-C710D682115F}"/>
              </a:ext>
            </a:extLst>
          </p:cNvPr>
          <p:cNvSpPr txBox="1"/>
          <p:nvPr/>
        </p:nvSpPr>
        <p:spPr>
          <a:xfrm>
            <a:off x="5056602" y="1856189"/>
            <a:ext cx="1752211" cy="584775"/>
          </a:xfrm>
          <a:prstGeom prst="rect">
            <a:avLst/>
          </a:prstGeom>
          <a:noFill/>
        </p:spPr>
        <p:txBody>
          <a:bodyPr wrap="none" rtlCol="0">
            <a:spAutoFit/>
          </a:bodyPr>
          <a:lstStyle/>
          <a:p>
            <a:r>
              <a:rPr lang="en-IT" sz="3200">
                <a:solidFill>
                  <a:srgbClr val="0F406B"/>
                </a:solidFill>
              </a:rPr>
              <a:t>Problems</a:t>
            </a:r>
          </a:p>
        </p:txBody>
      </p:sp>
      <p:cxnSp>
        <p:nvCxnSpPr>
          <p:cNvPr id="11" name="Straight Connector 10">
            <a:extLst>
              <a:ext uri="{FF2B5EF4-FFF2-40B4-BE49-F238E27FC236}">
                <a16:creationId xmlns:a16="http://schemas.microsoft.com/office/drawing/2014/main" id="{88F5F5F8-EEEF-6211-2B18-68D1E70F160B}"/>
              </a:ext>
            </a:extLst>
          </p:cNvPr>
          <p:cNvCxnSpPr>
            <a:stCxn id="7" idx="0"/>
          </p:cNvCxnSpPr>
          <p:nvPr/>
        </p:nvCxnSpPr>
        <p:spPr>
          <a:xfrm>
            <a:off x="5932708" y="2502054"/>
            <a:ext cx="345544" cy="4212239"/>
          </a:xfrm>
          <a:prstGeom prst="line">
            <a:avLst/>
          </a:prstGeom>
          <a:ln w="57150">
            <a:no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65001F8-3017-E8AA-685C-513D5CCB6241}"/>
              </a:ext>
            </a:extLst>
          </p:cNvPr>
          <p:cNvSpPr txBox="1"/>
          <p:nvPr/>
        </p:nvSpPr>
        <p:spPr>
          <a:xfrm>
            <a:off x="3178093" y="4084711"/>
            <a:ext cx="2336587" cy="461665"/>
          </a:xfrm>
          <a:prstGeom prst="rect">
            <a:avLst/>
          </a:prstGeom>
          <a:noFill/>
        </p:spPr>
        <p:txBody>
          <a:bodyPr wrap="square" rtlCol="0">
            <a:spAutoFit/>
          </a:bodyPr>
          <a:lstStyle/>
          <a:p>
            <a:r>
              <a:rPr lang="en-IT" sz="2400">
                <a:solidFill>
                  <a:srgbClr val="FF0000"/>
                </a:solidFill>
              </a:rPr>
              <a:t>Non computable</a:t>
            </a:r>
          </a:p>
        </p:txBody>
      </p:sp>
      <p:sp>
        <p:nvSpPr>
          <p:cNvPr id="20" name="TextBox 19">
            <a:extLst>
              <a:ext uri="{FF2B5EF4-FFF2-40B4-BE49-F238E27FC236}">
                <a16:creationId xmlns:a16="http://schemas.microsoft.com/office/drawing/2014/main" id="{6027D694-6F89-9B69-DF52-370C30CD2E34}"/>
              </a:ext>
            </a:extLst>
          </p:cNvPr>
          <p:cNvSpPr txBox="1"/>
          <p:nvPr/>
        </p:nvSpPr>
        <p:spPr>
          <a:xfrm>
            <a:off x="7238746" y="2179586"/>
            <a:ext cx="2336587" cy="461665"/>
          </a:xfrm>
          <a:prstGeom prst="rect">
            <a:avLst/>
          </a:prstGeom>
          <a:noFill/>
        </p:spPr>
        <p:txBody>
          <a:bodyPr wrap="square" rtlCol="0">
            <a:spAutoFit/>
          </a:bodyPr>
          <a:lstStyle/>
          <a:p>
            <a:r>
              <a:rPr lang="en-IT" sz="2400">
                <a:solidFill>
                  <a:srgbClr val="FF0000"/>
                </a:solidFill>
              </a:rPr>
              <a:t>Computable</a:t>
            </a:r>
          </a:p>
        </p:txBody>
      </p:sp>
      <p:sp>
        <p:nvSpPr>
          <p:cNvPr id="24" name="TextBox 23">
            <a:extLst>
              <a:ext uri="{FF2B5EF4-FFF2-40B4-BE49-F238E27FC236}">
                <a16:creationId xmlns:a16="http://schemas.microsoft.com/office/drawing/2014/main" id="{89D21FA0-7E06-DE97-580B-856169EF687E}"/>
              </a:ext>
            </a:extLst>
          </p:cNvPr>
          <p:cNvSpPr txBox="1"/>
          <p:nvPr/>
        </p:nvSpPr>
        <p:spPr>
          <a:xfrm>
            <a:off x="6340945" y="3642384"/>
            <a:ext cx="1046056" cy="830997"/>
          </a:xfrm>
          <a:prstGeom prst="rect">
            <a:avLst/>
          </a:prstGeom>
          <a:noFill/>
        </p:spPr>
        <p:txBody>
          <a:bodyPr wrap="none" rtlCol="0">
            <a:spAutoFit/>
          </a:bodyPr>
          <a:lstStyle/>
          <a:p>
            <a:pPr algn="ctr"/>
            <a:r>
              <a:rPr lang="en-IT" sz="2400">
                <a:solidFill>
                  <a:srgbClr val="0B662E"/>
                </a:solidFill>
              </a:rPr>
              <a:t>“Hard”</a:t>
            </a:r>
          </a:p>
          <a:p>
            <a:pPr algn="ctr"/>
            <a:r>
              <a:rPr lang="en-IT" sz="2400">
                <a:solidFill>
                  <a:srgbClr val="0B662E"/>
                </a:solidFill>
              </a:rPr>
              <a:t>O(2</a:t>
            </a:r>
            <a:r>
              <a:rPr lang="en-IT" sz="2400" baseline="30000">
                <a:solidFill>
                  <a:srgbClr val="0B662E"/>
                </a:solidFill>
              </a:rPr>
              <a:t>N</a:t>
            </a:r>
            <a:r>
              <a:rPr lang="en-IT" sz="2400">
                <a:solidFill>
                  <a:srgbClr val="0B662E"/>
                </a:solidFill>
              </a:rPr>
              <a:t>)</a:t>
            </a:r>
          </a:p>
        </p:txBody>
      </p:sp>
      <p:sp>
        <p:nvSpPr>
          <p:cNvPr id="25" name="TextBox 24">
            <a:extLst>
              <a:ext uri="{FF2B5EF4-FFF2-40B4-BE49-F238E27FC236}">
                <a16:creationId xmlns:a16="http://schemas.microsoft.com/office/drawing/2014/main" id="{7738EBF0-9BB0-D868-09EA-967ACED370DD}"/>
              </a:ext>
            </a:extLst>
          </p:cNvPr>
          <p:cNvSpPr txBox="1"/>
          <p:nvPr/>
        </p:nvSpPr>
        <p:spPr>
          <a:xfrm>
            <a:off x="8378484" y="4015539"/>
            <a:ext cx="997581" cy="830997"/>
          </a:xfrm>
          <a:prstGeom prst="rect">
            <a:avLst/>
          </a:prstGeom>
          <a:noFill/>
        </p:spPr>
        <p:txBody>
          <a:bodyPr wrap="none" rtlCol="0">
            <a:spAutoFit/>
          </a:bodyPr>
          <a:lstStyle/>
          <a:p>
            <a:pPr algn="ctr"/>
            <a:r>
              <a:rPr lang="en-IT" sz="2400">
                <a:solidFill>
                  <a:srgbClr val="0B662E"/>
                </a:solidFill>
              </a:rPr>
              <a:t>“Easy”</a:t>
            </a:r>
          </a:p>
          <a:p>
            <a:pPr algn="ctr"/>
            <a:r>
              <a:rPr lang="en-IT" sz="2400">
                <a:solidFill>
                  <a:srgbClr val="0B662E"/>
                </a:solidFill>
              </a:rPr>
              <a:t>O(N</a:t>
            </a:r>
            <a:r>
              <a:rPr lang="en-IT" sz="2400" baseline="30000">
                <a:solidFill>
                  <a:srgbClr val="0B662E"/>
                </a:solidFill>
              </a:rPr>
              <a:t>k</a:t>
            </a:r>
            <a:r>
              <a:rPr lang="en-IT" sz="2400">
                <a:solidFill>
                  <a:srgbClr val="0B662E"/>
                </a:solidFill>
              </a:rPr>
              <a:t>)</a:t>
            </a:r>
          </a:p>
        </p:txBody>
      </p:sp>
    </p:spTree>
    <p:extLst>
      <p:ext uri="{BB962C8B-B14F-4D97-AF65-F5344CB8AC3E}">
        <p14:creationId xmlns:p14="http://schemas.microsoft.com/office/powerpoint/2010/main" val="3178501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A01DF4E1-B545-EBA1-8B79-9E6FABFA0509}"/>
              </a:ext>
            </a:extLst>
          </p:cNvPr>
          <p:cNvSpPr/>
          <p:nvPr/>
        </p:nvSpPr>
        <p:spPr>
          <a:xfrm>
            <a:off x="7682845" y="2705493"/>
            <a:ext cx="2366128" cy="3676453"/>
          </a:xfrm>
          <a:custGeom>
            <a:avLst/>
            <a:gdLst>
              <a:gd name="connsiteX0" fmla="*/ 443060 w 2366128"/>
              <a:gd name="connsiteY0" fmla="*/ 3676453 h 3676453"/>
              <a:gd name="connsiteX1" fmla="*/ 1206631 w 2366128"/>
              <a:gd name="connsiteY1" fmla="*/ 3384222 h 3676453"/>
              <a:gd name="connsiteX2" fmla="*/ 1753386 w 2366128"/>
              <a:gd name="connsiteY2" fmla="*/ 3007150 h 3676453"/>
              <a:gd name="connsiteX3" fmla="*/ 2168165 w 2366128"/>
              <a:gd name="connsiteY3" fmla="*/ 2573517 h 3676453"/>
              <a:gd name="connsiteX4" fmla="*/ 2366128 w 2366128"/>
              <a:gd name="connsiteY4" fmla="*/ 2017336 h 3676453"/>
              <a:gd name="connsiteX5" fmla="*/ 2309567 w 2366128"/>
              <a:gd name="connsiteY5" fmla="*/ 1574276 h 3676453"/>
              <a:gd name="connsiteX6" fmla="*/ 2036190 w 2366128"/>
              <a:gd name="connsiteY6" fmla="*/ 1074655 h 3676453"/>
              <a:gd name="connsiteX7" fmla="*/ 1602557 w 2366128"/>
              <a:gd name="connsiteY7" fmla="*/ 659876 h 3676453"/>
              <a:gd name="connsiteX8" fmla="*/ 1187778 w 2366128"/>
              <a:gd name="connsiteY8" fmla="*/ 433633 h 3676453"/>
              <a:gd name="connsiteX9" fmla="*/ 725864 w 2366128"/>
              <a:gd name="connsiteY9" fmla="*/ 216816 h 3676453"/>
              <a:gd name="connsiteX10" fmla="*/ 0 w 2366128"/>
              <a:gd name="connsiteY10" fmla="*/ 0 h 3676453"/>
              <a:gd name="connsiteX11" fmla="*/ 443060 w 2366128"/>
              <a:gd name="connsiteY11" fmla="*/ 3676453 h 3676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66128" h="3676453">
                <a:moveTo>
                  <a:pt x="443060" y="3676453"/>
                </a:moveTo>
                <a:lnTo>
                  <a:pt x="1206631" y="3384222"/>
                </a:lnTo>
                <a:lnTo>
                  <a:pt x="1753386" y="3007150"/>
                </a:lnTo>
                <a:lnTo>
                  <a:pt x="2168165" y="2573517"/>
                </a:lnTo>
                <a:lnTo>
                  <a:pt x="2366128" y="2017336"/>
                </a:lnTo>
                <a:lnTo>
                  <a:pt x="2309567" y="1574276"/>
                </a:lnTo>
                <a:lnTo>
                  <a:pt x="2036190" y="1074655"/>
                </a:lnTo>
                <a:lnTo>
                  <a:pt x="1602557" y="659876"/>
                </a:lnTo>
                <a:lnTo>
                  <a:pt x="1187778" y="433633"/>
                </a:lnTo>
                <a:lnTo>
                  <a:pt x="725864" y="216816"/>
                </a:lnTo>
                <a:lnTo>
                  <a:pt x="0" y="0"/>
                </a:lnTo>
                <a:lnTo>
                  <a:pt x="443060" y="3676453"/>
                </a:lnTo>
                <a:close/>
              </a:path>
            </a:pathLst>
          </a:custGeom>
          <a:solidFill>
            <a:srgbClr val="B6EF57"/>
          </a:solidFill>
          <a:ln>
            <a:solidFill>
              <a:srgbClr val="B6EF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6" name="Freeform 15">
            <a:extLst>
              <a:ext uri="{FF2B5EF4-FFF2-40B4-BE49-F238E27FC236}">
                <a16:creationId xmlns:a16="http://schemas.microsoft.com/office/drawing/2014/main" id="{E93BD780-D4D0-CE9D-67B2-D72143C257D1}"/>
              </a:ext>
            </a:extLst>
          </p:cNvPr>
          <p:cNvSpPr/>
          <p:nvPr/>
        </p:nvSpPr>
        <p:spPr>
          <a:xfrm>
            <a:off x="1828800" y="2498105"/>
            <a:ext cx="4449452" cy="4223209"/>
          </a:xfrm>
          <a:custGeom>
            <a:avLst/>
            <a:gdLst>
              <a:gd name="connsiteX0" fmla="*/ 4100660 w 4449452"/>
              <a:gd name="connsiteY0" fmla="*/ 0 h 4223209"/>
              <a:gd name="connsiteX1" fmla="*/ 3063711 w 4449452"/>
              <a:gd name="connsiteY1" fmla="*/ 65988 h 4223209"/>
              <a:gd name="connsiteX2" fmla="*/ 2318994 w 4449452"/>
              <a:gd name="connsiteY2" fmla="*/ 216817 h 4223209"/>
              <a:gd name="connsiteX3" fmla="*/ 1536569 w 4449452"/>
              <a:gd name="connsiteY3" fmla="*/ 452487 h 4223209"/>
              <a:gd name="connsiteX4" fmla="*/ 1018095 w 4449452"/>
              <a:gd name="connsiteY4" fmla="*/ 707011 h 4223209"/>
              <a:gd name="connsiteX5" fmla="*/ 735291 w 4449452"/>
              <a:gd name="connsiteY5" fmla="*/ 904973 h 4223209"/>
              <a:gd name="connsiteX6" fmla="*/ 509047 w 4449452"/>
              <a:gd name="connsiteY6" fmla="*/ 1074656 h 4223209"/>
              <a:gd name="connsiteX7" fmla="*/ 301658 w 4449452"/>
              <a:gd name="connsiteY7" fmla="*/ 1319753 h 4223209"/>
              <a:gd name="connsiteX8" fmla="*/ 94268 w 4449452"/>
              <a:gd name="connsiteY8" fmla="*/ 1611984 h 4223209"/>
              <a:gd name="connsiteX9" fmla="*/ 9427 w 4449452"/>
              <a:gd name="connsiteY9" fmla="*/ 1885361 h 4223209"/>
              <a:gd name="connsiteX10" fmla="*/ 0 w 4449452"/>
              <a:gd name="connsiteY10" fmla="*/ 2111604 h 4223209"/>
              <a:gd name="connsiteX11" fmla="*/ 9427 w 4449452"/>
              <a:gd name="connsiteY11" fmla="*/ 2328421 h 4223209"/>
              <a:gd name="connsiteX12" fmla="*/ 75414 w 4449452"/>
              <a:gd name="connsiteY12" fmla="*/ 2526384 h 4223209"/>
              <a:gd name="connsiteX13" fmla="*/ 216816 w 4449452"/>
              <a:gd name="connsiteY13" fmla="*/ 2809188 h 4223209"/>
              <a:gd name="connsiteX14" fmla="*/ 395926 w 4449452"/>
              <a:gd name="connsiteY14" fmla="*/ 3035431 h 4223209"/>
              <a:gd name="connsiteX15" fmla="*/ 622169 w 4449452"/>
              <a:gd name="connsiteY15" fmla="*/ 3242821 h 4223209"/>
              <a:gd name="connsiteX16" fmla="*/ 942680 w 4449452"/>
              <a:gd name="connsiteY16" fmla="*/ 3459637 h 4223209"/>
              <a:gd name="connsiteX17" fmla="*/ 1263192 w 4449452"/>
              <a:gd name="connsiteY17" fmla="*/ 3629320 h 4223209"/>
              <a:gd name="connsiteX18" fmla="*/ 1574276 w 4449452"/>
              <a:gd name="connsiteY18" fmla="*/ 3780149 h 4223209"/>
              <a:gd name="connsiteX19" fmla="*/ 1951348 w 4449452"/>
              <a:gd name="connsiteY19" fmla="*/ 3912124 h 4223209"/>
              <a:gd name="connsiteX20" fmla="*/ 2328421 w 4449452"/>
              <a:gd name="connsiteY20" fmla="*/ 4015819 h 4223209"/>
              <a:gd name="connsiteX21" fmla="*/ 2894029 w 4449452"/>
              <a:gd name="connsiteY21" fmla="*/ 4119514 h 4223209"/>
              <a:gd name="connsiteX22" fmla="*/ 3431357 w 4449452"/>
              <a:gd name="connsiteY22" fmla="*/ 4194928 h 4223209"/>
              <a:gd name="connsiteX23" fmla="*/ 3874416 w 4449452"/>
              <a:gd name="connsiteY23" fmla="*/ 4223209 h 4223209"/>
              <a:gd name="connsiteX24" fmla="*/ 4449452 w 4449452"/>
              <a:gd name="connsiteY24" fmla="*/ 4204355 h 4223209"/>
              <a:gd name="connsiteX25" fmla="*/ 4100660 w 4449452"/>
              <a:gd name="connsiteY25" fmla="*/ 0 h 422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49452" h="4223209">
                <a:moveTo>
                  <a:pt x="4100660" y="0"/>
                </a:moveTo>
                <a:lnTo>
                  <a:pt x="3063711" y="65988"/>
                </a:lnTo>
                <a:lnTo>
                  <a:pt x="2318994" y="216817"/>
                </a:lnTo>
                <a:lnTo>
                  <a:pt x="1536569" y="452487"/>
                </a:lnTo>
                <a:lnTo>
                  <a:pt x="1018095" y="707011"/>
                </a:lnTo>
                <a:lnTo>
                  <a:pt x="735291" y="904973"/>
                </a:lnTo>
                <a:lnTo>
                  <a:pt x="509047" y="1074656"/>
                </a:lnTo>
                <a:lnTo>
                  <a:pt x="301658" y="1319753"/>
                </a:lnTo>
                <a:lnTo>
                  <a:pt x="94268" y="1611984"/>
                </a:lnTo>
                <a:lnTo>
                  <a:pt x="9427" y="1885361"/>
                </a:lnTo>
                <a:lnTo>
                  <a:pt x="0" y="2111604"/>
                </a:lnTo>
                <a:lnTo>
                  <a:pt x="9427" y="2328421"/>
                </a:lnTo>
                <a:lnTo>
                  <a:pt x="75414" y="2526384"/>
                </a:lnTo>
                <a:lnTo>
                  <a:pt x="216816" y="2809188"/>
                </a:lnTo>
                <a:lnTo>
                  <a:pt x="395926" y="3035431"/>
                </a:lnTo>
                <a:lnTo>
                  <a:pt x="622169" y="3242821"/>
                </a:lnTo>
                <a:lnTo>
                  <a:pt x="942680" y="3459637"/>
                </a:lnTo>
                <a:lnTo>
                  <a:pt x="1263192" y="3629320"/>
                </a:lnTo>
                <a:lnTo>
                  <a:pt x="1574276" y="3780149"/>
                </a:lnTo>
                <a:lnTo>
                  <a:pt x="1951348" y="3912124"/>
                </a:lnTo>
                <a:lnTo>
                  <a:pt x="2328421" y="4015819"/>
                </a:lnTo>
                <a:lnTo>
                  <a:pt x="2894029" y="4119514"/>
                </a:lnTo>
                <a:lnTo>
                  <a:pt x="3431357" y="4194928"/>
                </a:lnTo>
                <a:lnTo>
                  <a:pt x="3874416" y="4223209"/>
                </a:lnTo>
                <a:lnTo>
                  <a:pt x="4449452" y="4204355"/>
                </a:lnTo>
                <a:lnTo>
                  <a:pt x="4100660" y="0"/>
                </a:lnTo>
                <a:close/>
              </a:path>
            </a:pathLst>
          </a:custGeom>
          <a:solidFill>
            <a:srgbClr val="FFB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5" name="Title 4">
            <a:extLst>
              <a:ext uri="{FF2B5EF4-FFF2-40B4-BE49-F238E27FC236}">
                <a16:creationId xmlns:a16="http://schemas.microsoft.com/office/drawing/2014/main" id="{8633D751-5EDE-B35A-E1B4-D3281FE61966}"/>
              </a:ext>
            </a:extLst>
          </p:cNvPr>
          <p:cNvSpPr>
            <a:spLocks noGrp="1"/>
          </p:cNvSpPr>
          <p:nvPr>
            <p:ph type="title"/>
          </p:nvPr>
        </p:nvSpPr>
        <p:spPr/>
        <p:txBody>
          <a:bodyPr/>
          <a:lstStyle/>
          <a:p>
            <a:r>
              <a:rPr lang="en-IT"/>
              <a:t>Church-Turing Thesis</a:t>
            </a:r>
          </a:p>
        </p:txBody>
      </p:sp>
      <p:sp>
        <p:nvSpPr>
          <p:cNvPr id="7" name="Oval 6">
            <a:extLst>
              <a:ext uri="{FF2B5EF4-FFF2-40B4-BE49-F238E27FC236}">
                <a16:creationId xmlns:a16="http://schemas.microsoft.com/office/drawing/2014/main" id="{7D8AE321-E373-FD30-F369-29B35B9373E7}"/>
              </a:ext>
            </a:extLst>
          </p:cNvPr>
          <p:cNvSpPr/>
          <p:nvPr/>
        </p:nvSpPr>
        <p:spPr>
          <a:xfrm>
            <a:off x="1819373" y="2502054"/>
            <a:ext cx="8226670" cy="4212239"/>
          </a:xfrm>
          <a:prstGeom prst="ellipse">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8" name="TextBox 7">
            <a:extLst>
              <a:ext uri="{FF2B5EF4-FFF2-40B4-BE49-F238E27FC236}">
                <a16:creationId xmlns:a16="http://schemas.microsoft.com/office/drawing/2014/main" id="{E0777FA4-F241-7893-CD00-C710D682115F}"/>
              </a:ext>
            </a:extLst>
          </p:cNvPr>
          <p:cNvSpPr txBox="1"/>
          <p:nvPr/>
        </p:nvSpPr>
        <p:spPr>
          <a:xfrm>
            <a:off x="5056602" y="1856189"/>
            <a:ext cx="1752211" cy="584775"/>
          </a:xfrm>
          <a:prstGeom prst="rect">
            <a:avLst/>
          </a:prstGeom>
          <a:noFill/>
        </p:spPr>
        <p:txBody>
          <a:bodyPr wrap="none" rtlCol="0">
            <a:spAutoFit/>
          </a:bodyPr>
          <a:lstStyle/>
          <a:p>
            <a:r>
              <a:rPr lang="en-IT" sz="3200">
                <a:solidFill>
                  <a:srgbClr val="0F406B"/>
                </a:solidFill>
              </a:rPr>
              <a:t>Problems</a:t>
            </a:r>
          </a:p>
        </p:txBody>
      </p:sp>
      <p:cxnSp>
        <p:nvCxnSpPr>
          <p:cNvPr id="11" name="Straight Connector 10">
            <a:extLst>
              <a:ext uri="{FF2B5EF4-FFF2-40B4-BE49-F238E27FC236}">
                <a16:creationId xmlns:a16="http://schemas.microsoft.com/office/drawing/2014/main" id="{88F5F5F8-EEEF-6211-2B18-68D1E70F160B}"/>
              </a:ext>
            </a:extLst>
          </p:cNvPr>
          <p:cNvCxnSpPr>
            <a:stCxn id="7" idx="0"/>
          </p:cNvCxnSpPr>
          <p:nvPr/>
        </p:nvCxnSpPr>
        <p:spPr>
          <a:xfrm>
            <a:off x="5932708" y="2502054"/>
            <a:ext cx="345544" cy="4212239"/>
          </a:xfrm>
          <a:prstGeom prst="line">
            <a:avLst/>
          </a:prstGeom>
          <a:ln w="57150">
            <a:no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65001F8-3017-E8AA-685C-513D5CCB6241}"/>
              </a:ext>
            </a:extLst>
          </p:cNvPr>
          <p:cNvSpPr txBox="1"/>
          <p:nvPr/>
        </p:nvSpPr>
        <p:spPr>
          <a:xfrm>
            <a:off x="3178093" y="4084711"/>
            <a:ext cx="2336587" cy="461665"/>
          </a:xfrm>
          <a:prstGeom prst="rect">
            <a:avLst/>
          </a:prstGeom>
          <a:noFill/>
        </p:spPr>
        <p:txBody>
          <a:bodyPr wrap="square" rtlCol="0">
            <a:spAutoFit/>
          </a:bodyPr>
          <a:lstStyle/>
          <a:p>
            <a:r>
              <a:rPr lang="en-IT" sz="2400">
                <a:solidFill>
                  <a:srgbClr val="FF0000"/>
                </a:solidFill>
              </a:rPr>
              <a:t>Non computable</a:t>
            </a:r>
          </a:p>
        </p:txBody>
      </p:sp>
      <p:sp>
        <p:nvSpPr>
          <p:cNvPr id="20" name="TextBox 19">
            <a:extLst>
              <a:ext uri="{FF2B5EF4-FFF2-40B4-BE49-F238E27FC236}">
                <a16:creationId xmlns:a16="http://schemas.microsoft.com/office/drawing/2014/main" id="{6027D694-6F89-9B69-DF52-370C30CD2E34}"/>
              </a:ext>
            </a:extLst>
          </p:cNvPr>
          <p:cNvSpPr txBox="1"/>
          <p:nvPr/>
        </p:nvSpPr>
        <p:spPr>
          <a:xfrm>
            <a:off x="7238746" y="2179586"/>
            <a:ext cx="2336587" cy="461665"/>
          </a:xfrm>
          <a:prstGeom prst="rect">
            <a:avLst/>
          </a:prstGeom>
          <a:noFill/>
        </p:spPr>
        <p:txBody>
          <a:bodyPr wrap="square" rtlCol="0">
            <a:spAutoFit/>
          </a:bodyPr>
          <a:lstStyle/>
          <a:p>
            <a:r>
              <a:rPr lang="en-IT" sz="2400">
                <a:solidFill>
                  <a:srgbClr val="FF0000"/>
                </a:solidFill>
              </a:rPr>
              <a:t>Computable</a:t>
            </a:r>
          </a:p>
        </p:txBody>
      </p:sp>
      <p:sp>
        <p:nvSpPr>
          <p:cNvPr id="24" name="TextBox 23">
            <a:extLst>
              <a:ext uri="{FF2B5EF4-FFF2-40B4-BE49-F238E27FC236}">
                <a16:creationId xmlns:a16="http://schemas.microsoft.com/office/drawing/2014/main" id="{89D21FA0-7E06-DE97-580B-856169EF687E}"/>
              </a:ext>
            </a:extLst>
          </p:cNvPr>
          <p:cNvSpPr txBox="1"/>
          <p:nvPr/>
        </p:nvSpPr>
        <p:spPr>
          <a:xfrm>
            <a:off x="6340945" y="3642384"/>
            <a:ext cx="1046056" cy="830997"/>
          </a:xfrm>
          <a:prstGeom prst="rect">
            <a:avLst/>
          </a:prstGeom>
          <a:noFill/>
        </p:spPr>
        <p:txBody>
          <a:bodyPr wrap="none" rtlCol="0">
            <a:spAutoFit/>
          </a:bodyPr>
          <a:lstStyle/>
          <a:p>
            <a:pPr algn="ctr"/>
            <a:r>
              <a:rPr lang="en-IT" sz="2400">
                <a:solidFill>
                  <a:srgbClr val="0B662E"/>
                </a:solidFill>
              </a:rPr>
              <a:t>“Hard”</a:t>
            </a:r>
          </a:p>
          <a:p>
            <a:pPr algn="ctr"/>
            <a:r>
              <a:rPr lang="en-IT" sz="2400">
                <a:solidFill>
                  <a:srgbClr val="0B662E"/>
                </a:solidFill>
              </a:rPr>
              <a:t>O(2</a:t>
            </a:r>
            <a:r>
              <a:rPr lang="en-IT" sz="2400" baseline="30000">
                <a:solidFill>
                  <a:srgbClr val="0B662E"/>
                </a:solidFill>
              </a:rPr>
              <a:t>N</a:t>
            </a:r>
            <a:r>
              <a:rPr lang="en-IT" sz="2400">
                <a:solidFill>
                  <a:srgbClr val="0B662E"/>
                </a:solidFill>
              </a:rPr>
              <a:t>)</a:t>
            </a:r>
          </a:p>
        </p:txBody>
      </p:sp>
      <p:sp>
        <p:nvSpPr>
          <p:cNvPr id="25" name="TextBox 24">
            <a:extLst>
              <a:ext uri="{FF2B5EF4-FFF2-40B4-BE49-F238E27FC236}">
                <a16:creationId xmlns:a16="http://schemas.microsoft.com/office/drawing/2014/main" id="{7738EBF0-9BB0-D868-09EA-967ACED370DD}"/>
              </a:ext>
            </a:extLst>
          </p:cNvPr>
          <p:cNvSpPr txBox="1"/>
          <p:nvPr/>
        </p:nvSpPr>
        <p:spPr>
          <a:xfrm>
            <a:off x="8378484" y="4015539"/>
            <a:ext cx="997581" cy="830997"/>
          </a:xfrm>
          <a:prstGeom prst="rect">
            <a:avLst/>
          </a:prstGeom>
          <a:noFill/>
        </p:spPr>
        <p:txBody>
          <a:bodyPr wrap="none" rtlCol="0">
            <a:spAutoFit/>
          </a:bodyPr>
          <a:lstStyle/>
          <a:p>
            <a:pPr algn="ctr"/>
            <a:r>
              <a:rPr lang="en-IT" sz="2400">
                <a:solidFill>
                  <a:srgbClr val="0B662E"/>
                </a:solidFill>
              </a:rPr>
              <a:t>“Easy”</a:t>
            </a:r>
          </a:p>
          <a:p>
            <a:pPr algn="ctr"/>
            <a:r>
              <a:rPr lang="en-IT" sz="2400">
                <a:solidFill>
                  <a:srgbClr val="0B662E"/>
                </a:solidFill>
              </a:rPr>
              <a:t>O(N</a:t>
            </a:r>
            <a:r>
              <a:rPr lang="en-IT" sz="2400" baseline="30000">
                <a:solidFill>
                  <a:srgbClr val="0B662E"/>
                </a:solidFill>
              </a:rPr>
              <a:t>k</a:t>
            </a:r>
            <a:r>
              <a:rPr lang="en-IT" sz="2400">
                <a:solidFill>
                  <a:srgbClr val="0B662E"/>
                </a:solidFill>
              </a:rPr>
              <a:t>)</a:t>
            </a:r>
          </a:p>
        </p:txBody>
      </p:sp>
      <p:sp>
        <p:nvSpPr>
          <p:cNvPr id="13" name="Freeform 12">
            <a:extLst>
              <a:ext uri="{FF2B5EF4-FFF2-40B4-BE49-F238E27FC236}">
                <a16:creationId xmlns:a16="http://schemas.microsoft.com/office/drawing/2014/main" id="{B3520749-BE2D-50CB-CC9E-0E0F86B3355B}"/>
              </a:ext>
            </a:extLst>
          </p:cNvPr>
          <p:cNvSpPr/>
          <p:nvPr/>
        </p:nvSpPr>
        <p:spPr>
          <a:xfrm>
            <a:off x="6842680" y="2705493"/>
            <a:ext cx="1273798" cy="3676453"/>
          </a:xfrm>
          <a:custGeom>
            <a:avLst/>
            <a:gdLst>
              <a:gd name="connsiteX0" fmla="*/ 840165 w 1273798"/>
              <a:gd name="connsiteY0" fmla="*/ 0 h 3676453"/>
              <a:gd name="connsiteX1" fmla="*/ 1028701 w 1273798"/>
              <a:gd name="connsiteY1" fmla="*/ 1640264 h 3676453"/>
              <a:gd name="connsiteX2" fmla="*/ 1028701 w 1273798"/>
              <a:gd name="connsiteY2" fmla="*/ 1857080 h 3676453"/>
              <a:gd name="connsiteX3" fmla="*/ 745897 w 1273798"/>
              <a:gd name="connsiteY3" fmla="*/ 2139884 h 3676453"/>
              <a:gd name="connsiteX4" fmla="*/ 1180 w 1273798"/>
              <a:gd name="connsiteY4" fmla="*/ 2667785 h 3676453"/>
              <a:gd name="connsiteX5" fmla="*/ 934433 w 1273798"/>
              <a:gd name="connsiteY5" fmla="*/ 3091992 h 3676453"/>
              <a:gd name="connsiteX6" fmla="*/ 1207811 w 1273798"/>
              <a:gd name="connsiteY6" fmla="*/ 3271101 h 3676453"/>
              <a:gd name="connsiteX7" fmla="*/ 1273798 w 1273798"/>
              <a:gd name="connsiteY7" fmla="*/ 3676453 h 3676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3798" h="3676453">
                <a:moveTo>
                  <a:pt x="840165" y="0"/>
                </a:moveTo>
                <a:cubicBezTo>
                  <a:pt x="918721" y="665375"/>
                  <a:pt x="997278" y="1330751"/>
                  <a:pt x="1028701" y="1640264"/>
                </a:cubicBezTo>
                <a:cubicBezTo>
                  <a:pt x="1060124" y="1949777"/>
                  <a:pt x="1075835" y="1773810"/>
                  <a:pt x="1028701" y="1857080"/>
                </a:cubicBezTo>
                <a:cubicBezTo>
                  <a:pt x="981567" y="1940350"/>
                  <a:pt x="917151" y="2004767"/>
                  <a:pt x="745897" y="2139884"/>
                </a:cubicBezTo>
                <a:cubicBezTo>
                  <a:pt x="574643" y="2275002"/>
                  <a:pt x="-30243" y="2509100"/>
                  <a:pt x="1180" y="2667785"/>
                </a:cubicBezTo>
                <a:cubicBezTo>
                  <a:pt x="32603" y="2826470"/>
                  <a:pt x="733328" y="2991439"/>
                  <a:pt x="934433" y="3091992"/>
                </a:cubicBezTo>
                <a:cubicBezTo>
                  <a:pt x="1135538" y="3192545"/>
                  <a:pt x="1151250" y="3173691"/>
                  <a:pt x="1207811" y="3271101"/>
                </a:cubicBezTo>
                <a:cubicBezTo>
                  <a:pt x="1264372" y="3368511"/>
                  <a:pt x="1265942" y="3607323"/>
                  <a:pt x="1273798" y="3676453"/>
                </a:cubicBezTo>
              </a:path>
            </a:pathLst>
          </a:custGeom>
          <a:solidFill>
            <a:srgbClr val="B6EF57"/>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30" name="TextBox 29">
            <a:extLst>
              <a:ext uri="{FF2B5EF4-FFF2-40B4-BE49-F238E27FC236}">
                <a16:creationId xmlns:a16="http://schemas.microsoft.com/office/drawing/2014/main" id="{3CD9E7C6-1373-62EE-0DDC-E0A072436081}"/>
              </a:ext>
            </a:extLst>
          </p:cNvPr>
          <p:cNvSpPr txBox="1"/>
          <p:nvPr/>
        </p:nvSpPr>
        <p:spPr>
          <a:xfrm>
            <a:off x="7173227" y="5078648"/>
            <a:ext cx="718017" cy="461665"/>
          </a:xfrm>
          <a:prstGeom prst="rect">
            <a:avLst/>
          </a:prstGeom>
          <a:noFill/>
        </p:spPr>
        <p:txBody>
          <a:bodyPr wrap="none" rtlCol="0">
            <a:spAutoFit/>
          </a:bodyPr>
          <a:lstStyle/>
          <a:p>
            <a:r>
              <a:rPr lang="en-IT" sz="2400" b="1"/>
              <a:t>Q.C.</a:t>
            </a:r>
          </a:p>
        </p:txBody>
      </p:sp>
    </p:spTree>
    <p:extLst>
      <p:ext uri="{BB962C8B-B14F-4D97-AF65-F5344CB8AC3E}">
        <p14:creationId xmlns:p14="http://schemas.microsoft.com/office/powerpoint/2010/main" val="387312503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4F82F-AB45-EB78-0B06-ADB3D7F8A922}"/>
              </a:ext>
            </a:extLst>
          </p:cNvPr>
          <p:cNvSpPr>
            <a:spLocks noGrp="1"/>
          </p:cNvSpPr>
          <p:nvPr>
            <p:ph type="title"/>
          </p:nvPr>
        </p:nvSpPr>
        <p:spPr/>
        <p:txBody>
          <a:bodyPr/>
          <a:lstStyle/>
          <a:p>
            <a:r>
              <a:rPr lang="en-IT"/>
              <a:t>Quantum Algorithms</a:t>
            </a:r>
          </a:p>
        </p:txBody>
      </p:sp>
      <p:sp>
        <p:nvSpPr>
          <p:cNvPr id="3" name="Content Placeholder 2">
            <a:extLst>
              <a:ext uri="{FF2B5EF4-FFF2-40B4-BE49-F238E27FC236}">
                <a16:creationId xmlns:a16="http://schemas.microsoft.com/office/drawing/2014/main" id="{6515AA7F-F9C5-A476-0F17-7284ADDE0AB5}"/>
              </a:ext>
            </a:extLst>
          </p:cNvPr>
          <p:cNvSpPr>
            <a:spLocks noGrp="1"/>
          </p:cNvSpPr>
          <p:nvPr>
            <p:ph idx="1"/>
          </p:nvPr>
        </p:nvSpPr>
        <p:spPr/>
        <p:txBody>
          <a:bodyPr/>
          <a:lstStyle/>
          <a:p>
            <a:r>
              <a:rPr lang="en-IT"/>
              <a:t>What problems are efficiently solved by quantum algorithms?</a:t>
            </a:r>
          </a:p>
          <a:p>
            <a:r>
              <a:rPr lang="en-IT"/>
              <a:t>As a rule of thumb, quantum algorithms are much more efficient than classical algorithms when the problem is to </a:t>
            </a:r>
            <a:r>
              <a:rPr lang="en-IT" b="1"/>
              <a:t>determine a</a:t>
            </a:r>
            <a:r>
              <a:rPr lang="en-IT"/>
              <a:t> </a:t>
            </a:r>
            <a:r>
              <a:rPr lang="en-IT" b="1"/>
              <a:t>global property of an input function</a:t>
            </a:r>
            <a:r>
              <a:rPr lang="en-IT"/>
              <a:t>  </a:t>
            </a:r>
            <a:r>
              <a:rPr lang="en-IT" b="1" i="1"/>
              <a:t>f: {0,1}</a:t>
            </a:r>
            <a:r>
              <a:rPr lang="en-IT" b="1" i="1" baseline="30000"/>
              <a:t>N </a:t>
            </a:r>
            <a:r>
              <a:rPr lang="en-IT" b="1">
                <a:sym typeface="Wingdings" pitchFamily="2" charset="2"/>
              </a:rPr>
              <a:t> </a:t>
            </a:r>
            <a:r>
              <a:rPr lang="en-IT" b="1" i="1"/>
              <a:t>{0,1}</a:t>
            </a:r>
            <a:r>
              <a:rPr lang="en-IT" b="1" i="1" baseline="30000"/>
              <a:t>M</a:t>
            </a:r>
            <a:endParaRPr lang="en-IT"/>
          </a:p>
          <a:p>
            <a:endParaRPr lang="en-IT"/>
          </a:p>
          <a:p>
            <a:r>
              <a:rPr lang="en-IT"/>
              <a:t>Examples:</a:t>
            </a:r>
          </a:p>
          <a:p>
            <a:pPr lvl="1">
              <a:buFont typeface="Wingdings" pitchFamily="2" charset="2"/>
              <a:buChar char="ü"/>
            </a:pPr>
            <a:r>
              <a:rPr lang="en-IT"/>
              <a:t> Problem: is </a:t>
            </a:r>
            <a:r>
              <a:rPr lang="en-IT" i="1"/>
              <a:t>f </a:t>
            </a:r>
            <a:r>
              <a:rPr lang="en-IT"/>
              <a:t>constant or balanced? -&gt; Deutsch-Josza algorithm</a:t>
            </a:r>
          </a:p>
          <a:p>
            <a:pPr lvl="1">
              <a:buFont typeface="Wingdings" pitchFamily="2" charset="2"/>
              <a:buChar char="ü"/>
            </a:pPr>
            <a:r>
              <a:rPr lang="en-IT"/>
              <a:t> Problem: what is the period of </a:t>
            </a:r>
            <a:r>
              <a:rPr lang="en-IT" i="1"/>
              <a:t>f</a:t>
            </a:r>
            <a:r>
              <a:rPr lang="en-IT"/>
              <a:t>? -&gt; Period finding algorithm</a:t>
            </a:r>
          </a:p>
        </p:txBody>
      </p:sp>
    </p:spTree>
    <p:extLst>
      <p:ext uri="{BB962C8B-B14F-4D97-AF65-F5344CB8AC3E}">
        <p14:creationId xmlns:p14="http://schemas.microsoft.com/office/powerpoint/2010/main" val="2648211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04918315-4EA6-3CC7-A31C-57C8F404012F}"/>
              </a:ext>
            </a:extLst>
          </p:cNvPr>
          <p:cNvCxnSpPr>
            <a:cxnSpLocks/>
            <a:stCxn id="31" idx="2"/>
          </p:cNvCxnSpPr>
          <p:nvPr/>
        </p:nvCxnSpPr>
        <p:spPr>
          <a:xfrm>
            <a:off x="9026293" y="2827817"/>
            <a:ext cx="0" cy="2930432"/>
          </a:xfrm>
          <a:prstGeom prst="line">
            <a:avLst/>
          </a:prstGeom>
          <a:ln w="57150" cmpd="dbl">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A0DAAE9-ED31-1E48-EB44-E167519C1A5A}"/>
              </a:ext>
            </a:extLst>
          </p:cNvPr>
          <p:cNvSpPr>
            <a:spLocks noGrp="1"/>
          </p:cNvSpPr>
          <p:nvPr>
            <p:ph type="title"/>
          </p:nvPr>
        </p:nvSpPr>
        <p:spPr/>
        <p:txBody>
          <a:bodyPr/>
          <a:lstStyle/>
          <a:p>
            <a:r>
              <a:rPr lang="en-IT"/>
              <a:t>Quantum Algorithms (2)</a:t>
            </a:r>
          </a:p>
        </p:txBody>
      </p:sp>
      <p:cxnSp>
        <p:nvCxnSpPr>
          <p:cNvPr id="5" name="Straight Connector 4">
            <a:extLst>
              <a:ext uri="{FF2B5EF4-FFF2-40B4-BE49-F238E27FC236}">
                <a16:creationId xmlns:a16="http://schemas.microsoft.com/office/drawing/2014/main" id="{402649DE-4344-36E4-BD46-D15461D15004}"/>
              </a:ext>
            </a:extLst>
          </p:cNvPr>
          <p:cNvCxnSpPr/>
          <p:nvPr/>
        </p:nvCxnSpPr>
        <p:spPr>
          <a:xfrm>
            <a:off x="1764598" y="2686639"/>
            <a:ext cx="87009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79C0542-06C6-3B67-DA8A-3EC7DB90B5B2}"/>
              </a:ext>
            </a:extLst>
          </p:cNvPr>
          <p:cNvCxnSpPr/>
          <p:nvPr/>
        </p:nvCxnSpPr>
        <p:spPr>
          <a:xfrm>
            <a:off x="1764598" y="3027575"/>
            <a:ext cx="87009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EAD64D-034F-B553-6ED6-0AD63F804D00}"/>
              </a:ext>
            </a:extLst>
          </p:cNvPr>
          <p:cNvCxnSpPr/>
          <p:nvPr/>
        </p:nvCxnSpPr>
        <p:spPr>
          <a:xfrm>
            <a:off x="1764598" y="3555476"/>
            <a:ext cx="87009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5B26C0F-AFD3-B43A-AAFF-38B659B14B8A}"/>
              </a:ext>
            </a:extLst>
          </p:cNvPr>
          <p:cNvSpPr txBox="1"/>
          <p:nvPr/>
        </p:nvSpPr>
        <p:spPr>
          <a:xfrm>
            <a:off x="1665429" y="3147458"/>
            <a:ext cx="553998" cy="290618"/>
          </a:xfrm>
          <a:prstGeom prst="rect">
            <a:avLst/>
          </a:prstGeom>
          <a:noFill/>
        </p:spPr>
        <p:txBody>
          <a:bodyPr vert="vert" wrap="square" rtlCol="0">
            <a:spAutoFit/>
          </a:bodyPr>
          <a:lstStyle/>
          <a:p>
            <a:r>
              <a:rPr lang="en-IT" sz="2400"/>
              <a:t>…</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B64E5875-DC70-22C8-23DF-492C8549A172}"/>
                  </a:ext>
                </a:extLst>
              </p:cNvPr>
              <p:cNvSpPr txBox="1"/>
              <p:nvPr/>
            </p:nvSpPr>
            <p:spPr>
              <a:xfrm>
                <a:off x="1242084" y="2501819"/>
                <a:ext cx="5225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0</m:t>
                          </m:r>
                        </m:e>
                      </m:d>
                    </m:oMath>
                  </m:oMathPara>
                </a14:m>
                <a:endParaRPr lang="en-IT"/>
              </a:p>
            </p:txBody>
          </p:sp>
        </mc:Choice>
        <mc:Fallback>
          <p:sp>
            <p:nvSpPr>
              <p:cNvPr id="17" name="TextBox 16">
                <a:extLst>
                  <a:ext uri="{FF2B5EF4-FFF2-40B4-BE49-F238E27FC236}">
                    <a16:creationId xmlns:a16="http://schemas.microsoft.com/office/drawing/2014/main" id="{B64E5875-DC70-22C8-23DF-492C8549A172}"/>
                  </a:ext>
                </a:extLst>
              </p:cNvPr>
              <p:cNvSpPr txBox="1">
                <a:spLocks noRot="1" noChangeAspect="1" noMove="1" noResize="1" noEditPoints="1" noAdjustHandles="1" noChangeArrowheads="1" noChangeShapeType="1" noTextEdit="1"/>
              </p:cNvSpPr>
              <p:nvPr/>
            </p:nvSpPr>
            <p:spPr>
              <a:xfrm>
                <a:off x="1242084" y="2501819"/>
                <a:ext cx="522514" cy="369332"/>
              </a:xfrm>
              <a:prstGeom prst="rect">
                <a:avLst/>
              </a:prstGeom>
              <a:blipFill>
                <a:blip r:embed="rId2"/>
                <a:stretch>
                  <a:fillRect l="-21176" t="-119672" r="-91765" b="-1836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7BA550B2-015A-8186-D965-70E74D6DC172}"/>
                  </a:ext>
                </a:extLst>
              </p:cNvPr>
              <p:cNvSpPr txBox="1"/>
              <p:nvPr/>
            </p:nvSpPr>
            <p:spPr>
              <a:xfrm>
                <a:off x="1250256" y="2842812"/>
                <a:ext cx="5225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0</m:t>
                          </m:r>
                        </m:e>
                      </m:d>
                    </m:oMath>
                  </m:oMathPara>
                </a14:m>
                <a:endParaRPr lang="en-IT"/>
              </a:p>
            </p:txBody>
          </p:sp>
        </mc:Choice>
        <mc:Fallback>
          <p:sp>
            <p:nvSpPr>
              <p:cNvPr id="18" name="TextBox 17">
                <a:extLst>
                  <a:ext uri="{FF2B5EF4-FFF2-40B4-BE49-F238E27FC236}">
                    <a16:creationId xmlns:a16="http://schemas.microsoft.com/office/drawing/2014/main" id="{7BA550B2-015A-8186-D965-70E74D6DC172}"/>
                  </a:ext>
                </a:extLst>
              </p:cNvPr>
              <p:cNvSpPr txBox="1">
                <a:spLocks noRot="1" noChangeAspect="1" noMove="1" noResize="1" noEditPoints="1" noAdjustHandles="1" noChangeArrowheads="1" noChangeShapeType="1" noTextEdit="1"/>
              </p:cNvSpPr>
              <p:nvPr/>
            </p:nvSpPr>
            <p:spPr>
              <a:xfrm>
                <a:off x="1250256" y="2842812"/>
                <a:ext cx="522514" cy="369332"/>
              </a:xfrm>
              <a:prstGeom prst="rect">
                <a:avLst/>
              </a:prstGeom>
              <a:blipFill>
                <a:blip r:embed="rId3"/>
                <a:stretch>
                  <a:fillRect l="-19767" t="-119672" r="-90698" b="-1836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69AAAD58-F9AA-6366-44E0-B354460E47A1}"/>
                  </a:ext>
                </a:extLst>
              </p:cNvPr>
              <p:cNvSpPr txBox="1"/>
              <p:nvPr/>
            </p:nvSpPr>
            <p:spPr>
              <a:xfrm>
                <a:off x="1255635" y="3368413"/>
                <a:ext cx="5225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0</m:t>
                          </m:r>
                        </m:e>
                      </m:d>
                    </m:oMath>
                  </m:oMathPara>
                </a14:m>
                <a:endParaRPr lang="en-IT"/>
              </a:p>
            </p:txBody>
          </p:sp>
        </mc:Choice>
        <mc:Fallback>
          <p:sp>
            <p:nvSpPr>
              <p:cNvPr id="19" name="TextBox 18">
                <a:extLst>
                  <a:ext uri="{FF2B5EF4-FFF2-40B4-BE49-F238E27FC236}">
                    <a16:creationId xmlns:a16="http://schemas.microsoft.com/office/drawing/2014/main" id="{69AAAD58-F9AA-6366-44E0-B354460E47A1}"/>
                  </a:ext>
                </a:extLst>
              </p:cNvPr>
              <p:cNvSpPr txBox="1">
                <a:spLocks noRot="1" noChangeAspect="1" noMove="1" noResize="1" noEditPoints="1" noAdjustHandles="1" noChangeArrowheads="1" noChangeShapeType="1" noTextEdit="1"/>
              </p:cNvSpPr>
              <p:nvPr/>
            </p:nvSpPr>
            <p:spPr>
              <a:xfrm>
                <a:off x="1255635" y="3368413"/>
                <a:ext cx="522514" cy="369332"/>
              </a:xfrm>
              <a:prstGeom prst="rect">
                <a:avLst/>
              </a:prstGeom>
              <a:blipFill>
                <a:blip r:embed="rId4"/>
                <a:stretch>
                  <a:fillRect l="-20930" t="-121667" r="-89535" b="-188333"/>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AEB55AAE-98F5-E8C2-9E8B-993C58C003C0}"/>
              </a:ext>
            </a:extLst>
          </p:cNvPr>
          <p:cNvCxnSpPr/>
          <p:nvPr/>
        </p:nvCxnSpPr>
        <p:spPr>
          <a:xfrm>
            <a:off x="1772770" y="4114339"/>
            <a:ext cx="87009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9DAFA9A-A3DA-97A9-FEAF-43F2EBAC81CA}"/>
              </a:ext>
            </a:extLst>
          </p:cNvPr>
          <p:cNvCxnSpPr/>
          <p:nvPr/>
        </p:nvCxnSpPr>
        <p:spPr>
          <a:xfrm>
            <a:off x="1772770" y="4455275"/>
            <a:ext cx="87009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F4F028-6E83-56BC-3D79-31A9BD543B4E}"/>
              </a:ext>
            </a:extLst>
          </p:cNvPr>
          <p:cNvCxnSpPr/>
          <p:nvPr/>
        </p:nvCxnSpPr>
        <p:spPr>
          <a:xfrm>
            <a:off x="1772770" y="4983176"/>
            <a:ext cx="87009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366E827-9C06-A69A-2B09-7B318AFA40F7}"/>
              </a:ext>
            </a:extLst>
          </p:cNvPr>
          <p:cNvSpPr txBox="1"/>
          <p:nvPr/>
        </p:nvSpPr>
        <p:spPr>
          <a:xfrm>
            <a:off x="1673601" y="4575158"/>
            <a:ext cx="553998" cy="290618"/>
          </a:xfrm>
          <a:prstGeom prst="rect">
            <a:avLst/>
          </a:prstGeom>
          <a:noFill/>
        </p:spPr>
        <p:txBody>
          <a:bodyPr vert="vert" wrap="square" rtlCol="0">
            <a:spAutoFit/>
          </a:bodyPr>
          <a:lstStyle/>
          <a:p>
            <a:r>
              <a:rPr lang="en-IT" sz="2400"/>
              <a:t>…</a:t>
            </a:r>
          </a:p>
        </p:txBody>
      </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BDB1A90F-48CA-FA50-AF98-53024BBCD0DF}"/>
                  </a:ext>
                </a:extLst>
              </p:cNvPr>
              <p:cNvSpPr txBox="1"/>
              <p:nvPr/>
            </p:nvSpPr>
            <p:spPr>
              <a:xfrm>
                <a:off x="1250256" y="3929519"/>
                <a:ext cx="5225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0</m:t>
                          </m:r>
                        </m:e>
                      </m:d>
                    </m:oMath>
                  </m:oMathPara>
                </a14:m>
                <a:endParaRPr lang="en-IT"/>
              </a:p>
            </p:txBody>
          </p:sp>
        </mc:Choice>
        <mc:Fallback>
          <p:sp>
            <p:nvSpPr>
              <p:cNvPr id="24" name="TextBox 23">
                <a:extLst>
                  <a:ext uri="{FF2B5EF4-FFF2-40B4-BE49-F238E27FC236}">
                    <a16:creationId xmlns:a16="http://schemas.microsoft.com/office/drawing/2014/main" id="{BDB1A90F-48CA-FA50-AF98-53024BBCD0DF}"/>
                  </a:ext>
                </a:extLst>
              </p:cNvPr>
              <p:cNvSpPr txBox="1">
                <a:spLocks noRot="1" noChangeAspect="1" noMove="1" noResize="1" noEditPoints="1" noAdjustHandles="1" noChangeArrowheads="1" noChangeShapeType="1" noTextEdit="1"/>
              </p:cNvSpPr>
              <p:nvPr/>
            </p:nvSpPr>
            <p:spPr>
              <a:xfrm>
                <a:off x="1250256" y="3929519"/>
                <a:ext cx="522514" cy="369332"/>
              </a:xfrm>
              <a:prstGeom prst="rect">
                <a:avLst/>
              </a:prstGeom>
              <a:blipFill>
                <a:blip r:embed="rId5"/>
                <a:stretch>
                  <a:fillRect l="-19767" t="-121667" r="-90698" b="-188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9E3F89E8-BF91-9D2F-E0E0-E1BFDDF33822}"/>
                  </a:ext>
                </a:extLst>
              </p:cNvPr>
              <p:cNvSpPr txBox="1"/>
              <p:nvPr/>
            </p:nvSpPr>
            <p:spPr>
              <a:xfrm>
                <a:off x="1258428" y="4270512"/>
                <a:ext cx="5225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0</m:t>
                          </m:r>
                        </m:e>
                      </m:d>
                    </m:oMath>
                  </m:oMathPara>
                </a14:m>
                <a:endParaRPr lang="en-IT"/>
              </a:p>
            </p:txBody>
          </p:sp>
        </mc:Choice>
        <mc:Fallback>
          <p:sp>
            <p:nvSpPr>
              <p:cNvPr id="25" name="TextBox 24">
                <a:extLst>
                  <a:ext uri="{FF2B5EF4-FFF2-40B4-BE49-F238E27FC236}">
                    <a16:creationId xmlns:a16="http://schemas.microsoft.com/office/drawing/2014/main" id="{9E3F89E8-BF91-9D2F-E0E0-E1BFDDF33822}"/>
                  </a:ext>
                </a:extLst>
              </p:cNvPr>
              <p:cNvSpPr txBox="1">
                <a:spLocks noRot="1" noChangeAspect="1" noMove="1" noResize="1" noEditPoints="1" noAdjustHandles="1" noChangeArrowheads="1" noChangeShapeType="1" noTextEdit="1"/>
              </p:cNvSpPr>
              <p:nvPr/>
            </p:nvSpPr>
            <p:spPr>
              <a:xfrm>
                <a:off x="1258428" y="4270512"/>
                <a:ext cx="522514" cy="369332"/>
              </a:xfrm>
              <a:prstGeom prst="rect">
                <a:avLst/>
              </a:prstGeom>
              <a:blipFill>
                <a:blip r:embed="rId5"/>
                <a:stretch>
                  <a:fillRect l="-19767" t="-121667" r="-90698" b="-188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515057D3-50EB-FF29-F071-9C94AA5BE6F4}"/>
                  </a:ext>
                </a:extLst>
              </p:cNvPr>
              <p:cNvSpPr txBox="1"/>
              <p:nvPr/>
            </p:nvSpPr>
            <p:spPr>
              <a:xfrm>
                <a:off x="1263807" y="4796113"/>
                <a:ext cx="5225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r>
                            <a:rPr lang="it-IT" b="0" i="1" smtClean="0">
                              <a:latin typeface="Cambria Math" panose="02040503050406030204" pitchFamily="18" charset="0"/>
                            </a:rPr>
                            <m:t>0</m:t>
                          </m:r>
                        </m:e>
                      </m:d>
                    </m:oMath>
                  </m:oMathPara>
                </a14:m>
                <a:endParaRPr lang="en-IT"/>
              </a:p>
            </p:txBody>
          </p:sp>
        </mc:Choice>
        <mc:Fallback>
          <p:sp>
            <p:nvSpPr>
              <p:cNvPr id="26" name="TextBox 25">
                <a:extLst>
                  <a:ext uri="{FF2B5EF4-FFF2-40B4-BE49-F238E27FC236}">
                    <a16:creationId xmlns:a16="http://schemas.microsoft.com/office/drawing/2014/main" id="{515057D3-50EB-FF29-F071-9C94AA5BE6F4}"/>
                  </a:ext>
                </a:extLst>
              </p:cNvPr>
              <p:cNvSpPr txBox="1">
                <a:spLocks noRot="1" noChangeAspect="1" noMove="1" noResize="1" noEditPoints="1" noAdjustHandles="1" noChangeArrowheads="1" noChangeShapeType="1" noTextEdit="1"/>
              </p:cNvSpPr>
              <p:nvPr/>
            </p:nvSpPr>
            <p:spPr>
              <a:xfrm>
                <a:off x="1263807" y="4796113"/>
                <a:ext cx="522514" cy="369332"/>
              </a:xfrm>
              <a:prstGeom prst="rect">
                <a:avLst/>
              </a:prstGeom>
              <a:blipFill>
                <a:blip r:embed="rId5"/>
                <a:stretch>
                  <a:fillRect l="-19767" t="-121667" r="-90698" b="-188333"/>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B103166B-A8D4-E7DB-14E1-15E55D6A405D}"/>
              </a:ext>
            </a:extLst>
          </p:cNvPr>
          <p:cNvSpPr/>
          <p:nvPr/>
        </p:nvSpPr>
        <p:spPr>
          <a:xfrm>
            <a:off x="2496065" y="2501819"/>
            <a:ext cx="1260389" cy="1260389"/>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sz="3200">
                <a:solidFill>
                  <a:schemeClr val="tx1"/>
                </a:solidFill>
              </a:rPr>
              <a:t>U</a:t>
            </a:r>
            <a:r>
              <a:rPr lang="en-IT" sz="3200" baseline="-25000">
                <a:solidFill>
                  <a:schemeClr val="tx1"/>
                </a:solidFill>
              </a:rPr>
              <a:t>SP</a:t>
            </a:r>
            <a:endParaRPr lang="en-IT" sz="3200">
              <a:solidFill>
                <a:schemeClr val="tx1"/>
              </a:solidFill>
            </a:endParaRPr>
          </a:p>
        </p:txBody>
      </p:sp>
      <p:sp>
        <p:nvSpPr>
          <p:cNvPr id="28" name="Rectangle 27">
            <a:extLst>
              <a:ext uri="{FF2B5EF4-FFF2-40B4-BE49-F238E27FC236}">
                <a16:creationId xmlns:a16="http://schemas.microsoft.com/office/drawing/2014/main" id="{ABD6EDA2-31E9-316F-3D41-B8A504E3A971}"/>
              </a:ext>
            </a:extLst>
          </p:cNvPr>
          <p:cNvSpPr/>
          <p:nvPr/>
        </p:nvSpPr>
        <p:spPr>
          <a:xfrm>
            <a:off x="2496065" y="3946971"/>
            <a:ext cx="1260389" cy="1260389"/>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sz="3200">
                <a:solidFill>
                  <a:schemeClr val="tx1"/>
                </a:solidFill>
              </a:rPr>
              <a:t>V</a:t>
            </a:r>
            <a:r>
              <a:rPr lang="en-IT" sz="3200" baseline="-25000">
                <a:solidFill>
                  <a:schemeClr val="tx1"/>
                </a:solidFill>
              </a:rPr>
              <a:t>SP</a:t>
            </a:r>
            <a:endParaRPr lang="en-IT" sz="3200">
              <a:solidFill>
                <a:schemeClr val="tx1"/>
              </a:solidFill>
            </a:endParaRPr>
          </a:p>
        </p:txBody>
      </p:sp>
      <p:sp>
        <p:nvSpPr>
          <p:cNvPr id="29" name="Rectangle 28">
            <a:extLst>
              <a:ext uri="{FF2B5EF4-FFF2-40B4-BE49-F238E27FC236}">
                <a16:creationId xmlns:a16="http://schemas.microsoft.com/office/drawing/2014/main" id="{08030A0B-439D-D9CF-8C95-3DA56774C0A1}"/>
              </a:ext>
            </a:extLst>
          </p:cNvPr>
          <p:cNvSpPr/>
          <p:nvPr/>
        </p:nvSpPr>
        <p:spPr>
          <a:xfrm>
            <a:off x="4854679" y="2504916"/>
            <a:ext cx="2732370" cy="273237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sz="3200">
                <a:solidFill>
                  <a:schemeClr val="tx1"/>
                </a:solidFill>
              </a:rPr>
              <a:t>U</a:t>
            </a:r>
            <a:r>
              <a:rPr lang="en-IT" sz="3200" i="1" baseline="-25000">
                <a:solidFill>
                  <a:schemeClr val="tx1"/>
                </a:solidFill>
              </a:rPr>
              <a:t>f</a:t>
            </a:r>
            <a:endParaRPr lang="en-IT" sz="3200">
              <a:solidFill>
                <a:schemeClr val="tx1"/>
              </a:solidFill>
            </a:endParaRPr>
          </a:p>
        </p:txBody>
      </p:sp>
      <p:pic>
        <p:nvPicPr>
          <p:cNvPr id="31" name="Picture 30">
            <a:extLst>
              <a:ext uri="{FF2B5EF4-FFF2-40B4-BE49-F238E27FC236}">
                <a16:creationId xmlns:a16="http://schemas.microsoft.com/office/drawing/2014/main" id="{0466B07A-E3CD-5430-7A5B-E68A54E1C187}"/>
              </a:ext>
            </a:extLst>
          </p:cNvPr>
          <p:cNvPicPr>
            <a:picLocks noChangeAspect="1"/>
          </p:cNvPicPr>
          <p:nvPr/>
        </p:nvPicPr>
        <p:blipFill rotWithShape="1">
          <a:blip r:embed="rId6"/>
          <a:srcRect l="41850" t="9408" b="12409"/>
          <a:stretch/>
        </p:blipFill>
        <p:spPr>
          <a:xfrm>
            <a:off x="8830380" y="2517511"/>
            <a:ext cx="391826" cy="310306"/>
          </a:xfrm>
          <a:prstGeom prst="rect">
            <a:avLst/>
          </a:prstGeom>
        </p:spPr>
      </p:pic>
      <p:pic>
        <p:nvPicPr>
          <p:cNvPr id="32" name="Picture 31">
            <a:extLst>
              <a:ext uri="{FF2B5EF4-FFF2-40B4-BE49-F238E27FC236}">
                <a16:creationId xmlns:a16="http://schemas.microsoft.com/office/drawing/2014/main" id="{59D2920F-434A-F273-1707-D75A225F5E7B}"/>
              </a:ext>
            </a:extLst>
          </p:cNvPr>
          <p:cNvPicPr>
            <a:picLocks noChangeAspect="1"/>
          </p:cNvPicPr>
          <p:nvPr/>
        </p:nvPicPr>
        <p:blipFill rotWithShape="1">
          <a:blip r:embed="rId6"/>
          <a:srcRect l="41850" t="9408" b="12409"/>
          <a:stretch/>
        </p:blipFill>
        <p:spPr>
          <a:xfrm>
            <a:off x="8830380" y="2868363"/>
            <a:ext cx="391826" cy="310306"/>
          </a:xfrm>
          <a:prstGeom prst="rect">
            <a:avLst/>
          </a:prstGeom>
        </p:spPr>
      </p:pic>
      <p:pic>
        <p:nvPicPr>
          <p:cNvPr id="33" name="Picture 32">
            <a:extLst>
              <a:ext uri="{FF2B5EF4-FFF2-40B4-BE49-F238E27FC236}">
                <a16:creationId xmlns:a16="http://schemas.microsoft.com/office/drawing/2014/main" id="{0F70B496-6081-C483-6D21-A63E16DDCEAC}"/>
              </a:ext>
            </a:extLst>
          </p:cNvPr>
          <p:cNvPicPr>
            <a:picLocks noChangeAspect="1"/>
          </p:cNvPicPr>
          <p:nvPr/>
        </p:nvPicPr>
        <p:blipFill rotWithShape="1">
          <a:blip r:embed="rId6"/>
          <a:srcRect l="41850" t="9408" b="12409"/>
          <a:stretch/>
        </p:blipFill>
        <p:spPr>
          <a:xfrm>
            <a:off x="8830380" y="3407775"/>
            <a:ext cx="391826" cy="310306"/>
          </a:xfrm>
          <a:prstGeom prst="rect">
            <a:avLst/>
          </a:prstGeom>
        </p:spPr>
      </p:pic>
      <p:pic>
        <p:nvPicPr>
          <p:cNvPr id="34" name="Picture 33">
            <a:extLst>
              <a:ext uri="{FF2B5EF4-FFF2-40B4-BE49-F238E27FC236}">
                <a16:creationId xmlns:a16="http://schemas.microsoft.com/office/drawing/2014/main" id="{F64E1ECE-9301-F19C-F52E-7A091065BAB3}"/>
              </a:ext>
            </a:extLst>
          </p:cNvPr>
          <p:cNvPicPr>
            <a:picLocks noChangeAspect="1"/>
          </p:cNvPicPr>
          <p:nvPr/>
        </p:nvPicPr>
        <p:blipFill rotWithShape="1">
          <a:blip r:embed="rId6"/>
          <a:srcRect l="41850" t="9408" b="12409"/>
          <a:stretch/>
        </p:blipFill>
        <p:spPr>
          <a:xfrm>
            <a:off x="8830380" y="3959032"/>
            <a:ext cx="391826" cy="310306"/>
          </a:xfrm>
          <a:prstGeom prst="rect">
            <a:avLst/>
          </a:prstGeom>
        </p:spPr>
      </p:pic>
      <p:pic>
        <p:nvPicPr>
          <p:cNvPr id="35" name="Picture 34">
            <a:extLst>
              <a:ext uri="{FF2B5EF4-FFF2-40B4-BE49-F238E27FC236}">
                <a16:creationId xmlns:a16="http://schemas.microsoft.com/office/drawing/2014/main" id="{355EA372-65D4-08B7-3E57-3C3ECF897AAB}"/>
              </a:ext>
            </a:extLst>
          </p:cNvPr>
          <p:cNvPicPr>
            <a:picLocks noChangeAspect="1"/>
          </p:cNvPicPr>
          <p:nvPr/>
        </p:nvPicPr>
        <p:blipFill rotWithShape="1">
          <a:blip r:embed="rId6"/>
          <a:srcRect l="41850" t="9408" b="12409"/>
          <a:stretch/>
        </p:blipFill>
        <p:spPr>
          <a:xfrm>
            <a:off x="8830380" y="4312925"/>
            <a:ext cx="391826" cy="310306"/>
          </a:xfrm>
          <a:prstGeom prst="rect">
            <a:avLst/>
          </a:prstGeom>
        </p:spPr>
      </p:pic>
      <p:pic>
        <p:nvPicPr>
          <p:cNvPr id="36" name="Picture 35">
            <a:extLst>
              <a:ext uri="{FF2B5EF4-FFF2-40B4-BE49-F238E27FC236}">
                <a16:creationId xmlns:a16="http://schemas.microsoft.com/office/drawing/2014/main" id="{AC0C9BD5-0BCA-69E3-C424-18E30074AA30}"/>
              </a:ext>
            </a:extLst>
          </p:cNvPr>
          <p:cNvPicPr>
            <a:picLocks noChangeAspect="1"/>
          </p:cNvPicPr>
          <p:nvPr/>
        </p:nvPicPr>
        <p:blipFill rotWithShape="1">
          <a:blip r:embed="rId6"/>
          <a:srcRect l="41850" t="9408" b="12409"/>
          <a:stretch/>
        </p:blipFill>
        <p:spPr>
          <a:xfrm>
            <a:off x="8830380" y="4844433"/>
            <a:ext cx="391826" cy="310306"/>
          </a:xfrm>
          <a:prstGeom prst="rect">
            <a:avLst/>
          </a:prstGeom>
        </p:spPr>
      </p:pic>
      <p:cxnSp>
        <p:nvCxnSpPr>
          <p:cNvPr id="41" name="Straight Connector 40">
            <a:extLst>
              <a:ext uri="{FF2B5EF4-FFF2-40B4-BE49-F238E27FC236}">
                <a16:creationId xmlns:a16="http://schemas.microsoft.com/office/drawing/2014/main" id="{3ADA01FC-53C2-10DC-DF96-F4C839CA0222}"/>
              </a:ext>
            </a:extLst>
          </p:cNvPr>
          <p:cNvCxnSpPr>
            <a:cxnSpLocks/>
          </p:cNvCxnSpPr>
          <p:nvPr/>
        </p:nvCxnSpPr>
        <p:spPr>
          <a:xfrm flipH="1">
            <a:off x="8881840" y="5388907"/>
            <a:ext cx="288906" cy="13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798F346-B756-2E08-8B87-101A4D3D9A9B}"/>
              </a:ext>
            </a:extLst>
          </p:cNvPr>
          <p:cNvSpPr txBox="1"/>
          <p:nvPr/>
        </p:nvSpPr>
        <p:spPr>
          <a:xfrm>
            <a:off x="9170746" y="5277436"/>
            <a:ext cx="652743" cy="369332"/>
          </a:xfrm>
          <a:prstGeom prst="rect">
            <a:avLst/>
          </a:prstGeom>
          <a:noFill/>
        </p:spPr>
        <p:txBody>
          <a:bodyPr wrap="none" rtlCol="0">
            <a:spAutoFit/>
          </a:bodyPr>
          <a:lstStyle/>
          <a:p>
            <a:r>
              <a:rPr lang="en-IT"/>
              <a:t>N + L</a:t>
            </a:r>
          </a:p>
        </p:txBody>
      </p:sp>
      <p:sp>
        <p:nvSpPr>
          <p:cNvPr id="44" name="TextBox 43">
            <a:extLst>
              <a:ext uri="{FF2B5EF4-FFF2-40B4-BE49-F238E27FC236}">
                <a16:creationId xmlns:a16="http://schemas.microsoft.com/office/drawing/2014/main" id="{C826BD69-F8BE-DBAE-BF5F-491538FC12F9}"/>
              </a:ext>
            </a:extLst>
          </p:cNvPr>
          <p:cNvSpPr txBox="1"/>
          <p:nvPr/>
        </p:nvSpPr>
        <p:spPr>
          <a:xfrm>
            <a:off x="8516345" y="5746418"/>
            <a:ext cx="1019895" cy="369332"/>
          </a:xfrm>
          <a:prstGeom prst="rect">
            <a:avLst/>
          </a:prstGeom>
          <a:noFill/>
        </p:spPr>
        <p:txBody>
          <a:bodyPr wrap="none" rtlCol="0">
            <a:spAutoFit/>
          </a:bodyPr>
          <a:lstStyle/>
          <a:p>
            <a:r>
              <a:rPr lang="en-IT" i="1"/>
              <a:t>outcome</a:t>
            </a:r>
          </a:p>
        </p:txBody>
      </p:sp>
      <p:sp>
        <p:nvSpPr>
          <p:cNvPr id="45" name="Left Brace 44">
            <a:extLst>
              <a:ext uri="{FF2B5EF4-FFF2-40B4-BE49-F238E27FC236}">
                <a16:creationId xmlns:a16="http://schemas.microsoft.com/office/drawing/2014/main" id="{6F79B666-9C8A-C209-DD41-D5E1967B9BC4}"/>
              </a:ext>
            </a:extLst>
          </p:cNvPr>
          <p:cNvSpPr/>
          <p:nvPr/>
        </p:nvSpPr>
        <p:spPr>
          <a:xfrm rot="16200000">
            <a:off x="6036206" y="4245302"/>
            <a:ext cx="369322" cy="2732369"/>
          </a:xfrm>
          <a:prstGeom prst="leftBrace">
            <a:avLst>
              <a:gd name="adj1" fmla="val 8333"/>
              <a:gd name="adj2" fmla="val 51761"/>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T"/>
          </a:p>
        </p:txBody>
      </p:sp>
      <p:sp>
        <p:nvSpPr>
          <p:cNvPr id="46" name="TextBox 45">
            <a:extLst>
              <a:ext uri="{FF2B5EF4-FFF2-40B4-BE49-F238E27FC236}">
                <a16:creationId xmlns:a16="http://schemas.microsoft.com/office/drawing/2014/main" id="{585A0488-538A-F153-AB2D-E6FABAB3E074}"/>
              </a:ext>
            </a:extLst>
          </p:cNvPr>
          <p:cNvSpPr txBox="1"/>
          <p:nvPr/>
        </p:nvSpPr>
        <p:spPr>
          <a:xfrm>
            <a:off x="4986616" y="5746418"/>
            <a:ext cx="2468496" cy="369332"/>
          </a:xfrm>
          <a:prstGeom prst="rect">
            <a:avLst/>
          </a:prstGeom>
          <a:noFill/>
        </p:spPr>
        <p:txBody>
          <a:bodyPr wrap="none" rtlCol="0">
            <a:spAutoFit/>
          </a:bodyPr>
          <a:lstStyle/>
          <a:p>
            <a:r>
              <a:rPr lang="en-IT"/>
              <a:t>Possibly iterated K times</a:t>
            </a:r>
          </a:p>
        </p:txBody>
      </p:sp>
      <p:cxnSp>
        <p:nvCxnSpPr>
          <p:cNvPr id="48" name="Straight Connector 47">
            <a:extLst>
              <a:ext uri="{FF2B5EF4-FFF2-40B4-BE49-F238E27FC236}">
                <a16:creationId xmlns:a16="http://schemas.microsoft.com/office/drawing/2014/main" id="{851DB005-2500-8BC4-2AC0-C2F2BD48A3E6}"/>
              </a:ext>
            </a:extLst>
          </p:cNvPr>
          <p:cNvCxnSpPr/>
          <p:nvPr/>
        </p:nvCxnSpPr>
        <p:spPr>
          <a:xfrm>
            <a:off x="4300151" y="2501819"/>
            <a:ext cx="0" cy="292500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33CD4254-9073-42F9-DD13-B420EE73B037}"/>
                  </a:ext>
                </a:extLst>
              </p:cNvPr>
              <p:cNvSpPr txBox="1"/>
              <p:nvPr/>
            </p:nvSpPr>
            <p:spPr>
              <a:xfrm>
                <a:off x="4027308" y="5409527"/>
                <a:ext cx="855298" cy="4092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d>
                        <m:dPr>
                          <m:begChr m:val=""/>
                          <m:endChr m:val="⟩"/>
                          <m:ctrlPr>
                            <a:rPr lang="it-IT" b="0" i="1" smtClean="0">
                              <a:latin typeface="Cambria Math" panose="02040503050406030204" pitchFamily="18" charset="0"/>
                              <a:ea typeface="Cambria Math" panose="02040503050406030204" pitchFamily="18" charset="0"/>
                            </a:rPr>
                          </m:ctrlPr>
                        </m:dPr>
                        <m:e>
                          <m:sSub>
                            <m:sSubPr>
                              <m:ctrlPr>
                                <a:rPr lang="it-IT" b="0"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𝜓</m:t>
                              </m:r>
                            </m:e>
                            <m:sub>
                              <m:r>
                                <a:rPr lang="it-IT" b="0" i="1" smtClean="0">
                                  <a:latin typeface="Cambria Math" panose="02040503050406030204" pitchFamily="18" charset="0"/>
                                  <a:ea typeface="Cambria Math" panose="02040503050406030204" pitchFamily="18" charset="0"/>
                                </a:rPr>
                                <m:t>𝑠𝑢𝑝</m:t>
                              </m:r>
                            </m:sub>
                          </m:sSub>
                        </m:e>
                      </m:d>
                    </m:oMath>
                  </m:oMathPara>
                </a14:m>
                <a:endParaRPr lang="en-IT"/>
              </a:p>
            </p:txBody>
          </p:sp>
        </mc:Choice>
        <mc:Fallback>
          <p:sp>
            <p:nvSpPr>
              <p:cNvPr id="49" name="TextBox 48">
                <a:extLst>
                  <a:ext uri="{FF2B5EF4-FFF2-40B4-BE49-F238E27FC236}">
                    <a16:creationId xmlns:a16="http://schemas.microsoft.com/office/drawing/2014/main" id="{33CD4254-9073-42F9-DD13-B420EE73B037}"/>
                  </a:ext>
                </a:extLst>
              </p:cNvPr>
              <p:cNvSpPr txBox="1">
                <a:spLocks noRot="1" noChangeAspect="1" noMove="1" noResize="1" noEditPoints="1" noAdjustHandles="1" noChangeArrowheads="1" noChangeShapeType="1" noTextEdit="1"/>
              </p:cNvSpPr>
              <p:nvPr/>
            </p:nvSpPr>
            <p:spPr>
              <a:xfrm>
                <a:off x="4027308" y="5409527"/>
                <a:ext cx="855298" cy="409215"/>
              </a:xfrm>
              <a:prstGeom prst="rect">
                <a:avLst/>
              </a:prstGeom>
              <a:blipFill>
                <a:blip r:embed="rId7"/>
                <a:stretch>
                  <a:fillRect t="-151471" r="-68571" b="-223529"/>
                </a:stretch>
              </a:blipFill>
            </p:spPr>
            <p:txBody>
              <a:bodyPr/>
              <a:lstStyle/>
              <a:p>
                <a:r>
                  <a:rPr lang="en-US">
                    <a:noFill/>
                  </a:rPr>
                  <a:t> </a:t>
                </a:r>
              </a:p>
            </p:txBody>
          </p:sp>
        </mc:Fallback>
      </mc:AlternateContent>
      <p:sp>
        <p:nvSpPr>
          <p:cNvPr id="50" name="Left Brace 49">
            <a:extLst>
              <a:ext uri="{FF2B5EF4-FFF2-40B4-BE49-F238E27FC236}">
                <a16:creationId xmlns:a16="http://schemas.microsoft.com/office/drawing/2014/main" id="{375E2D93-1FAA-7F3B-B694-5AD0495E8C83}"/>
              </a:ext>
            </a:extLst>
          </p:cNvPr>
          <p:cNvSpPr/>
          <p:nvPr/>
        </p:nvSpPr>
        <p:spPr>
          <a:xfrm>
            <a:off x="1125616" y="2596164"/>
            <a:ext cx="95285" cy="1102587"/>
          </a:xfrm>
          <a:prstGeom prst="leftBrace">
            <a:avLst>
              <a:gd name="adj1" fmla="val 8333"/>
              <a:gd name="adj2" fmla="val 51761"/>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T"/>
          </a:p>
        </p:txBody>
      </p:sp>
      <p:sp>
        <p:nvSpPr>
          <p:cNvPr id="51" name="TextBox 50">
            <a:extLst>
              <a:ext uri="{FF2B5EF4-FFF2-40B4-BE49-F238E27FC236}">
                <a16:creationId xmlns:a16="http://schemas.microsoft.com/office/drawing/2014/main" id="{89B1E0E0-2744-1549-4928-4A01835A4F7E}"/>
              </a:ext>
            </a:extLst>
          </p:cNvPr>
          <p:cNvSpPr txBox="1"/>
          <p:nvPr/>
        </p:nvSpPr>
        <p:spPr>
          <a:xfrm>
            <a:off x="222460" y="2876830"/>
            <a:ext cx="881973" cy="646331"/>
          </a:xfrm>
          <a:prstGeom prst="rect">
            <a:avLst/>
          </a:prstGeom>
          <a:noFill/>
        </p:spPr>
        <p:txBody>
          <a:bodyPr wrap="none" rtlCol="0">
            <a:spAutoFit/>
          </a:bodyPr>
          <a:lstStyle/>
          <a:p>
            <a:r>
              <a:rPr lang="en-IT"/>
              <a:t>N input</a:t>
            </a:r>
          </a:p>
          <a:p>
            <a:r>
              <a:rPr lang="en-IT"/>
              <a:t>qubits</a:t>
            </a:r>
          </a:p>
        </p:txBody>
      </p:sp>
      <p:sp>
        <p:nvSpPr>
          <p:cNvPr id="52" name="Left Brace 51">
            <a:extLst>
              <a:ext uri="{FF2B5EF4-FFF2-40B4-BE49-F238E27FC236}">
                <a16:creationId xmlns:a16="http://schemas.microsoft.com/office/drawing/2014/main" id="{AE404269-6194-88C1-1895-D8E9D59E8F04}"/>
              </a:ext>
            </a:extLst>
          </p:cNvPr>
          <p:cNvSpPr/>
          <p:nvPr/>
        </p:nvSpPr>
        <p:spPr>
          <a:xfrm>
            <a:off x="1116012" y="4023864"/>
            <a:ext cx="95285" cy="1102587"/>
          </a:xfrm>
          <a:prstGeom prst="leftBrace">
            <a:avLst>
              <a:gd name="adj1" fmla="val 8333"/>
              <a:gd name="adj2" fmla="val 51761"/>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T"/>
          </a:p>
        </p:txBody>
      </p:sp>
      <p:sp>
        <p:nvSpPr>
          <p:cNvPr id="53" name="TextBox 52">
            <a:extLst>
              <a:ext uri="{FF2B5EF4-FFF2-40B4-BE49-F238E27FC236}">
                <a16:creationId xmlns:a16="http://schemas.microsoft.com/office/drawing/2014/main" id="{645A47A8-AE97-0E63-E453-6FC22E243A19}"/>
              </a:ext>
            </a:extLst>
          </p:cNvPr>
          <p:cNvSpPr txBox="1"/>
          <p:nvPr/>
        </p:nvSpPr>
        <p:spPr>
          <a:xfrm>
            <a:off x="126465" y="4390491"/>
            <a:ext cx="1024639" cy="369332"/>
          </a:xfrm>
          <a:prstGeom prst="rect">
            <a:avLst/>
          </a:prstGeom>
          <a:noFill/>
        </p:spPr>
        <p:txBody>
          <a:bodyPr wrap="none" rtlCol="0">
            <a:spAutoFit/>
          </a:bodyPr>
          <a:lstStyle/>
          <a:p>
            <a:r>
              <a:rPr lang="en-IT"/>
              <a:t>L ancillas</a:t>
            </a:r>
          </a:p>
        </p:txBody>
      </p:sp>
      <p:sp>
        <p:nvSpPr>
          <p:cNvPr id="54" name="TextBox 53">
            <a:extLst>
              <a:ext uri="{FF2B5EF4-FFF2-40B4-BE49-F238E27FC236}">
                <a16:creationId xmlns:a16="http://schemas.microsoft.com/office/drawing/2014/main" id="{FD097C83-FE00-5C8D-9972-E4FE023D996B}"/>
              </a:ext>
            </a:extLst>
          </p:cNvPr>
          <p:cNvSpPr txBox="1"/>
          <p:nvPr/>
        </p:nvSpPr>
        <p:spPr>
          <a:xfrm>
            <a:off x="975587" y="6115369"/>
            <a:ext cx="3324564" cy="369332"/>
          </a:xfrm>
          <a:prstGeom prst="rect">
            <a:avLst/>
          </a:prstGeom>
          <a:noFill/>
        </p:spPr>
        <p:txBody>
          <a:bodyPr wrap="none" rtlCol="0">
            <a:spAutoFit/>
          </a:bodyPr>
          <a:lstStyle/>
          <a:p>
            <a:r>
              <a:rPr lang="en-IT"/>
              <a:t>A superposition of all input states</a:t>
            </a:r>
          </a:p>
        </p:txBody>
      </p:sp>
      <p:cxnSp>
        <p:nvCxnSpPr>
          <p:cNvPr id="56" name="Curved Connector 55">
            <a:extLst>
              <a:ext uri="{FF2B5EF4-FFF2-40B4-BE49-F238E27FC236}">
                <a16:creationId xmlns:a16="http://schemas.microsoft.com/office/drawing/2014/main" id="{2F8B3A80-7158-9CBF-8CCB-D5CA35461D58}"/>
              </a:ext>
            </a:extLst>
          </p:cNvPr>
          <p:cNvCxnSpPr>
            <a:stCxn id="54" idx="0"/>
            <a:endCxn id="49" idx="1"/>
          </p:cNvCxnSpPr>
          <p:nvPr/>
        </p:nvCxnSpPr>
        <p:spPr>
          <a:xfrm rot="5400000" flipH="1" flipV="1">
            <a:off x="3081971" y="5170033"/>
            <a:ext cx="501234" cy="1389439"/>
          </a:xfrm>
          <a:prstGeom prst="curved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826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FD9B8-BAAD-C7AC-0AAB-B7AB91430077}"/>
              </a:ext>
            </a:extLst>
          </p:cNvPr>
          <p:cNvSpPr>
            <a:spLocks noGrp="1"/>
          </p:cNvSpPr>
          <p:nvPr>
            <p:ph type="title"/>
          </p:nvPr>
        </p:nvSpPr>
        <p:spPr/>
        <p:txBody>
          <a:bodyPr/>
          <a:lstStyle/>
          <a:p>
            <a:r>
              <a:rPr lang="en-IT"/>
              <a:t>Quantum Algorithm Complexity</a:t>
            </a:r>
          </a:p>
        </p:txBody>
      </p:sp>
      <p:sp>
        <p:nvSpPr>
          <p:cNvPr id="3" name="Content Placeholder 2">
            <a:extLst>
              <a:ext uri="{FF2B5EF4-FFF2-40B4-BE49-F238E27FC236}">
                <a16:creationId xmlns:a16="http://schemas.microsoft.com/office/drawing/2014/main" id="{411A4980-7D29-A82F-5B55-DB61E0949A14}"/>
              </a:ext>
            </a:extLst>
          </p:cNvPr>
          <p:cNvSpPr>
            <a:spLocks noGrp="1"/>
          </p:cNvSpPr>
          <p:nvPr>
            <p:ph idx="1"/>
          </p:nvPr>
        </p:nvSpPr>
        <p:spPr>
          <a:xfrm>
            <a:off x="296565" y="2206380"/>
            <a:ext cx="6820927" cy="2968797"/>
          </a:xfrm>
        </p:spPr>
        <p:txBody>
          <a:bodyPr/>
          <a:lstStyle/>
          <a:p>
            <a:r>
              <a:rPr lang="en-IT"/>
              <a:t>The complexity of a quantum algorithm is computed as the number of atomic gates necessary to realize U</a:t>
            </a:r>
            <a:r>
              <a:rPr lang="en-IT" i="1" baseline="-25000"/>
              <a:t>f  </a:t>
            </a:r>
            <a:r>
              <a:rPr lang="en-IT"/>
              <a:t>w.r.t. the number of inputs N (i.e. the size of the problem)</a:t>
            </a:r>
          </a:p>
        </p:txBody>
      </p:sp>
      <p:sp>
        <p:nvSpPr>
          <p:cNvPr id="4" name="Rectangle 3">
            <a:extLst>
              <a:ext uri="{FF2B5EF4-FFF2-40B4-BE49-F238E27FC236}">
                <a16:creationId xmlns:a16="http://schemas.microsoft.com/office/drawing/2014/main" id="{06C29288-E0D5-A76B-F98A-F1D875344866}"/>
              </a:ext>
            </a:extLst>
          </p:cNvPr>
          <p:cNvSpPr/>
          <p:nvPr/>
        </p:nvSpPr>
        <p:spPr>
          <a:xfrm>
            <a:off x="7696736" y="2324594"/>
            <a:ext cx="2732370" cy="273237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sz="3200">
                <a:solidFill>
                  <a:schemeClr val="tx1"/>
                </a:solidFill>
              </a:rPr>
              <a:t>U</a:t>
            </a:r>
            <a:r>
              <a:rPr lang="en-IT" sz="3200" i="1" baseline="-25000">
                <a:solidFill>
                  <a:schemeClr val="tx1"/>
                </a:solidFill>
              </a:rPr>
              <a:t>f</a:t>
            </a:r>
            <a:endParaRPr lang="en-IT" sz="3200">
              <a:solidFill>
                <a:schemeClr val="tx1"/>
              </a:solidFill>
            </a:endParaRPr>
          </a:p>
        </p:txBody>
      </p:sp>
      <p:sp>
        <p:nvSpPr>
          <p:cNvPr id="5" name="Left Brace 4">
            <a:extLst>
              <a:ext uri="{FF2B5EF4-FFF2-40B4-BE49-F238E27FC236}">
                <a16:creationId xmlns:a16="http://schemas.microsoft.com/office/drawing/2014/main" id="{466753CE-33B6-BF4B-890F-B929F1E43936}"/>
              </a:ext>
            </a:extLst>
          </p:cNvPr>
          <p:cNvSpPr/>
          <p:nvPr/>
        </p:nvSpPr>
        <p:spPr>
          <a:xfrm rot="16200000">
            <a:off x="8878260" y="4035237"/>
            <a:ext cx="369322" cy="2732369"/>
          </a:xfrm>
          <a:prstGeom prst="leftBrace">
            <a:avLst>
              <a:gd name="adj1" fmla="val 8333"/>
              <a:gd name="adj2" fmla="val 51761"/>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T"/>
          </a:p>
        </p:txBody>
      </p:sp>
      <p:sp>
        <p:nvSpPr>
          <p:cNvPr id="6" name="TextBox 5">
            <a:extLst>
              <a:ext uri="{FF2B5EF4-FFF2-40B4-BE49-F238E27FC236}">
                <a16:creationId xmlns:a16="http://schemas.microsoft.com/office/drawing/2014/main" id="{4F246674-13DA-262D-AB97-2964814F64A0}"/>
              </a:ext>
            </a:extLst>
          </p:cNvPr>
          <p:cNvSpPr txBox="1"/>
          <p:nvPr/>
        </p:nvSpPr>
        <p:spPr>
          <a:xfrm>
            <a:off x="7828670" y="5536353"/>
            <a:ext cx="2468496" cy="369332"/>
          </a:xfrm>
          <a:prstGeom prst="rect">
            <a:avLst/>
          </a:prstGeom>
          <a:noFill/>
        </p:spPr>
        <p:txBody>
          <a:bodyPr wrap="none" rtlCol="0">
            <a:spAutoFit/>
          </a:bodyPr>
          <a:lstStyle/>
          <a:p>
            <a:r>
              <a:rPr lang="en-IT"/>
              <a:t>Possibly iterated K times</a:t>
            </a:r>
          </a:p>
        </p:txBody>
      </p:sp>
    </p:spTree>
    <p:extLst>
      <p:ext uri="{BB962C8B-B14F-4D97-AF65-F5344CB8AC3E}">
        <p14:creationId xmlns:p14="http://schemas.microsoft.com/office/powerpoint/2010/main" val="3516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352F-DCE7-224A-B8C8-E48EC94F517E}"/>
              </a:ext>
            </a:extLst>
          </p:cNvPr>
          <p:cNvSpPr>
            <a:spLocks noGrp="1"/>
          </p:cNvSpPr>
          <p:nvPr>
            <p:ph type="title"/>
          </p:nvPr>
        </p:nvSpPr>
        <p:spPr/>
        <p:txBody>
          <a:bodyPr/>
          <a:lstStyle/>
          <a:p>
            <a:r>
              <a:rPr lang="en-IT"/>
              <a:t>How to run quantum circuits</a:t>
            </a:r>
          </a:p>
        </p:txBody>
      </p:sp>
      <p:graphicFrame>
        <p:nvGraphicFramePr>
          <p:cNvPr id="18" name="Content Placeholder 17">
            <a:extLst>
              <a:ext uri="{FF2B5EF4-FFF2-40B4-BE49-F238E27FC236}">
                <a16:creationId xmlns:a16="http://schemas.microsoft.com/office/drawing/2014/main" id="{CD4B8265-EC28-E54E-A98F-0E66F7C6E65A}"/>
              </a:ext>
            </a:extLst>
          </p:cNvPr>
          <p:cNvGraphicFramePr>
            <a:graphicFrameLocks noGrp="1"/>
          </p:cNvGraphicFramePr>
          <p:nvPr>
            <p:ph idx="1"/>
            <p:extLst>
              <p:ext uri="{D42A27DB-BD31-4B8C-83A1-F6EECF244321}">
                <p14:modId xmlns:p14="http://schemas.microsoft.com/office/powerpoint/2010/main" val="3971955531"/>
              </p:ext>
            </p:extLst>
          </p:nvPr>
        </p:nvGraphicFramePr>
        <p:xfrm>
          <a:off x="308921" y="1825625"/>
          <a:ext cx="1157828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1756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0AF71-983E-FD4D-A28E-39282F1CECD0}"/>
              </a:ext>
            </a:extLst>
          </p:cNvPr>
          <p:cNvSpPr>
            <a:spLocks noGrp="1"/>
          </p:cNvSpPr>
          <p:nvPr>
            <p:ph type="title"/>
          </p:nvPr>
        </p:nvSpPr>
        <p:spPr/>
        <p:txBody>
          <a:bodyPr/>
          <a:lstStyle/>
          <a:p>
            <a:r>
              <a:rPr lang="en-IT"/>
              <a:t>Classical simulators</a:t>
            </a:r>
          </a:p>
        </p:txBody>
      </p:sp>
      <p:sp>
        <p:nvSpPr>
          <p:cNvPr id="3" name="Content Placeholder 2">
            <a:extLst>
              <a:ext uri="{FF2B5EF4-FFF2-40B4-BE49-F238E27FC236}">
                <a16:creationId xmlns:a16="http://schemas.microsoft.com/office/drawing/2014/main" id="{885EFB37-4254-B74A-BC2B-486ACF13989E}"/>
              </a:ext>
            </a:extLst>
          </p:cNvPr>
          <p:cNvSpPr>
            <a:spLocks noGrp="1"/>
          </p:cNvSpPr>
          <p:nvPr>
            <p:ph idx="1"/>
          </p:nvPr>
        </p:nvSpPr>
        <p:spPr>
          <a:xfrm>
            <a:off x="306859" y="1835564"/>
            <a:ext cx="11578281" cy="4351338"/>
          </a:xfrm>
        </p:spPr>
        <p:txBody>
          <a:bodyPr/>
          <a:lstStyle/>
          <a:p>
            <a:r>
              <a:rPr lang="en-IT"/>
              <a:t>Simulators are the simplest backend for quantum programs. They are classical computers reproducing the behaviour of a quantum device.</a:t>
            </a:r>
          </a:p>
          <a:p>
            <a:r>
              <a:rPr lang="en-GB"/>
              <a:t>Since quantum operations have exponential complexity if performed on a classical device, tests on simulators cannot include more than a limited number of qubits. </a:t>
            </a:r>
          </a:p>
          <a:p>
            <a:pPr>
              <a:buFont typeface="Wingdings" pitchFamily="2" charset="2"/>
              <a:buChar char="ü"/>
            </a:pPr>
            <a:r>
              <a:rPr lang="en-GB">
                <a:solidFill>
                  <a:schemeClr val="accent6">
                    <a:lumMod val="75000"/>
                  </a:schemeClr>
                </a:solidFill>
              </a:rPr>
              <a:t>Pros: Easily accessible, can test quantum algorithms without any noise.</a:t>
            </a:r>
          </a:p>
          <a:p>
            <a:pPr>
              <a:buFont typeface="Wingdings" pitchFamily="2" charset="2"/>
              <a:buChar char="ü"/>
            </a:pPr>
            <a:r>
              <a:rPr lang="en-GB">
                <a:solidFill>
                  <a:srgbClr val="C00000"/>
                </a:solidFill>
              </a:rPr>
              <a:t>Cons: Computationally very heavy.</a:t>
            </a:r>
          </a:p>
        </p:txBody>
      </p:sp>
    </p:spTree>
    <p:extLst>
      <p:ext uri="{BB962C8B-B14F-4D97-AF65-F5344CB8AC3E}">
        <p14:creationId xmlns:p14="http://schemas.microsoft.com/office/powerpoint/2010/main" val="2982912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412F7-1B99-726D-44E0-A896D63F5A27}"/>
              </a:ext>
            </a:extLst>
          </p:cNvPr>
          <p:cNvSpPr>
            <a:spLocks noGrp="1"/>
          </p:cNvSpPr>
          <p:nvPr>
            <p:ph type="title"/>
          </p:nvPr>
        </p:nvSpPr>
        <p:spPr/>
        <p:txBody>
          <a:bodyPr/>
          <a:lstStyle/>
          <a:p>
            <a:r>
              <a:rPr lang="en-IT"/>
              <a:t>Real Quantum Computers</a:t>
            </a:r>
          </a:p>
        </p:txBody>
      </p:sp>
      <p:sp>
        <p:nvSpPr>
          <p:cNvPr id="3" name="Content Placeholder 2">
            <a:extLst>
              <a:ext uri="{FF2B5EF4-FFF2-40B4-BE49-F238E27FC236}">
                <a16:creationId xmlns:a16="http://schemas.microsoft.com/office/drawing/2014/main" id="{028E1C66-DEC8-C74B-95BE-88BF345B1101}"/>
              </a:ext>
            </a:extLst>
          </p:cNvPr>
          <p:cNvSpPr>
            <a:spLocks noGrp="1"/>
          </p:cNvSpPr>
          <p:nvPr>
            <p:ph idx="1"/>
          </p:nvPr>
        </p:nvSpPr>
        <p:spPr/>
        <p:txBody>
          <a:bodyPr/>
          <a:lstStyle/>
          <a:p>
            <a:pPr>
              <a:buFont typeface="Wingdings" pitchFamily="2" charset="2"/>
              <a:buChar char="ü"/>
            </a:pPr>
            <a:r>
              <a:rPr lang="en-GB">
                <a:solidFill>
                  <a:schemeClr val="accent6">
                    <a:lumMod val="75000"/>
                  </a:schemeClr>
                </a:solidFill>
              </a:rPr>
              <a:t>Pros: Real quantum hardware. Algorithms are tested on their native platform.</a:t>
            </a:r>
          </a:p>
          <a:p>
            <a:pPr>
              <a:buFont typeface="Wingdings" pitchFamily="2" charset="2"/>
              <a:buChar char="ü"/>
            </a:pPr>
            <a:r>
              <a:rPr lang="en-GB">
                <a:solidFill>
                  <a:srgbClr val="C00000"/>
                </a:solidFill>
              </a:rPr>
              <a:t>Cons: Currently very noisy (NISQ era). Queues to access a capable quantum computer can take up to a few hours.</a:t>
            </a:r>
          </a:p>
          <a:p>
            <a:r>
              <a:rPr lang="en-GB"/>
              <a:t>Main companies in this field:</a:t>
            </a:r>
          </a:p>
          <a:p>
            <a:pPr marL="0" indent="0">
              <a:buNone/>
            </a:pPr>
            <a:endParaRPr lang="en-IT"/>
          </a:p>
        </p:txBody>
      </p:sp>
      <p:pic>
        <p:nvPicPr>
          <p:cNvPr id="4" name="Picture 3">
            <a:extLst>
              <a:ext uri="{FF2B5EF4-FFF2-40B4-BE49-F238E27FC236}">
                <a16:creationId xmlns:a16="http://schemas.microsoft.com/office/drawing/2014/main" id="{A7714074-4206-ABDF-B422-71BAC2123AF3}"/>
              </a:ext>
            </a:extLst>
          </p:cNvPr>
          <p:cNvPicPr>
            <a:picLocks noChangeAspect="1"/>
          </p:cNvPicPr>
          <p:nvPr/>
        </p:nvPicPr>
        <p:blipFill rotWithShape="1">
          <a:blip r:embed="rId2"/>
          <a:srcRect l="4794" t="26087" r="8025" b="28094"/>
          <a:stretch/>
        </p:blipFill>
        <p:spPr>
          <a:xfrm>
            <a:off x="0" y="4373217"/>
            <a:ext cx="2590860" cy="1361662"/>
          </a:xfrm>
          <a:prstGeom prst="rect">
            <a:avLst/>
          </a:prstGeom>
        </p:spPr>
      </p:pic>
      <p:pic>
        <p:nvPicPr>
          <p:cNvPr id="3074" name="Picture 2" descr="Rigetti Computing - Wikipedia">
            <a:extLst>
              <a:ext uri="{FF2B5EF4-FFF2-40B4-BE49-F238E27FC236}">
                <a16:creationId xmlns:a16="http://schemas.microsoft.com/office/drawing/2014/main" id="{DB18B2F3-AE0F-84DA-B44D-8B14B053C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0353" y="4710431"/>
            <a:ext cx="1954073" cy="68723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onQ - Wikipedia">
            <a:extLst>
              <a:ext uri="{FF2B5EF4-FFF2-40B4-BE49-F238E27FC236}">
                <a16:creationId xmlns:a16="http://schemas.microsoft.com/office/drawing/2014/main" id="{436F5D99-12CE-AA52-4036-0BC7087506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6599" y="4602533"/>
            <a:ext cx="2336836" cy="79513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Google Quantum Computing Logo">
            <a:extLst>
              <a:ext uri="{FF2B5EF4-FFF2-40B4-BE49-F238E27FC236}">
                <a16:creationId xmlns:a16="http://schemas.microsoft.com/office/drawing/2014/main" id="{AC685690-9CB2-EE4E-4894-6E0D284B07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2929" y="4546017"/>
            <a:ext cx="2520150" cy="908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179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BF36C-5FBE-72ED-399D-637F5B065B23}"/>
              </a:ext>
            </a:extLst>
          </p:cNvPr>
          <p:cNvSpPr>
            <a:spLocks noGrp="1"/>
          </p:cNvSpPr>
          <p:nvPr>
            <p:ph type="title"/>
          </p:nvPr>
        </p:nvSpPr>
        <p:spPr/>
        <p:txBody>
          <a:bodyPr/>
          <a:lstStyle/>
          <a:p>
            <a:r>
              <a:rPr lang="en-IT"/>
              <a:t>IBM Quantum Experience</a:t>
            </a:r>
          </a:p>
        </p:txBody>
      </p:sp>
      <p:sp>
        <p:nvSpPr>
          <p:cNvPr id="3" name="Content Placeholder 2">
            <a:extLst>
              <a:ext uri="{FF2B5EF4-FFF2-40B4-BE49-F238E27FC236}">
                <a16:creationId xmlns:a16="http://schemas.microsoft.com/office/drawing/2014/main" id="{2E72DA1D-9276-7DCC-54E8-E4F29A9B2FA2}"/>
              </a:ext>
            </a:extLst>
          </p:cNvPr>
          <p:cNvSpPr>
            <a:spLocks noGrp="1"/>
          </p:cNvSpPr>
          <p:nvPr>
            <p:ph idx="1"/>
          </p:nvPr>
        </p:nvSpPr>
        <p:spPr>
          <a:xfrm>
            <a:off x="4969566" y="1825625"/>
            <a:ext cx="6917636" cy="4592657"/>
          </a:xfrm>
        </p:spPr>
        <p:txBody>
          <a:bodyPr>
            <a:normAutofit fontScale="92500" lnSpcReduction="10000"/>
          </a:bodyPr>
          <a:lstStyle/>
          <a:p>
            <a:r>
              <a:rPr lang="en-IT"/>
              <a:t>IBM offers a cloud of real quantum computers and classical simulators called IBM-Q.</a:t>
            </a:r>
          </a:p>
          <a:p>
            <a:r>
              <a:rPr lang="en-IT"/>
              <a:t>This cloud can be accessed by all users, but only IBM official partners have access to the most powerful quantum devices.</a:t>
            </a:r>
          </a:p>
          <a:p>
            <a:r>
              <a:rPr lang="en-IT"/>
              <a:t>The capabilities of a device in the IBM-Q cloud are measured by a value called </a:t>
            </a:r>
            <a:r>
              <a:rPr lang="en-IT" i="1"/>
              <a:t>Quantum Volume</a:t>
            </a:r>
            <a:r>
              <a:rPr lang="en-IT"/>
              <a:t> (</a:t>
            </a:r>
            <a:r>
              <a:rPr lang="en-IT" b="1"/>
              <a:t>QV</a:t>
            </a:r>
            <a:r>
              <a:rPr lang="en-IT"/>
              <a:t>), which takes into account the number of qubits supported by the device and the noise parameters.</a:t>
            </a:r>
          </a:p>
          <a:p>
            <a:r>
              <a:rPr lang="en-IT"/>
              <a:t>Regular users can access quantum computers with up to 5 qubits and QV=32.</a:t>
            </a:r>
          </a:p>
        </p:txBody>
      </p:sp>
      <p:pic>
        <p:nvPicPr>
          <p:cNvPr id="4098" name="Picture 2" descr="The IBM Q Network: Organizations Collaborate on Quantum Goals">
            <a:extLst>
              <a:ext uri="{FF2B5EF4-FFF2-40B4-BE49-F238E27FC236}">
                <a16:creationId xmlns:a16="http://schemas.microsoft.com/office/drawing/2014/main" id="{759B1BFF-F6F3-FB71-3205-30D43D697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659" y="1954833"/>
            <a:ext cx="4078063" cy="44634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914CC6-E56A-2773-D22F-201AD3F9BC48}"/>
              </a:ext>
            </a:extLst>
          </p:cNvPr>
          <p:cNvSpPr txBox="1"/>
          <p:nvPr/>
        </p:nvSpPr>
        <p:spPr>
          <a:xfrm>
            <a:off x="603267" y="6418282"/>
            <a:ext cx="1319400" cy="369332"/>
          </a:xfrm>
          <a:prstGeom prst="rect">
            <a:avLst/>
          </a:prstGeom>
          <a:noFill/>
        </p:spPr>
        <p:txBody>
          <a:bodyPr wrap="none" rtlCol="0">
            <a:spAutoFit/>
          </a:bodyPr>
          <a:lstStyle/>
          <a:p>
            <a:r>
              <a:rPr lang="en-IT" i="1"/>
              <a:t>Source: </a:t>
            </a:r>
            <a:r>
              <a:rPr lang="en-IT" i="1">
                <a:hlinkClick r:id="rId3"/>
              </a:rPr>
              <a:t>IBM</a:t>
            </a:r>
            <a:endParaRPr lang="en-IT" i="1"/>
          </a:p>
        </p:txBody>
      </p:sp>
    </p:spTree>
    <p:extLst>
      <p:ext uri="{BB962C8B-B14F-4D97-AF65-F5344CB8AC3E}">
        <p14:creationId xmlns:p14="http://schemas.microsoft.com/office/powerpoint/2010/main" val="3724660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773C9E-8A35-43B2-92F3-EE864B2A49AA}"/>
              </a:ext>
            </a:extLst>
          </p:cNvPr>
          <p:cNvSpPr>
            <a:spLocks noGrp="1"/>
          </p:cNvSpPr>
          <p:nvPr>
            <p:ph type="title"/>
          </p:nvPr>
        </p:nvSpPr>
        <p:spPr/>
        <p:txBody>
          <a:bodyPr/>
          <a:lstStyle/>
          <a:p>
            <a:r>
              <a:rPr lang="en-IT"/>
              <a:t>Introduction to Qiskit</a:t>
            </a:r>
          </a:p>
        </p:txBody>
      </p:sp>
      <p:sp>
        <p:nvSpPr>
          <p:cNvPr id="5" name="Text Placeholder 4">
            <a:extLst>
              <a:ext uri="{FF2B5EF4-FFF2-40B4-BE49-F238E27FC236}">
                <a16:creationId xmlns:a16="http://schemas.microsoft.com/office/drawing/2014/main" id="{59268634-B28B-6F57-4676-BFCB4CE07462}"/>
              </a:ext>
            </a:extLst>
          </p:cNvPr>
          <p:cNvSpPr>
            <a:spLocks noGrp="1"/>
          </p:cNvSpPr>
          <p:nvPr>
            <p:ph type="body" idx="1"/>
          </p:nvPr>
        </p:nvSpPr>
        <p:spPr/>
        <p:txBody>
          <a:bodyPr/>
          <a:lstStyle/>
          <a:p>
            <a:r>
              <a:rPr lang="en-GB"/>
              <a:t>An open-source SDK for working with quantum computers</a:t>
            </a:r>
            <a:endParaRPr lang="en-IT"/>
          </a:p>
        </p:txBody>
      </p:sp>
    </p:spTree>
    <p:extLst>
      <p:ext uri="{BB962C8B-B14F-4D97-AF65-F5344CB8AC3E}">
        <p14:creationId xmlns:p14="http://schemas.microsoft.com/office/powerpoint/2010/main" val="2234567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1E5DB3-61D6-289F-3057-2527E20101EF}"/>
              </a:ext>
            </a:extLst>
          </p:cNvPr>
          <p:cNvSpPr>
            <a:spLocks noGrp="1"/>
          </p:cNvSpPr>
          <p:nvPr>
            <p:ph type="title"/>
          </p:nvPr>
        </p:nvSpPr>
        <p:spPr/>
        <p:txBody>
          <a:bodyPr/>
          <a:lstStyle/>
          <a:p>
            <a:r>
              <a:rPr lang="en-IT"/>
              <a:t>Introduction to Qiskit</a:t>
            </a:r>
          </a:p>
        </p:txBody>
      </p:sp>
      <p:sp>
        <p:nvSpPr>
          <p:cNvPr id="5" name="Content Placeholder 4">
            <a:extLst>
              <a:ext uri="{FF2B5EF4-FFF2-40B4-BE49-F238E27FC236}">
                <a16:creationId xmlns:a16="http://schemas.microsoft.com/office/drawing/2014/main" id="{EDBD565A-8681-350A-B734-ABA8D85F1133}"/>
              </a:ext>
            </a:extLst>
          </p:cNvPr>
          <p:cNvSpPr>
            <a:spLocks noGrp="1"/>
          </p:cNvSpPr>
          <p:nvPr>
            <p:ph idx="1"/>
          </p:nvPr>
        </p:nvSpPr>
        <p:spPr/>
        <p:txBody>
          <a:bodyPr/>
          <a:lstStyle/>
          <a:p>
            <a:r>
              <a:rPr lang="en-IT"/>
              <a:t>Qiskit is an open-source </a:t>
            </a:r>
            <a:r>
              <a:rPr lang="en-GB"/>
              <a:t>software framework (on Python) for working with quantum computers at the level of circuit, pulses and algorithms. </a:t>
            </a:r>
          </a:p>
          <a:p>
            <a:r>
              <a:rPr lang="en-GB"/>
              <a:t>It also allows to build domain specific APIs on top of its modules abstracting the underlying complexity.</a:t>
            </a:r>
          </a:p>
          <a:p>
            <a:r>
              <a:rPr lang="en-IT"/>
              <a:t>It’s built on top of </a:t>
            </a:r>
            <a:r>
              <a:rPr lang="en-IT" i="1"/>
              <a:t>OpenQASM</a:t>
            </a:r>
            <a:r>
              <a:rPr lang="en-IT"/>
              <a:t>, the most popular </a:t>
            </a:r>
            <a:r>
              <a:rPr lang="en-IT" b="1"/>
              <a:t>assembly language </a:t>
            </a:r>
            <a:r>
              <a:rPr lang="en-IT"/>
              <a:t>for quantum computers (I told you they are like mainframes!).</a:t>
            </a:r>
          </a:p>
          <a:p>
            <a:r>
              <a:rPr lang="en-IT"/>
              <a:t>IBM-Q can be accessed directly from Qiskit.</a:t>
            </a:r>
          </a:p>
        </p:txBody>
      </p:sp>
    </p:spTree>
    <p:extLst>
      <p:ext uri="{BB962C8B-B14F-4D97-AF65-F5344CB8AC3E}">
        <p14:creationId xmlns:p14="http://schemas.microsoft.com/office/powerpoint/2010/main" val="26393100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ED156-2E79-141B-0D84-246B96D24915}"/>
              </a:ext>
            </a:extLst>
          </p:cNvPr>
          <p:cNvSpPr>
            <a:spLocks noGrp="1"/>
          </p:cNvSpPr>
          <p:nvPr>
            <p:ph type="title"/>
          </p:nvPr>
        </p:nvSpPr>
        <p:spPr/>
        <p:txBody>
          <a:bodyPr/>
          <a:lstStyle/>
          <a:p>
            <a:r>
              <a:rPr lang="en-IT"/>
              <a:t>Roadmap</a:t>
            </a:r>
          </a:p>
        </p:txBody>
      </p:sp>
      <p:graphicFrame>
        <p:nvGraphicFramePr>
          <p:cNvPr id="5" name="Content Placeholder 4">
            <a:extLst>
              <a:ext uri="{FF2B5EF4-FFF2-40B4-BE49-F238E27FC236}">
                <a16:creationId xmlns:a16="http://schemas.microsoft.com/office/drawing/2014/main" id="{F2DB4F9E-0948-F0C8-05D1-A03152AFD930}"/>
              </a:ext>
            </a:extLst>
          </p:cNvPr>
          <p:cNvGraphicFramePr>
            <a:graphicFrameLocks noGrp="1"/>
          </p:cNvGraphicFramePr>
          <p:nvPr>
            <p:ph idx="1"/>
            <p:extLst>
              <p:ext uri="{D42A27DB-BD31-4B8C-83A1-F6EECF244321}">
                <p14:modId xmlns:p14="http://schemas.microsoft.com/office/powerpoint/2010/main" val="4049659490"/>
              </p:ext>
            </p:extLst>
          </p:nvPr>
        </p:nvGraphicFramePr>
        <p:xfrm>
          <a:off x="308921" y="1825625"/>
          <a:ext cx="1157828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11610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CFF43-65B5-E004-5006-AF11E8F99C94}"/>
              </a:ext>
            </a:extLst>
          </p:cNvPr>
          <p:cNvSpPr>
            <a:spLocks noGrp="1"/>
          </p:cNvSpPr>
          <p:nvPr>
            <p:ph type="title"/>
          </p:nvPr>
        </p:nvSpPr>
        <p:spPr/>
        <p:txBody>
          <a:bodyPr/>
          <a:lstStyle/>
          <a:p>
            <a:r>
              <a:rPr lang="en-IT"/>
              <a:t>Qiskit structure</a:t>
            </a:r>
          </a:p>
        </p:txBody>
      </p:sp>
      <p:sp>
        <p:nvSpPr>
          <p:cNvPr id="3" name="Content Placeholder 2">
            <a:extLst>
              <a:ext uri="{FF2B5EF4-FFF2-40B4-BE49-F238E27FC236}">
                <a16:creationId xmlns:a16="http://schemas.microsoft.com/office/drawing/2014/main" id="{2FFF26E8-BB75-CC1C-54CD-07932170084B}"/>
              </a:ext>
            </a:extLst>
          </p:cNvPr>
          <p:cNvSpPr>
            <a:spLocks noGrp="1"/>
          </p:cNvSpPr>
          <p:nvPr>
            <p:ph idx="1"/>
          </p:nvPr>
        </p:nvSpPr>
        <p:spPr>
          <a:xfrm>
            <a:off x="308921" y="1825624"/>
            <a:ext cx="11578281" cy="4595053"/>
          </a:xfrm>
        </p:spPr>
        <p:txBody>
          <a:bodyPr>
            <a:normAutofit lnSpcReduction="10000"/>
          </a:bodyPr>
          <a:lstStyle/>
          <a:p>
            <a:r>
              <a:rPr lang="en-GB"/>
              <a:t>On top of </a:t>
            </a:r>
            <a:r>
              <a:rPr lang="en-GB" i="1" err="1"/>
              <a:t>OpenQASM</a:t>
            </a:r>
            <a:r>
              <a:rPr lang="en-GB"/>
              <a:t>, </a:t>
            </a:r>
            <a:r>
              <a:rPr lang="en-GB" err="1"/>
              <a:t>Qiskit</a:t>
            </a:r>
            <a:r>
              <a:rPr lang="en-GB"/>
              <a:t> has built a high level, open source framework comprehensive of four main software modules, each responsible for a different layer of quantum software development: </a:t>
            </a:r>
          </a:p>
          <a:p>
            <a:pPr marL="514350" indent="-514350">
              <a:buFont typeface="+mj-lt"/>
              <a:buAutoNum type="arabicPeriod"/>
            </a:pPr>
            <a:r>
              <a:rPr lang="en-IT" b="1"/>
              <a:t>Terra</a:t>
            </a:r>
            <a:r>
              <a:rPr lang="en-IT"/>
              <a:t>: </a:t>
            </a:r>
            <a:r>
              <a:rPr lang="en-GB"/>
              <a:t>This module is </a:t>
            </a:r>
            <a:r>
              <a:rPr lang="en-GB" err="1"/>
              <a:t>Qiskit</a:t>
            </a:r>
            <a:r>
              <a:rPr lang="en-GB"/>
              <a:t> skeleton for building quantum circuits. </a:t>
            </a:r>
          </a:p>
          <a:p>
            <a:pPr marL="514350" indent="-514350">
              <a:buFont typeface="+mj-lt"/>
              <a:buAutoNum type="arabicPeriod"/>
            </a:pPr>
            <a:r>
              <a:rPr lang="en-IT" b="1"/>
              <a:t>Aer</a:t>
            </a:r>
            <a:r>
              <a:rPr lang="en-IT"/>
              <a:t>: </a:t>
            </a:r>
            <a:r>
              <a:rPr lang="en-GB"/>
              <a:t>A high performance simulator framework for the </a:t>
            </a:r>
            <a:r>
              <a:rPr lang="en-GB" err="1"/>
              <a:t>Qiskit</a:t>
            </a:r>
            <a:r>
              <a:rPr lang="en-GB"/>
              <a:t> software stack. It contains optimized C++ simulator backends for executing compiled circuits.</a:t>
            </a:r>
          </a:p>
          <a:p>
            <a:pPr marL="514350" indent="-514350">
              <a:buFont typeface="+mj-lt"/>
              <a:buAutoNum type="arabicPeriod"/>
            </a:pPr>
            <a:r>
              <a:rPr lang="en-GB" b="1"/>
              <a:t>Ignis</a:t>
            </a:r>
            <a:r>
              <a:rPr lang="en-GB"/>
              <a:t>: An advanced framework to perform experiments involving noise characterization and mitigation in quantum devices.</a:t>
            </a:r>
          </a:p>
          <a:p>
            <a:pPr marL="514350" indent="-514350">
              <a:buFont typeface="+mj-lt"/>
              <a:buAutoNum type="arabicPeriod"/>
            </a:pPr>
            <a:r>
              <a:rPr lang="en-GB" b="1"/>
              <a:t>Aqua</a:t>
            </a:r>
            <a:r>
              <a:rPr lang="en-GB"/>
              <a:t>: It allows users to work at a higher level </a:t>
            </a:r>
            <a:r>
              <a:rPr lang="en-GB" err="1"/>
              <a:t>w.r.t.</a:t>
            </a:r>
            <a:r>
              <a:rPr lang="en-GB"/>
              <a:t> Terra, and deploy well-known quantum algorithms implementations in any custom application. </a:t>
            </a:r>
          </a:p>
        </p:txBody>
      </p:sp>
    </p:spTree>
    <p:extLst>
      <p:ext uri="{BB962C8B-B14F-4D97-AF65-F5344CB8AC3E}">
        <p14:creationId xmlns:p14="http://schemas.microsoft.com/office/powerpoint/2010/main" val="2264756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9387B-C62A-1E04-CF34-58807905268C}"/>
              </a:ext>
            </a:extLst>
          </p:cNvPr>
          <p:cNvSpPr>
            <a:spLocks noGrp="1"/>
          </p:cNvSpPr>
          <p:nvPr>
            <p:ph type="title"/>
          </p:nvPr>
        </p:nvSpPr>
        <p:spPr/>
        <p:txBody>
          <a:bodyPr/>
          <a:lstStyle/>
          <a:p>
            <a:r>
              <a:rPr lang="en-IT"/>
              <a:t>Qiskit installation tutorial</a:t>
            </a:r>
          </a:p>
        </p:txBody>
      </p:sp>
      <p:sp>
        <p:nvSpPr>
          <p:cNvPr id="3" name="Content Placeholder 2">
            <a:extLst>
              <a:ext uri="{FF2B5EF4-FFF2-40B4-BE49-F238E27FC236}">
                <a16:creationId xmlns:a16="http://schemas.microsoft.com/office/drawing/2014/main" id="{9D45307C-AAB4-E202-859A-EFD4B858811C}"/>
              </a:ext>
            </a:extLst>
          </p:cNvPr>
          <p:cNvSpPr>
            <a:spLocks noGrp="1"/>
          </p:cNvSpPr>
          <p:nvPr>
            <p:ph idx="1"/>
          </p:nvPr>
        </p:nvSpPr>
        <p:spPr/>
        <p:txBody>
          <a:bodyPr/>
          <a:lstStyle/>
          <a:p>
            <a:r>
              <a:rPr lang="en-IT"/>
              <a:t>Qiskit is a Python framework. To ensure modularity and isolation we will install it into a virtual environment.</a:t>
            </a:r>
          </a:p>
          <a:p>
            <a:r>
              <a:rPr lang="en-IT"/>
              <a:t>First of all, install Miniconda (a lightweight version of Anaconda) following the instructions in the official website (</a:t>
            </a:r>
            <a:r>
              <a:rPr lang="en-IT">
                <a:hlinkClick r:id="rId2"/>
              </a:rPr>
              <a:t>here</a:t>
            </a:r>
            <a:r>
              <a:rPr lang="en-IT"/>
              <a:t>).</a:t>
            </a:r>
          </a:p>
          <a:p>
            <a:r>
              <a:rPr lang="en-IT"/>
              <a:t>At this point we create a new conda environment:</a:t>
            </a:r>
          </a:p>
          <a:p>
            <a:endParaRPr lang="en-IT"/>
          </a:p>
          <a:p>
            <a:endParaRPr lang="en-IT"/>
          </a:p>
          <a:p>
            <a:r>
              <a:rPr lang="en-IT"/>
              <a:t>We will install Qiskit inside this environment.</a:t>
            </a:r>
          </a:p>
        </p:txBody>
      </p:sp>
      <p:sp>
        <p:nvSpPr>
          <p:cNvPr id="5" name="TextBox 4">
            <a:extLst>
              <a:ext uri="{FF2B5EF4-FFF2-40B4-BE49-F238E27FC236}">
                <a16:creationId xmlns:a16="http://schemas.microsoft.com/office/drawing/2014/main" id="{FCADF56C-4257-ED49-82BC-ABDD046BD585}"/>
              </a:ext>
            </a:extLst>
          </p:cNvPr>
          <p:cNvSpPr txBox="1"/>
          <p:nvPr/>
        </p:nvSpPr>
        <p:spPr>
          <a:xfrm>
            <a:off x="2852529" y="4316544"/>
            <a:ext cx="6599583" cy="369332"/>
          </a:xfrm>
          <a:prstGeom prst="rect">
            <a:avLst/>
          </a:prstGeom>
          <a:noFill/>
        </p:spPr>
        <p:txBody>
          <a:bodyPr wrap="square">
            <a:spAutoFit/>
          </a:bodyPr>
          <a:lstStyle/>
          <a:p>
            <a:r>
              <a:rPr lang="en-GB" b="1" i="0" u="none" strike="noStrike" err="1">
                <a:solidFill>
                  <a:srgbClr val="444444"/>
                </a:solidFill>
                <a:effectLst/>
                <a:latin typeface="Courier New" panose="02070309020205020404" pitchFamily="49" charset="0"/>
              </a:rPr>
              <a:t>conda</a:t>
            </a:r>
            <a:r>
              <a:rPr lang="en-GB" b="0" i="0" u="none" strike="noStrike">
                <a:solidFill>
                  <a:srgbClr val="444444"/>
                </a:solidFill>
                <a:effectLst/>
                <a:latin typeface="Courier New" panose="02070309020205020404" pitchFamily="49" charset="0"/>
              </a:rPr>
              <a:t> create -n </a:t>
            </a:r>
            <a:r>
              <a:rPr lang="en-GB" b="0" i="0" u="none" strike="noStrike" err="1">
                <a:solidFill>
                  <a:srgbClr val="444444"/>
                </a:solidFill>
                <a:effectLst/>
                <a:latin typeface="Courier New" panose="02070309020205020404" pitchFamily="49" charset="0"/>
              </a:rPr>
              <a:t>qiskitEnv</a:t>
            </a:r>
            <a:r>
              <a:rPr lang="en-GB" b="0" i="0" u="none" strike="noStrike">
                <a:solidFill>
                  <a:srgbClr val="444444"/>
                </a:solidFill>
                <a:effectLst/>
                <a:latin typeface="Courier New" panose="02070309020205020404" pitchFamily="49" charset="0"/>
              </a:rPr>
              <a:t> python=</a:t>
            </a:r>
            <a:r>
              <a:rPr lang="en-GB" b="0" i="0" u="none" strike="noStrike">
                <a:solidFill>
                  <a:srgbClr val="880000"/>
                </a:solidFill>
                <a:effectLst/>
                <a:latin typeface="Courier New" panose="02070309020205020404" pitchFamily="49" charset="0"/>
              </a:rPr>
              <a:t>3</a:t>
            </a:r>
            <a:endParaRPr lang="en-IT"/>
          </a:p>
        </p:txBody>
      </p:sp>
    </p:spTree>
    <p:extLst>
      <p:ext uri="{BB962C8B-B14F-4D97-AF65-F5344CB8AC3E}">
        <p14:creationId xmlns:p14="http://schemas.microsoft.com/office/powerpoint/2010/main" val="955669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B46E9-98C6-F95A-B528-E3BFC9617965}"/>
              </a:ext>
            </a:extLst>
          </p:cNvPr>
          <p:cNvSpPr>
            <a:spLocks noGrp="1"/>
          </p:cNvSpPr>
          <p:nvPr>
            <p:ph type="title"/>
          </p:nvPr>
        </p:nvSpPr>
        <p:spPr/>
        <p:txBody>
          <a:bodyPr/>
          <a:lstStyle/>
          <a:p>
            <a:r>
              <a:rPr lang="en-IT"/>
              <a:t>Qiskit installation tutorial (2)</a:t>
            </a:r>
          </a:p>
        </p:txBody>
      </p:sp>
      <p:sp>
        <p:nvSpPr>
          <p:cNvPr id="3" name="Content Placeholder 2">
            <a:extLst>
              <a:ext uri="{FF2B5EF4-FFF2-40B4-BE49-F238E27FC236}">
                <a16:creationId xmlns:a16="http://schemas.microsoft.com/office/drawing/2014/main" id="{F0ACC263-A6AC-59F1-4D05-A3D86BB07E56}"/>
              </a:ext>
            </a:extLst>
          </p:cNvPr>
          <p:cNvSpPr>
            <a:spLocks noGrp="1"/>
          </p:cNvSpPr>
          <p:nvPr>
            <p:ph idx="1"/>
          </p:nvPr>
        </p:nvSpPr>
        <p:spPr/>
        <p:txBody>
          <a:bodyPr/>
          <a:lstStyle/>
          <a:p>
            <a:r>
              <a:rPr lang="en-IT"/>
              <a:t>Activate the new environment with:</a:t>
            </a:r>
          </a:p>
          <a:p>
            <a:pPr marL="0" indent="0">
              <a:buNone/>
            </a:pPr>
            <a:endParaRPr lang="en-IT"/>
          </a:p>
          <a:p>
            <a:r>
              <a:rPr lang="en-IT"/>
              <a:t>If the command has been executed, you should now see (qiskitEnv) at the beginning of your prompt line. Every package installed will be confined to this environment.</a:t>
            </a:r>
          </a:p>
          <a:p>
            <a:r>
              <a:rPr lang="en-IT"/>
              <a:t>On Windows or Linux:</a:t>
            </a:r>
          </a:p>
          <a:p>
            <a:endParaRPr lang="en-IT"/>
          </a:p>
          <a:p>
            <a:r>
              <a:rPr lang="en-IT"/>
              <a:t>On MacOS:</a:t>
            </a:r>
          </a:p>
          <a:p>
            <a:endParaRPr lang="en-IT"/>
          </a:p>
        </p:txBody>
      </p:sp>
      <p:sp>
        <p:nvSpPr>
          <p:cNvPr id="5" name="TextBox 4">
            <a:extLst>
              <a:ext uri="{FF2B5EF4-FFF2-40B4-BE49-F238E27FC236}">
                <a16:creationId xmlns:a16="http://schemas.microsoft.com/office/drawing/2014/main" id="{ED2E4816-6749-C2C2-502D-BBD85516BA4B}"/>
              </a:ext>
            </a:extLst>
          </p:cNvPr>
          <p:cNvSpPr txBox="1"/>
          <p:nvPr/>
        </p:nvSpPr>
        <p:spPr>
          <a:xfrm>
            <a:off x="3896138" y="2369691"/>
            <a:ext cx="6102626" cy="369332"/>
          </a:xfrm>
          <a:prstGeom prst="rect">
            <a:avLst/>
          </a:prstGeom>
          <a:noFill/>
        </p:spPr>
        <p:txBody>
          <a:bodyPr wrap="square">
            <a:spAutoFit/>
          </a:bodyPr>
          <a:lstStyle/>
          <a:p>
            <a:r>
              <a:rPr lang="en-GB" b="1" i="0" u="none" strike="noStrike" err="1">
                <a:solidFill>
                  <a:srgbClr val="444444"/>
                </a:solidFill>
                <a:effectLst/>
                <a:latin typeface="Courier New" panose="02070309020205020404" pitchFamily="49" charset="0"/>
              </a:rPr>
              <a:t>conda</a:t>
            </a:r>
            <a:r>
              <a:rPr lang="en-GB" b="0" i="0" u="none" strike="noStrike">
                <a:solidFill>
                  <a:srgbClr val="444444"/>
                </a:solidFill>
                <a:effectLst/>
                <a:latin typeface="Courier New" panose="02070309020205020404" pitchFamily="49" charset="0"/>
              </a:rPr>
              <a:t> activate </a:t>
            </a:r>
            <a:r>
              <a:rPr lang="en-GB" b="0" i="0" u="none" strike="noStrike" err="1">
                <a:solidFill>
                  <a:srgbClr val="444444"/>
                </a:solidFill>
                <a:effectLst/>
                <a:latin typeface="Courier New" panose="02070309020205020404" pitchFamily="49" charset="0"/>
              </a:rPr>
              <a:t>qiskitEnv</a:t>
            </a:r>
            <a:endParaRPr lang="en-IT"/>
          </a:p>
        </p:txBody>
      </p:sp>
      <p:sp>
        <p:nvSpPr>
          <p:cNvPr id="9" name="TextBox 8">
            <a:extLst>
              <a:ext uri="{FF2B5EF4-FFF2-40B4-BE49-F238E27FC236}">
                <a16:creationId xmlns:a16="http://schemas.microsoft.com/office/drawing/2014/main" id="{CC74A782-0C0C-AE8A-A487-C32397D536C3}"/>
              </a:ext>
            </a:extLst>
          </p:cNvPr>
          <p:cNvSpPr txBox="1"/>
          <p:nvPr/>
        </p:nvSpPr>
        <p:spPr>
          <a:xfrm>
            <a:off x="3538329" y="4615935"/>
            <a:ext cx="6102626" cy="369332"/>
          </a:xfrm>
          <a:prstGeom prst="rect">
            <a:avLst/>
          </a:prstGeom>
          <a:noFill/>
        </p:spPr>
        <p:txBody>
          <a:bodyPr wrap="square">
            <a:spAutoFit/>
          </a:bodyPr>
          <a:lstStyle/>
          <a:p>
            <a:r>
              <a:rPr lang="en-GB" b="1" i="0" u="none" strike="noStrike">
                <a:solidFill>
                  <a:srgbClr val="444444"/>
                </a:solidFill>
                <a:effectLst/>
                <a:latin typeface="Courier New" panose="02070309020205020404" pitchFamily="49" charset="0"/>
              </a:rPr>
              <a:t>pip</a:t>
            </a:r>
            <a:r>
              <a:rPr lang="en-GB" b="0" i="0" u="none" strike="noStrike">
                <a:solidFill>
                  <a:srgbClr val="444444"/>
                </a:solidFill>
                <a:effectLst/>
                <a:latin typeface="Courier New" panose="02070309020205020404" pitchFamily="49" charset="0"/>
              </a:rPr>
              <a:t> install </a:t>
            </a:r>
            <a:r>
              <a:rPr lang="en-GB" b="0" i="0" u="none" strike="noStrike" err="1">
                <a:solidFill>
                  <a:srgbClr val="444444"/>
                </a:solidFill>
                <a:effectLst/>
                <a:latin typeface="Courier New" panose="02070309020205020404" pitchFamily="49" charset="0"/>
              </a:rPr>
              <a:t>qiskit</a:t>
            </a:r>
            <a:r>
              <a:rPr lang="en-GB" b="0" i="0" u="none" strike="noStrike">
                <a:effectLst/>
                <a:latin typeface="Courier New" panose="02070309020205020404" pitchFamily="49" charset="0"/>
              </a:rPr>
              <a:t>[visualization]</a:t>
            </a:r>
            <a:endParaRPr lang="en-IT"/>
          </a:p>
        </p:txBody>
      </p:sp>
      <p:sp>
        <p:nvSpPr>
          <p:cNvPr id="11" name="TextBox 10">
            <a:extLst>
              <a:ext uri="{FF2B5EF4-FFF2-40B4-BE49-F238E27FC236}">
                <a16:creationId xmlns:a16="http://schemas.microsoft.com/office/drawing/2014/main" id="{679ED168-B636-2600-4FEA-9963D8140D62}"/>
              </a:ext>
            </a:extLst>
          </p:cNvPr>
          <p:cNvSpPr txBox="1"/>
          <p:nvPr/>
        </p:nvSpPr>
        <p:spPr>
          <a:xfrm>
            <a:off x="3538329" y="5807631"/>
            <a:ext cx="6102626" cy="369332"/>
          </a:xfrm>
          <a:prstGeom prst="rect">
            <a:avLst/>
          </a:prstGeom>
          <a:noFill/>
        </p:spPr>
        <p:txBody>
          <a:bodyPr wrap="square">
            <a:spAutoFit/>
          </a:bodyPr>
          <a:lstStyle/>
          <a:p>
            <a:r>
              <a:rPr lang="en-GB" b="1" i="0" u="none" strike="noStrike">
                <a:solidFill>
                  <a:srgbClr val="444444"/>
                </a:solidFill>
                <a:effectLst/>
                <a:latin typeface="Courier New" panose="02070309020205020404" pitchFamily="49" charset="0"/>
              </a:rPr>
              <a:t>pip</a:t>
            </a:r>
            <a:r>
              <a:rPr lang="en-GB" b="0" i="0" u="none" strike="noStrike">
                <a:solidFill>
                  <a:srgbClr val="444444"/>
                </a:solidFill>
                <a:effectLst/>
                <a:latin typeface="Courier New" panose="02070309020205020404" pitchFamily="49" charset="0"/>
              </a:rPr>
              <a:t> install </a:t>
            </a:r>
            <a:r>
              <a:rPr lang="en-GB" b="0" i="0" u="none" strike="noStrike">
                <a:solidFill>
                  <a:srgbClr val="880000"/>
                </a:solidFill>
                <a:effectLst/>
                <a:latin typeface="Courier New" panose="02070309020205020404" pitchFamily="49" charset="0"/>
              </a:rPr>
              <a:t>'</a:t>
            </a:r>
            <a:r>
              <a:rPr lang="en-GB" b="0" i="0" u="none" strike="noStrike" err="1">
                <a:solidFill>
                  <a:srgbClr val="880000"/>
                </a:solidFill>
                <a:effectLst/>
                <a:latin typeface="Courier New" panose="02070309020205020404" pitchFamily="49" charset="0"/>
              </a:rPr>
              <a:t>qiskit</a:t>
            </a:r>
            <a:r>
              <a:rPr lang="en-GB" b="0" i="0" u="none" strike="noStrike">
                <a:solidFill>
                  <a:srgbClr val="880000"/>
                </a:solidFill>
                <a:effectLst/>
                <a:latin typeface="Courier New" panose="02070309020205020404" pitchFamily="49" charset="0"/>
              </a:rPr>
              <a:t>[visualization]'</a:t>
            </a:r>
            <a:endParaRPr lang="en-IT"/>
          </a:p>
        </p:txBody>
      </p:sp>
    </p:spTree>
    <p:extLst>
      <p:ext uri="{BB962C8B-B14F-4D97-AF65-F5344CB8AC3E}">
        <p14:creationId xmlns:p14="http://schemas.microsoft.com/office/powerpoint/2010/main" val="3859272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6AEE-2971-3AB3-63A8-6F6B4FF1B3BD}"/>
              </a:ext>
            </a:extLst>
          </p:cNvPr>
          <p:cNvSpPr>
            <a:spLocks noGrp="1"/>
          </p:cNvSpPr>
          <p:nvPr>
            <p:ph type="title"/>
          </p:nvPr>
        </p:nvSpPr>
        <p:spPr/>
        <p:txBody>
          <a:bodyPr/>
          <a:lstStyle/>
          <a:p>
            <a:r>
              <a:rPr lang="en-IT"/>
              <a:t>Qiskit installation tutorial (3)</a:t>
            </a:r>
          </a:p>
        </p:txBody>
      </p:sp>
      <p:sp>
        <p:nvSpPr>
          <p:cNvPr id="3" name="Content Placeholder 2">
            <a:extLst>
              <a:ext uri="{FF2B5EF4-FFF2-40B4-BE49-F238E27FC236}">
                <a16:creationId xmlns:a16="http://schemas.microsoft.com/office/drawing/2014/main" id="{0FF96040-63A3-4D65-BC00-1DB37F91AE69}"/>
              </a:ext>
            </a:extLst>
          </p:cNvPr>
          <p:cNvSpPr>
            <a:spLocks noGrp="1"/>
          </p:cNvSpPr>
          <p:nvPr>
            <p:ph idx="1"/>
          </p:nvPr>
        </p:nvSpPr>
        <p:spPr/>
        <p:txBody>
          <a:bodyPr/>
          <a:lstStyle/>
          <a:p>
            <a:r>
              <a:rPr lang="en-IT"/>
              <a:t>If you have any issues during the installation, check the official Qiskit installation page </a:t>
            </a:r>
            <a:r>
              <a:rPr lang="en-IT">
                <a:hlinkClick r:id="rId2"/>
              </a:rPr>
              <a:t>here</a:t>
            </a:r>
            <a:r>
              <a:rPr lang="en-IT"/>
              <a:t>, a guide about conda environments like </a:t>
            </a:r>
            <a:r>
              <a:rPr lang="en-IT">
                <a:hlinkClick r:id="rId3"/>
              </a:rPr>
              <a:t>this one</a:t>
            </a:r>
            <a:r>
              <a:rPr lang="en-IT"/>
              <a:t>, or send me an email explaining your problem.</a:t>
            </a:r>
          </a:p>
          <a:p>
            <a:pPr marL="0" indent="0">
              <a:buNone/>
            </a:pPr>
            <a:endParaRPr lang="en-IT"/>
          </a:p>
        </p:txBody>
      </p:sp>
    </p:spTree>
    <p:extLst>
      <p:ext uri="{BB962C8B-B14F-4D97-AF65-F5344CB8AC3E}">
        <p14:creationId xmlns:p14="http://schemas.microsoft.com/office/powerpoint/2010/main" val="924378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01ABF-3BBE-DF7D-6A31-281CAAD044DA}"/>
              </a:ext>
            </a:extLst>
          </p:cNvPr>
          <p:cNvSpPr>
            <a:spLocks noGrp="1"/>
          </p:cNvSpPr>
          <p:nvPr>
            <p:ph type="title"/>
          </p:nvPr>
        </p:nvSpPr>
        <p:spPr/>
        <p:txBody>
          <a:bodyPr/>
          <a:lstStyle/>
          <a:p>
            <a:r>
              <a:rPr lang="en-IT"/>
              <a:t>Programming environment</a:t>
            </a:r>
          </a:p>
        </p:txBody>
      </p:sp>
      <p:sp>
        <p:nvSpPr>
          <p:cNvPr id="3" name="Content Placeholder 2">
            <a:extLst>
              <a:ext uri="{FF2B5EF4-FFF2-40B4-BE49-F238E27FC236}">
                <a16:creationId xmlns:a16="http://schemas.microsoft.com/office/drawing/2014/main" id="{5F7FB86E-23BE-B21C-2148-A0DE4127FF90}"/>
              </a:ext>
            </a:extLst>
          </p:cNvPr>
          <p:cNvSpPr>
            <a:spLocks noGrp="1"/>
          </p:cNvSpPr>
          <p:nvPr>
            <p:ph idx="1"/>
          </p:nvPr>
        </p:nvSpPr>
        <p:spPr/>
        <p:txBody>
          <a:bodyPr/>
          <a:lstStyle/>
          <a:p>
            <a:r>
              <a:rPr lang="en-IT"/>
              <a:t>We can use Qiskit from any IDE, but a very useful tool to program is to use Jupyter Notebooks.</a:t>
            </a:r>
          </a:p>
          <a:p>
            <a:r>
              <a:rPr lang="en-GB"/>
              <a:t>C</a:t>
            </a:r>
            <a:r>
              <a:rPr lang="en-IT"/>
              <a:t>reate a new folder in which you will save your Qiskit programs.</a:t>
            </a:r>
          </a:p>
          <a:p>
            <a:r>
              <a:rPr lang="en-IT"/>
              <a:t>Open the conda prompt, cd into the new folder and activate the virtual environment (qiskitEnv).</a:t>
            </a:r>
          </a:p>
          <a:p>
            <a:r>
              <a:rPr lang="en-IT"/>
              <a:t>Then, enter the following command:</a:t>
            </a:r>
          </a:p>
          <a:p>
            <a:endParaRPr lang="en-IT"/>
          </a:p>
          <a:p>
            <a:r>
              <a:rPr lang="en-IT"/>
              <a:t>It will start a jupyter server and it will open your default browser. Do not close the terminal!</a:t>
            </a:r>
          </a:p>
        </p:txBody>
      </p:sp>
      <p:sp>
        <p:nvSpPr>
          <p:cNvPr id="5" name="TextBox 4">
            <a:extLst>
              <a:ext uri="{FF2B5EF4-FFF2-40B4-BE49-F238E27FC236}">
                <a16:creationId xmlns:a16="http://schemas.microsoft.com/office/drawing/2014/main" id="{EB87CF67-B1F3-056A-8B48-10E2CAE5B5DB}"/>
              </a:ext>
            </a:extLst>
          </p:cNvPr>
          <p:cNvSpPr txBox="1"/>
          <p:nvPr/>
        </p:nvSpPr>
        <p:spPr>
          <a:xfrm>
            <a:off x="4210291" y="4592132"/>
            <a:ext cx="2572474" cy="369332"/>
          </a:xfrm>
          <a:prstGeom prst="rect">
            <a:avLst/>
          </a:prstGeom>
          <a:noFill/>
        </p:spPr>
        <p:txBody>
          <a:bodyPr wrap="square">
            <a:spAutoFit/>
          </a:bodyPr>
          <a:lstStyle/>
          <a:p>
            <a:r>
              <a:rPr lang="en-GB" b="1" i="0" u="none" strike="noStrike" err="1">
                <a:solidFill>
                  <a:srgbClr val="444444"/>
                </a:solidFill>
                <a:effectLst/>
                <a:latin typeface="Courier New" panose="02070309020205020404" pitchFamily="49" charset="0"/>
              </a:rPr>
              <a:t>jupyter</a:t>
            </a:r>
            <a:r>
              <a:rPr lang="en-GB" b="0" i="0" u="none" strike="noStrike">
                <a:solidFill>
                  <a:srgbClr val="444444"/>
                </a:solidFill>
                <a:effectLst/>
                <a:latin typeface="Courier New" panose="02070309020205020404" pitchFamily="49" charset="0"/>
              </a:rPr>
              <a:t> notebook</a:t>
            </a:r>
            <a:endParaRPr lang="en-IT"/>
          </a:p>
        </p:txBody>
      </p:sp>
    </p:spTree>
    <p:extLst>
      <p:ext uri="{BB962C8B-B14F-4D97-AF65-F5344CB8AC3E}">
        <p14:creationId xmlns:p14="http://schemas.microsoft.com/office/powerpoint/2010/main" val="2836985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630D9-FB54-92A4-475A-60F8C7EFABA2}"/>
              </a:ext>
            </a:extLst>
          </p:cNvPr>
          <p:cNvSpPr>
            <a:spLocks noGrp="1"/>
          </p:cNvSpPr>
          <p:nvPr>
            <p:ph type="title"/>
          </p:nvPr>
        </p:nvSpPr>
        <p:spPr/>
        <p:txBody>
          <a:bodyPr/>
          <a:lstStyle/>
          <a:p>
            <a:r>
              <a:rPr lang="en-IT"/>
              <a:t>Example</a:t>
            </a:r>
          </a:p>
        </p:txBody>
      </p:sp>
      <p:pic>
        <p:nvPicPr>
          <p:cNvPr id="5" name="Content Placeholder 4" descr="Text&#10;&#10;Description automatically generated">
            <a:extLst>
              <a:ext uri="{FF2B5EF4-FFF2-40B4-BE49-F238E27FC236}">
                <a16:creationId xmlns:a16="http://schemas.microsoft.com/office/drawing/2014/main" id="{56C79296-916E-7C48-69D9-723AFC1999E5}"/>
              </a:ext>
            </a:extLst>
          </p:cNvPr>
          <p:cNvPicPr>
            <a:picLocks noGrp="1" noChangeAspect="1"/>
          </p:cNvPicPr>
          <p:nvPr>
            <p:ph idx="1"/>
          </p:nvPr>
        </p:nvPicPr>
        <p:blipFill>
          <a:blip r:embed="rId2"/>
          <a:stretch>
            <a:fillRect/>
          </a:stretch>
        </p:blipFill>
        <p:spPr>
          <a:xfrm>
            <a:off x="869549" y="2571155"/>
            <a:ext cx="10452901" cy="2220763"/>
          </a:xfrm>
        </p:spPr>
      </p:pic>
    </p:spTree>
    <p:extLst>
      <p:ext uri="{BB962C8B-B14F-4D97-AF65-F5344CB8AC3E}">
        <p14:creationId xmlns:p14="http://schemas.microsoft.com/office/powerpoint/2010/main" val="2457895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97017-62F9-426E-527F-1FA30CB895FC}"/>
              </a:ext>
            </a:extLst>
          </p:cNvPr>
          <p:cNvSpPr>
            <a:spLocks noGrp="1"/>
          </p:cNvSpPr>
          <p:nvPr>
            <p:ph type="title"/>
          </p:nvPr>
        </p:nvSpPr>
        <p:spPr/>
        <p:txBody>
          <a:bodyPr/>
          <a:lstStyle/>
          <a:p>
            <a:r>
              <a:rPr lang="en-IT"/>
              <a:t>Example: a new notebook</a:t>
            </a:r>
          </a:p>
        </p:txBody>
      </p:sp>
      <p:pic>
        <p:nvPicPr>
          <p:cNvPr id="5" name="Content Placeholder 4" descr="Graphical user interface, text, application, email&#10;&#10;Description automatically generated">
            <a:extLst>
              <a:ext uri="{FF2B5EF4-FFF2-40B4-BE49-F238E27FC236}">
                <a16:creationId xmlns:a16="http://schemas.microsoft.com/office/drawing/2014/main" id="{30250660-62E0-36C7-F367-F5780008CE7F}"/>
              </a:ext>
            </a:extLst>
          </p:cNvPr>
          <p:cNvPicPr>
            <a:picLocks noGrp="1" noChangeAspect="1"/>
          </p:cNvPicPr>
          <p:nvPr>
            <p:ph idx="1"/>
          </p:nvPr>
        </p:nvPicPr>
        <p:blipFill>
          <a:blip r:embed="rId2"/>
          <a:stretch>
            <a:fillRect/>
          </a:stretch>
        </p:blipFill>
        <p:spPr>
          <a:xfrm>
            <a:off x="309563" y="1941941"/>
            <a:ext cx="11577637" cy="4118705"/>
          </a:xfrm>
        </p:spPr>
      </p:pic>
    </p:spTree>
    <p:extLst>
      <p:ext uri="{BB962C8B-B14F-4D97-AF65-F5344CB8AC3E}">
        <p14:creationId xmlns:p14="http://schemas.microsoft.com/office/powerpoint/2010/main" val="1280485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D530A-DA26-ED54-7394-2179F5A160E7}"/>
              </a:ext>
            </a:extLst>
          </p:cNvPr>
          <p:cNvSpPr>
            <a:spLocks noGrp="1"/>
          </p:cNvSpPr>
          <p:nvPr>
            <p:ph type="title"/>
          </p:nvPr>
        </p:nvSpPr>
        <p:spPr/>
        <p:txBody>
          <a:bodyPr/>
          <a:lstStyle/>
          <a:p>
            <a:r>
              <a:rPr lang="en-IT"/>
              <a:t>Register to IBM-Q</a:t>
            </a:r>
          </a:p>
        </p:txBody>
      </p:sp>
      <p:sp>
        <p:nvSpPr>
          <p:cNvPr id="3" name="Content Placeholder 2">
            <a:extLst>
              <a:ext uri="{FF2B5EF4-FFF2-40B4-BE49-F238E27FC236}">
                <a16:creationId xmlns:a16="http://schemas.microsoft.com/office/drawing/2014/main" id="{B6D4324A-5B81-FAB8-3AE7-2F63848F86DD}"/>
              </a:ext>
            </a:extLst>
          </p:cNvPr>
          <p:cNvSpPr>
            <a:spLocks noGrp="1"/>
          </p:cNvSpPr>
          <p:nvPr>
            <p:ph idx="1"/>
          </p:nvPr>
        </p:nvSpPr>
        <p:spPr/>
        <p:txBody>
          <a:bodyPr/>
          <a:lstStyle/>
          <a:p>
            <a:r>
              <a:rPr lang="en-IT"/>
              <a:t>Finally, to use IBM-Q devices, we have to sign up to their system.</a:t>
            </a:r>
          </a:p>
          <a:p>
            <a:r>
              <a:rPr lang="en-IT"/>
              <a:t>Go to </a:t>
            </a:r>
            <a:r>
              <a:rPr lang="en-GB">
                <a:hlinkClick r:id="rId2"/>
              </a:rPr>
              <a:t>https://quantum-computing.ibm.com</a:t>
            </a:r>
            <a:r>
              <a:rPr lang="en-GB"/>
              <a:t> and follow the instructions to create an </a:t>
            </a:r>
            <a:r>
              <a:rPr lang="en-GB" err="1"/>
              <a:t>IBMid</a:t>
            </a:r>
            <a:r>
              <a:rPr lang="en-GB"/>
              <a:t> account.</a:t>
            </a:r>
          </a:p>
          <a:p>
            <a:endParaRPr lang="en-IT"/>
          </a:p>
        </p:txBody>
      </p:sp>
    </p:spTree>
    <p:extLst>
      <p:ext uri="{BB962C8B-B14F-4D97-AF65-F5344CB8AC3E}">
        <p14:creationId xmlns:p14="http://schemas.microsoft.com/office/powerpoint/2010/main" val="3275236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5CA4B-A0C9-BA58-A303-6253F0FBFA4C}"/>
              </a:ext>
            </a:extLst>
          </p:cNvPr>
          <p:cNvSpPr>
            <a:spLocks noGrp="1"/>
          </p:cNvSpPr>
          <p:nvPr>
            <p:ph type="title"/>
          </p:nvPr>
        </p:nvSpPr>
        <p:spPr/>
        <p:txBody>
          <a:bodyPr/>
          <a:lstStyle/>
          <a:p>
            <a:r>
              <a:rPr lang="en-IT"/>
              <a:t>API Token</a:t>
            </a:r>
          </a:p>
        </p:txBody>
      </p:sp>
      <p:pic>
        <p:nvPicPr>
          <p:cNvPr id="5" name="Content Placeholder 4" descr="Graphical user interface, application, Teams&#10;&#10;Description automatically generated">
            <a:extLst>
              <a:ext uri="{FF2B5EF4-FFF2-40B4-BE49-F238E27FC236}">
                <a16:creationId xmlns:a16="http://schemas.microsoft.com/office/drawing/2014/main" id="{22AD6D2F-C9B8-5CD9-F4C5-5E6B4D95141A}"/>
              </a:ext>
            </a:extLst>
          </p:cNvPr>
          <p:cNvPicPr>
            <a:picLocks noGrp="1" noChangeAspect="1"/>
          </p:cNvPicPr>
          <p:nvPr>
            <p:ph idx="1"/>
          </p:nvPr>
        </p:nvPicPr>
        <p:blipFill>
          <a:blip r:embed="rId2"/>
          <a:stretch>
            <a:fillRect/>
          </a:stretch>
        </p:blipFill>
        <p:spPr>
          <a:xfrm>
            <a:off x="2238661" y="1825625"/>
            <a:ext cx="7719440" cy="4351338"/>
          </a:xfrm>
        </p:spPr>
      </p:pic>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C20708B8-E4D6-6061-0682-D99F059E6FED}"/>
                  </a:ext>
                </a:extLst>
              </p14:cNvPr>
              <p14:cNvContentPartPr/>
              <p14:nvPr/>
            </p14:nvContentPartPr>
            <p14:xfrm>
              <a:off x="7555968" y="2933424"/>
              <a:ext cx="2192400" cy="900000"/>
            </p14:xfrm>
          </p:contentPart>
        </mc:Choice>
        <mc:Fallback>
          <p:pic>
            <p:nvPicPr>
              <p:cNvPr id="10" name="Ink 9">
                <a:extLst>
                  <a:ext uri="{FF2B5EF4-FFF2-40B4-BE49-F238E27FC236}">
                    <a16:creationId xmlns:a16="http://schemas.microsoft.com/office/drawing/2014/main" id="{C20708B8-E4D6-6061-0682-D99F059E6FED}"/>
                  </a:ext>
                </a:extLst>
              </p:cNvPr>
              <p:cNvPicPr/>
              <p:nvPr/>
            </p:nvPicPr>
            <p:blipFill>
              <a:blip r:embed="rId4"/>
              <a:stretch>
                <a:fillRect/>
              </a:stretch>
            </p:blipFill>
            <p:spPr>
              <a:xfrm>
                <a:off x="7546968" y="2924424"/>
                <a:ext cx="2210040" cy="917640"/>
              </a:xfrm>
              <a:prstGeom prst="rect">
                <a:avLst/>
              </a:prstGeom>
            </p:spPr>
          </p:pic>
        </mc:Fallback>
      </mc:AlternateContent>
      <p:cxnSp>
        <p:nvCxnSpPr>
          <p:cNvPr id="12" name="Straight Arrow Connector 11">
            <a:extLst>
              <a:ext uri="{FF2B5EF4-FFF2-40B4-BE49-F238E27FC236}">
                <a16:creationId xmlns:a16="http://schemas.microsoft.com/office/drawing/2014/main" id="{667858A0-3BB3-A71B-4F92-1EDAA76FC6FD}"/>
              </a:ext>
            </a:extLst>
          </p:cNvPr>
          <p:cNvCxnSpPr>
            <a:cxnSpLocks/>
          </p:cNvCxnSpPr>
          <p:nvPr/>
        </p:nvCxnSpPr>
        <p:spPr>
          <a:xfrm flipH="1">
            <a:off x="9546336" y="2487168"/>
            <a:ext cx="694944" cy="548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CBA73F0-474C-72B6-9EA4-A136A35B57A1}"/>
              </a:ext>
            </a:extLst>
          </p:cNvPr>
          <p:cNvSpPr txBox="1"/>
          <p:nvPr/>
        </p:nvSpPr>
        <p:spPr>
          <a:xfrm>
            <a:off x="10241280" y="2112478"/>
            <a:ext cx="1821717" cy="923330"/>
          </a:xfrm>
          <a:prstGeom prst="rect">
            <a:avLst/>
          </a:prstGeom>
          <a:noFill/>
        </p:spPr>
        <p:txBody>
          <a:bodyPr wrap="none" rtlCol="0">
            <a:spAutoFit/>
          </a:bodyPr>
          <a:lstStyle/>
          <a:p>
            <a:r>
              <a:rPr lang="en-IT"/>
              <a:t>You will need this</a:t>
            </a:r>
          </a:p>
          <a:p>
            <a:r>
              <a:rPr lang="en-GB"/>
              <a:t>T</a:t>
            </a:r>
            <a:r>
              <a:rPr lang="en-IT"/>
              <a:t>o access IBM-Q</a:t>
            </a:r>
          </a:p>
          <a:p>
            <a:r>
              <a:rPr lang="en-GB"/>
              <a:t>From </a:t>
            </a:r>
            <a:r>
              <a:rPr lang="en-GB" err="1"/>
              <a:t>Qiskit</a:t>
            </a:r>
            <a:r>
              <a:rPr lang="en-GB"/>
              <a:t>!</a:t>
            </a:r>
            <a:endParaRPr lang="en-IT"/>
          </a:p>
        </p:txBody>
      </p:sp>
    </p:spTree>
    <p:extLst>
      <p:ext uri="{BB962C8B-B14F-4D97-AF65-F5344CB8AC3E}">
        <p14:creationId xmlns:p14="http://schemas.microsoft.com/office/powerpoint/2010/main" val="829503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B419A-7514-C2F1-EA2B-29A7C5ED9A74}"/>
              </a:ext>
            </a:extLst>
          </p:cNvPr>
          <p:cNvSpPr>
            <a:spLocks noGrp="1"/>
          </p:cNvSpPr>
          <p:nvPr>
            <p:ph type="title"/>
          </p:nvPr>
        </p:nvSpPr>
        <p:spPr/>
        <p:txBody>
          <a:bodyPr/>
          <a:lstStyle/>
          <a:p>
            <a:r>
              <a:rPr lang="en-IT"/>
              <a:t>Conclusions</a:t>
            </a:r>
          </a:p>
        </p:txBody>
      </p:sp>
      <p:sp>
        <p:nvSpPr>
          <p:cNvPr id="3" name="Content Placeholder 2">
            <a:extLst>
              <a:ext uri="{FF2B5EF4-FFF2-40B4-BE49-F238E27FC236}">
                <a16:creationId xmlns:a16="http://schemas.microsoft.com/office/drawing/2014/main" id="{C93FE3AF-5957-779C-412C-BB828CEAFE0E}"/>
              </a:ext>
            </a:extLst>
          </p:cNvPr>
          <p:cNvSpPr>
            <a:spLocks noGrp="1"/>
          </p:cNvSpPr>
          <p:nvPr>
            <p:ph idx="1"/>
          </p:nvPr>
        </p:nvSpPr>
        <p:spPr/>
        <p:txBody>
          <a:bodyPr/>
          <a:lstStyle/>
          <a:p>
            <a:r>
              <a:rPr lang="en-IT"/>
              <a:t>Feel free to play with the Quantum Composer in the IBM-Q website and navigate through the quantum computers specifications.</a:t>
            </a:r>
          </a:p>
          <a:p>
            <a:r>
              <a:rPr lang="en-IT"/>
              <a:t>Next time you will build and run you first circuits with Qiskit.</a:t>
            </a:r>
          </a:p>
          <a:p>
            <a:r>
              <a:rPr lang="en-IT"/>
              <a:t>Again, if you have any issues with one of these steps, you can send me an email.</a:t>
            </a:r>
          </a:p>
        </p:txBody>
      </p:sp>
    </p:spTree>
    <p:extLst>
      <p:ext uri="{BB962C8B-B14F-4D97-AF65-F5344CB8AC3E}">
        <p14:creationId xmlns:p14="http://schemas.microsoft.com/office/powerpoint/2010/main" val="2971096740"/>
      </p:ext>
    </p:extLst>
  </p:cSld>
  <p:clrMapOvr>
    <a:masterClrMapping/>
  </p:clrMapOvr>
</p:sld>
</file>

<file path=ppt/theme/theme1.xml><?xml version="1.0" encoding="utf-8"?>
<a:theme xmlns:a="http://schemas.openxmlformats.org/drawingml/2006/main" name="Unipi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antum_Lab" id="{943BFC69-3630-9446-9902-035DCBADCE9D}" vid="{206D0E84-1C03-5F4B-849F-6C7735F960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93859E518F97A4698E610FF6C7FF392" ma:contentTypeVersion="5" ma:contentTypeDescription="Create a new document." ma:contentTypeScope="" ma:versionID="8fca76bbd12462b370360a5e1275d1ce">
  <xsd:schema xmlns:xsd="http://www.w3.org/2001/XMLSchema" xmlns:xs="http://www.w3.org/2001/XMLSchema" xmlns:p="http://schemas.microsoft.com/office/2006/metadata/properties" xmlns:ns2="0fd01ed3-e37b-411c-8c6f-a31b872420e1" xmlns:ns3="b1121769-0b97-470f-96e5-69e03df7acbd" targetNamespace="http://schemas.microsoft.com/office/2006/metadata/properties" ma:root="true" ma:fieldsID="aab06142eabd4dee8aa159b0966cfb14" ns2:_="" ns3:_="">
    <xsd:import namespace="0fd01ed3-e37b-411c-8c6f-a31b872420e1"/>
    <xsd:import namespace="b1121769-0b97-470f-96e5-69e03df7acb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01ed3-e37b-411c-8c6f-a31b87242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1121769-0b97-470f-96e5-69e03df7acb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49A303C-1A4D-4AEA-AC01-52B1934D1C3D}">
  <ds:schemaRefs>
    <ds:schemaRef ds:uri="http://schemas.microsoft.com/sharepoint/v3/contenttype/forms"/>
  </ds:schemaRefs>
</ds:datastoreItem>
</file>

<file path=customXml/itemProps2.xml><?xml version="1.0" encoding="utf-8"?>
<ds:datastoreItem xmlns:ds="http://schemas.openxmlformats.org/officeDocument/2006/customXml" ds:itemID="{793A108B-0F71-40E1-BAAF-321ECE392728}">
  <ds:schemaRefs>
    <ds:schemaRef ds:uri="0fd01ed3-e37b-411c-8c6f-a31b872420e1"/>
    <ds:schemaRef ds:uri="b1121769-0b97-470f-96e5-69e03df7ac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A1E6379-2445-49B5-94F5-8AB23D700A01}">
  <ds:schemaRefs>
    <ds:schemaRef ds:uri="0fd01ed3-e37b-411c-8c6f-a31b872420e1"/>
    <ds:schemaRef ds:uri="b1121769-0b97-470f-96e5-69e03df7ac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Unipi Theme</Template>
  <Application>Microsoft Office PowerPoint</Application>
  <PresentationFormat>Widescreen</PresentationFormat>
  <Slides>39</Slides>
  <Notes>0</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Unipi Theme</vt:lpstr>
      <vt:lpstr>Introduction to Quantum Computing - Lab</vt:lpstr>
      <vt:lpstr>Outline</vt:lpstr>
      <vt:lpstr>What is a quantum computer?</vt:lpstr>
      <vt:lpstr>What is a quantum computer? (2)</vt:lpstr>
      <vt:lpstr>Quantum Program: Example</vt:lpstr>
      <vt:lpstr>Quantum Program: Example (2)</vt:lpstr>
      <vt:lpstr>Exercise</vt:lpstr>
      <vt:lpstr>Exercise</vt:lpstr>
      <vt:lpstr>Exercise</vt:lpstr>
      <vt:lpstr>Exercise</vt:lpstr>
      <vt:lpstr>Exercise: Alternative</vt:lpstr>
      <vt:lpstr>Exercise, measurement</vt:lpstr>
      <vt:lpstr>Quantum Noise</vt:lpstr>
      <vt:lpstr>NISQ Era</vt:lpstr>
      <vt:lpstr>Running quantum circuits</vt:lpstr>
      <vt:lpstr>Quantum Algorithms</vt:lpstr>
      <vt:lpstr>Church-Turing Thesis</vt:lpstr>
      <vt:lpstr>Church-Turing Thesis</vt:lpstr>
      <vt:lpstr>Church-Turing Thesis</vt:lpstr>
      <vt:lpstr>Quantum Algorithms</vt:lpstr>
      <vt:lpstr>Quantum Algorithms (2)</vt:lpstr>
      <vt:lpstr>Quantum Algorithm Complexity</vt:lpstr>
      <vt:lpstr>How to run quantum circuits</vt:lpstr>
      <vt:lpstr>Classical simulators</vt:lpstr>
      <vt:lpstr>Real Quantum Computers</vt:lpstr>
      <vt:lpstr>IBM Quantum Experience</vt:lpstr>
      <vt:lpstr>Introduction to Qiskit</vt:lpstr>
      <vt:lpstr>Introduction to Qiskit</vt:lpstr>
      <vt:lpstr>Roadmap</vt:lpstr>
      <vt:lpstr>Qiskit structure</vt:lpstr>
      <vt:lpstr>Qiskit installation tutorial</vt:lpstr>
      <vt:lpstr>Qiskit installation tutorial (2)</vt:lpstr>
      <vt:lpstr>Qiskit installation tutorial (3)</vt:lpstr>
      <vt:lpstr>Programming environment</vt:lpstr>
      <vt:lpstr>Example</vt:lpstr>
      <vt:lpstr>Example: a new notebook</vt:lpstr>
      <vt:lpstr>Register to IBM-Q</vt:lpstr>
      <vt:lpstr>API Token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Quantum Computing - Lab</dc:title>
  <dc:creator>Leonardo Bacciottini</dc:creator>
  <cp:revision>1</cp:revision>
  <cp:lastPrinted>2023-04-13T09:55:00Z</cp:lastPrinted>
  <dcterms:created xsi:type="dcterms:W3CDTF">2022-03-28T15:55:59Z</dcterms:created>
  <dcterms:modified xsi:type="dcterms:W3CDTF">2023-05-07T16:13:48Z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0x010100A93859E518F97A4698E610FF6C7FF392</vt:lpwstr>
  </property>
</Properties>
</file>